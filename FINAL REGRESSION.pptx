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1"/>
  </p:notesMasterIdLst>
  <p:sldIdLst>
    <p:sldId id="256" r:id="rId2"/>
    <p:sldId id="259" r:id="rId3"/>
    <p:sldId id="297" r:id="rId4"/>
    <p:sldId id="257" r:id="rId5"/>
    <p:sldId id="299" r:id="rId6"/>
    <p:sldId id="298" r:id="rId7"/>
    <p:sldId id="300" r:id="rId8"/>
    <p:sldId id="301" r:id="rId9"/>
    <p:sldId id="302" r:id="rId10"/>
    <p:sldId id="268" r:id="rId11"/>
    <p:sldId id="269" r:id="rId12"/>
    <p:sldId id="270" r:id="rId13"/>
    <p:sldId id="271" r:id="rId14"/>
    <p:sldId id="315" r:id="rId15"/>
    <p:sldId id="316" r:id="rId16"/>
    <p:sldId id="317" r:id="rId17"/>
    <p:sldId id="318" r:id="rId18"/>
    <p:sldId id="319" r:id="rId19"/>
    <p:sldId id="320" r:id="rId20"/>
    <p:sldId id="291" r:id="rId21"/>
    <p:sldId id="321" r:id="rId22"/>
    <p:sldId id="292" r:id="rId23"/>
    <p:sldId id="275" r:id="rId24"/>
    <p:sldId id="262" r:id="rId25"/>
    <p:sldId id="272" r:id="rId26"/>
    <p:sldId id="311" r:id="rId27"/>
    <p:sldId id="312" r:id="rId28"/>
    <p:sldId id="313" r:id="rId29"/>
    <p:sldId id="303" r:id="rId30"/>
    <p:sldId id="314" r:id="rId31"/>
    <p:sldId id="310" r:id="rId32"/>
    <p:sldId id="309" r:id="rId33"/>
    <p:sldId id="273" r:id="rId34"/>
    <p:sldId id="304" r:id="rId35"/>
    <p:sldId id="274" r:id="rId36"/>
    <p:sldId id="296" r:id="rId37"/>
    <p:sldId id="295" r:id="rId38"/>
    <p:sldId id="305" r:id="rId39"/>
    <p:sldId id="306" r:id="rId40"/>
  </p:sldIdLst>
  <p:sldSz cx="14630400" cy="8229600"/>
  <p:notesSz cx="8229600" cy="14630400"/>
  <p:embeddedFontLst>
    <p:embeddedFont>
      <p:font typeface="Algerian" panose="04020705040A02060702" pitchFamily="82" charset="0"/>
      <p:regular r:id="rId42"/>
    </p:embeddedFont>
    <p:embeddedFont>
      <p:font typeface="Arial Rounded MT Bold" panose="020F0704030504030204" pitchFamily="34" charset="0"/>
      <p:regular r:id="rId43"/>
    </p:embeddedFont>
    <p:embeddedFont>
      <p:font typeface="Cambria Math" panose="02040503050406030204" pitchFamily="18" charset="0"/>
      <p:regular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F5153"/>
    <a:srgbClr val="E2C2B3"/>
    <a:srgbClr val="4032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5" d="100"/>
          <a:sy n="55" d="100"/>
        </p:scale>
        <p:origin x="65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4555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780B6F-D3E9-4817-55D0-2B88DFF7C6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2FFE38-2439-1DD6-2645-92AD3F3D3D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2CFD34-8E11-01A9-6DD2-E8E0E83929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4AB16C-2395-6685-B57D-48ED99A2BA63}"/>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3995070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6A57A-D498-1052-A23A-78039D044D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327B7-9609-5163-4B11-0A6F08F50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BE8F5D-82E4-D98E-7B73-563230EF6C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40FACE-B291-B8BD-796C-A04ECBEE430F}"/>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085175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4B8D1-A1FB-71F3-2D9D-0AE1005DA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7F8AD0-8FC1-8459-B022-C721247F0A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A567FA-4AB0-D3CC-7C09-9666FEEB87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9B8FD5-5DA6-D8E7-FDCB-7B52B90A6C51}"/>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4529001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2CF4EE-423A-87FF-4C8A-6EBCC6ABA4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5F1D9F-C6C2-5E29-2AB7-67F33BB27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8FA01-403A-1CFD-DB03-9DD2B6F62F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618C61-11C7-0893-A1E9-20ABDFE08B33}"/>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4170885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93EA5-2D9D-0A60-3368-76C2BF696E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2C95BB-A5C6-FC11-0D7B-E3BBB54671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7742D7-56FB-CF1A-FF6A-B32AD43625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440DE3-8EC7-EB46-60B6-14EFA0549B04}"/>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7422502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0CA84-CC0F-9A44-4B8E-0527142E21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6E8A09-9421-B2D2-A271-CED1C89997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1643DA-0EEA-AF15-FA67-AF5BAE0FA0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407A51-AEB2-9F75-C315-DCB906666768}"/>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6831686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7923081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3496259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2C2B3"/>
          </a:solidFill>
          <a:ln/>
        </p:spPr>
      </p:sp>
      <p:sp>
        <p:nvSpPr>
          <p:cNvPr id="3" name="Shape 1"/>
          <p:cNvSpPr/>
          <p:nvPr/>
        </p:nvSpPr>
        <p:spPr>
          <a:xfrm>
            <a:off x="0" y="0"/>
            <a:ext cx="14630400" cy="8229600"/>
          </a:xfrm>
          <a:prstGeom prst="rect">
            <a:avLst/>
          </a:prstGeom>
          <a:solidFill>
            <a:srgbClr val="403234"/>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puspitachowdhury2/menstrual-health-dataset" TargetMode="Externa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963456" y="329304"/>
            <a:ext cx="13313088" cy="1417558"/>
          </a:xfrm>
          <a:prstGeom prst="rect">
            <a:avLst/>
          </a:prstGeom>
          <a:noFill/>
          <a:ln/>
        </p:spPr>
        <p:txBody>
          <a:bodyPr wrap="square" lIns="0" tIns="0" rIns="0" bIns="0" rtlCol="0" anchor="t"/>
          <a:lstStyle/>
          <a:p>
            <a:pPr marL="0" indent="0" algn="l">
              <a:lnSpc>
                <a:spcPts val="5550"/>
              </a:lnSpc>
              <a:buNone/>
            </a:pPr>
            <a:r>
              <a:rPr lang="en-US" sz="4450" b="1" dirty="0">
                <a:solidFill>
                  <a:srgbClr val="FFF8F5"/>
                </a:solidFill>
                <a:latin typeface="Algerian" panose="04020705040A02060702" pitchFamily="82" charset="0"/>
                <a:ea typeface="Noto Serif HK Bold" pitchFamily="34" charset="-122"/>
                <a:cs typeface="Noto Serif HK Bold" pitchFamily="34" charset="-120"/>
              </a:rPr>
              <a:t>Regression Analysis on Menstrual Pain</a:t>
            </a:r>
            <a:endParaRPr lang="en-US" sz="4450" dirty="0">
              <a:latin typeface="Algerian" panose="04020705040A02060702" pitchFamily="82" charset="0"/>
            </a:endParaRPr>
          </a:p>
        </p:txBody>
      </p:sp>
      <p:sp>
        <p:nvSpPr>
          <p:cNvPr id="4" name="Text 1"/>
          <p:cNvSpPr/>
          <p:nvPr/>
        </p:nvSpPr>
        <p:spPr>
          <a:xfrm>
            <a:off x="126796" y="6741442"/>
            <a:ext cx="14072007" cy="954236"/>
          </a:xfrm>
          <a:prstGeom prst="rect">
            <a:avLst/>
          </a:prstGeom>
          <a:noFill/>
          <a:ln/>
        </p:spPr>
        <p:txBody>
          <a:bodyPr wrap="square" lIns="0" tIns="0" rIns="0" bIns="0" rtlCol="0" anchor="t"/>
          <a:lstStyle/>
          <a:p>
            <a:pPr marL="0" indent="0" algn="ctr">
              <a:lnSpc>
                <a:spcPts val="2850"/>
              </a:lnSpc>
              <a:buNone/>
            </a:pPr>
            <a:r>
              <a:rPr lang="en-US" sz="2400" dirty="0">
                <a:solidFill>
                  <a:schemeClr val="tx2">
                    <a:lumMod val="20000"/>
                    <a:lumOff val="80000"/>
                  </a:schemeClr>
                </a:solidFill>
                <a:latin typeface="Algerian" panose="04020705040A02060702" pitchFamily="82" charset="0"/>
                <a:ea typeface="Noto Serif HK" pitchFamily="34" charset="-122"/>
                <a:cs typeface="Times New Roman" panose="02020603050405020304" pitchFamily="18" charset="0"/>
              </a:rPr>
              <a:t>A comprehensive statistical modeling approach to understanding pain predictors using</a:t>
            </a:r>
          </a:p>
          <a:p>
            <a:pPr marL="0" indent="0" algn="ctr">
              <a:lnSpc>
                <a:spcPts val="2850"/>
              </a:lnSpc>
              <a:buNone/>
            </a:pPr>
            <a:r>
              <a:rPr lang="en-US" sz="2400" dirty="0">
                <a:solidFill>
                  <a:schemeClr val="tx2">
                    <a:lumMod val="20000"/>
                    <a:lumOff val="80000"/>
                  </a:schemeClr>
                </a:solidFill>
                <a:latin typeface="Algerian" panose="04020705040A02060702" pitchFamily="82" charset="0"/>
                <a:ea typeface="Noto Serif HK" pitchFamily="34" charset="-122"/>
                <a:cs typeface="Times New Roman" panose="02020603050405020304" pitchFamily="18" charset="0"/>
              </a:rPr>
              <a:t> biological, psychological, lifestyle,  and demographic factors</a:t>
            </a:r>
          </a:p>
          <a:p>
            <a:pPr marL="0" indent="0" algn="l">
              <a:lnSpc>
                <a:spcPts val="2850"/>
              </a:lnSpc>
              <a:buNone/>
            </a:pPr>
            <a:endParaRPr lang="en-US" sz="2000" dirty="0">
              <a:solidFill>
                <a:srgbClr val="D3C9C5"/>
              </a:solidFill>
              <a:latin typeface="Algerian" panose="04020705040A02060702" pitchFamily="82" charset="0"/>
              <a:ea typeface="Noto Serif HK" pitchFamily="34" charset="-122"/>
            </a:endParaRPr>
          </a:p>
          <a:p>
            <a:pPr marL="0" indent="0" algn="l">
              <a:lnSpc>
                <a:spcPts val="2850"/>
              </a:lnSpc>
              <a:buNone/>
            </a:pPr>
            <a:endParaRPr lang="en-US" sz="2400" dirty="0">
              <a:latin typeface="Algerian" panose="04020705040A02060702" pitchFamily="82" charset="0"/>
            </a:endParaRPr>
          </a:p>
        </p:txBody>
      </p:sp>
      <p:sp>
        <p:nvSpPr>
          <p:cNvPr id="5" name="AutoShape 2">
            <a:extLst>
              <a:ext uri="{FF2B5EF4-FFF2-40B4-BE49-F238E27FC236}">
                <a16:creationId xmlns:a16="http://schemas.microsoft.com/office/drawing/2014/main" id="{D4AB67A8-075F-D2F5-A451-73F0D02ACC73}"/>
              </a:ext>
            </a:extLst>
          </p:cNvPr>
          <p:cNvSpPr>
            <a:spLocks noChangeAspect="1" noChangeArrowheads="1"/>
          </p:cNvSpPr>
          <p:nvPr/>
        </p:nvSpPr>
        <p:spPr bwMode="auto">
          <a:xfrm>
            <a:off x="7162800" y="396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a:extLst>
              <a:ext uri="{FF2B5EF4-FFF2-40B4-BE49-F238E27FC236}">
                <a16:creationId xmlns:a16="http://schemas.microsoft.com/office/drawing/2014/main" id="{8F27DA71-FE4B-E059-1547-032A20F857FF}"/>
              </a:ext>
            </a:extLst>
          </p:cNvPr>
          <p:cNvSpPr>
            <a:spLocks noChangeAspect="1" noChangeArrowheads="1"/>
          </p:cNvSpPr>
          <p:nvPr/>
        </p:nvSpPr>
        <p:spPr bwMode="auto">
          <a:xfrm>
            <a:off x="7315200" y="411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42A2488F-0009-217A-8499-CDB1809423FA}"/>
              </a:ext>
            </a:extLst>
          </p:cNvPr>
          <p:cNvPicPr>
            <a:picLocks noChangeAspect="1"/>
          </p:cNvPicPr>
          <p:nvPr/>
        </p:nvPicPr>
        <p:blipFill>
          <a:blip r:embed="rId3"/>
          <a:srcRect r="9456" b="1996"/>
          <a:stretch>
            <a:fillRect/>
          </a:stretch>
        </p:blipFill>
        <p:spPr>
          <a:xfrm>
            <a:off x="1986141" y="1628302"/>
            <a:ext cx="9938085" cy="4668195"/>
          </a:xfrm>
          <a:prstGeom prst="rect">
            <a:avLst/>
          </a:prstGeom>
          <a:ln w="28575">
            <a:solidFill>
              <a:schemeClr val="tx1"/>
            </a:solid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3" name="Rectangle 1">
            <a:extLst>
              <a:ext uri="{FF2B5EF4-FFF2-40B4-BE49-F238E27FC236}">
                <a16:creationId xmlns:a16="http://schemas.microsoft.com/office/drawing/2014/main" id="{2C021DA1-8DD5-DD22-D530-A90D1EF7BA1D}"/>
              </a:ext>
            </a:extLst>
          </p:cNvPr>
          <p:cNvSpPr>
            <a:spLocks noChangeArrowheads="1"/>
          </p:cNvSpPr>
          <p:nvPr/>
        </p:nvSpPr>
        <p:spPr bwMode="auto">
          <a:xfrm>
            <a:off x="105777" y="646026"/>
            <a:ext cx="12984579"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sng" strike="noStrike" cap="none" normalizeH="0" baseline="0" dirty="0">
                <a:ln>
                  <a:noFill/>
                </a:ln>
                <a:solidFill>
                  <a:schemeClr val="bg2"/>
                </a:solidFill>
                <a:effectLst/>
                <a:latin typeface="Algerian" panose="04020705040A02060702" pitchFamily="82" charset="0"/>
              </a:rPr>
              <a:t>INTRODUCTION</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dirty="0">
              <a:solidFill>
                <a:schemeClr val="bg2"/>
              </a:solidFill>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br>
              <a:rPr kumimoji="0" lang="en-US" altLang="en-US" sz="2400" b="0" i="0" u="none" strike="noStrike" cap="none" normalizeH="0" baseline="0" dirty="0">
                <a:ln>
                  <a:noFill/>
                </a:ln>
                <a:solidFill>
                  <a:schemeClr val="bg2"/>
                </a:solidFill>
                <a:effectLst/>
                <a:latin typeface="Arial" panose="020B0604020202020204" pitchFamily="34" charset="0"/>
              </a:rPr>
            </a:br>
            <a:endParaRPr kumimoji="0" lang="en-US" altLang="en-US" sz="2400" b="0" i="0" u="none" strike="noStrike" cap="none" normalizeH="0" baseline="0" dirty="0">
              <a:ln>
                <a:noFill/>
              </a:ln>
              <a:solidFill>
                <a:schemeClr val="bg2"/>
              </a:solidFill>
              <a:effectLst/>
              <a:latin typeface="Times New Roman" panose="02020603050405020304" pitchFamily="18" charset="0"/>
              <a:cs typeface="Times New Roman" panose="02020603050405020304" pitchFamily="18" charset="0"/>
            </a:endParaRPr>
          </a:p>
        </p:txBody>
      </p:sp>
      <p:sp>
        <p:nvSpPr>
          <p:cNvPr id="4" name="Shape 1">
            <a:extLst>
              <a:ext uri="{FF2B5EF4-FFF2-40B4-BE49-F238E27FC236}">
                <a16:creationId xmlns:a16="http://schemas.microsoft.com/office/drawing/2014/main" id="{15D8F882-E56A-7789-2A37-C3AB6090151C}"/>
              </a:ext>
            </a:extLst>
          </p:cNvPr>
          <p:cNvSpPr/>
          <p:nvPr/>
        </p:nvSpPr>
        <p:spPr>
          <a:xfrm>
            <a:off x="1371600" y="1840832"/>
            <a:ext cx="11887200" cy="5281863"/>
          </a:xfrm>
          <a:prstGeom prst="roundRect">
            <a:avLst>
              <a:gd name="adj" fmla="val 2117"/>
            </a:avLst>
          </a:prstGeom>
          <a:solidFill>
            <a:srgbClr val="5F5153"/>
          </a:solidFill>
          <a:ln/>
        </p:spPr>
        <p:txBody>
          <a:bodyPr/>
          <a:lstStyle/>
          <a:p>
            <a:pPr lvl="0" algn="just" eaLnBrk="0" fontAlgn="base" hangingPunct="0">
              <a:spcBef>
                <a:spcPct val="0"/>
              </a:spcBef>
              <a:spcAft>
                <a:spcPct val="0"/>
              </a:spcAft>
            </a:pPr>
            <a:endParaRPr lang="en-US" altLang="en-US" sz="2400" dirty="0">
              <a:solidFill>
                <a:schemeClr val="bg2"/>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endParaRPr lang="en-US" altLang="en-US" sz="2400" dirty="0">
              <a:solidFill>
                <a:schemeClr val="bg2"/>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altLang="en-US" sz="2400" dirty="0">
                <a:solidFill>
                  <a:schemeClr val="bg2"/>
                </a:solidFill>
                <a:latin typeface="Times New Roman" panose="02020603050405020304" pitchFamily="18" charset="0"/>
                <a:cs typeface="Times New Roman" panose="02020603050405020304" pitchFamily="18" charset="0"/>
              </a:rPr>
              <a:t>Menstrual pain (dysmenorrhea) is a common health concern that varies across individuals due to biological, psychological, lifestyle, and health-related factors. Understanding these influences is important for improving health outcomes and awareness. </a:t>
            </a:r>
            <a:r>
              <a:rPr lang="en-US" sz="2400" dirty="0">
                <a:solidFill>
                  <a:schemeClr val="bg2"/>
                </a:solidFill>
                <a:latin typeface="Times New Roman" panose="02020603050405020304" pitchFamily="18" charset="0"/>
                <a:cs typeface="Times New Roman" panose="02020603050405020304" pitchFamily="18" charset="0"/>
              </a:rPr>
              <a:t>This study employs regression techniques to systematically analyze how various factors contribute to variations in pain levels, enabling a deeper and more evidence-based understanding of menstrual health. </a:t>
            </a:r>
          </a:p>
          <a:p>
            <a:pPr lvl="0" algn="just" eaLnBrk="0" fontAlgn="base" hangingPunct="0">
              <a:spcBef>
                <a:spcPct val="0"/>
              </a:spcBef>
              <a:spcAft>
                <a:spcPct val="0"/>
              </a:spcAft>
            </a:pPr>
            <a:endParaRPr lang="en-US" sz="2400" dirty="0">
              <a:solidFill>
                <a:schemeClr val="bg2"/>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sz="2400" dirty="0">
                <a:solidFill>
                  <a:schemeClr val="bg2"/>
                </a:solidFill>
                <a:latin typeface="Times New Roman" panose="02020603050405020304" pitchFamily="18" charset="0"/>
                <a:cs typeface="Times New Roman" panose="02020603050405020304" pitchFamily="18" charset="0"/>
              </a:rPr>
              <a:t>Understanding these determinants is essential for improving health outcomes, guiding interventions, and promoting awareness. With the increasing availability of data-driven tools, statistical modeling—particularly regression analysis—provides an effective framework to quantify the impact of multiple predictors on menstrual pain levels.</a:t>
            </a:r>
            <a:endParaRPr lang="en-US" altLang="en-US" sz="2400" dirty="0">
              <a:solidFill>
                <a:schemeClr val="bg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519451-E511-E3A5-F2E7-B680354A86D0}"/>
              </a:ext>
            </a:extLst>
          </p:cNvPr>
          <p:cNvSpPr txBox="1"/>
          <p:nvPr/>
        </p:nvSpPr>
        <p:spPr>
          <a:xfrm>
            <a:off x="3031958" y="439613"/>
            <a:ext cx="7315200" cy="646331"/>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altLang="en-US" sz="3600" b="1" u="sng" dirty="0">
                <a:solidFill>
                  <a:schemeClr val="bg2"/>
                </a:solidFill>
                <a:latin typeface="Algerian" panose="04020705040A02060702" pitchFamily="82" charset="0"/>
              </a:rPr>
              <a:t>BACKGROUND OF THE STUDY</a:t>
            </a:r>
            <a:endParaRPr kumimoji="0" lang="en-US" altLang="en-US" sz="3600" b="1" i="0" u="sng" strike="noStrike" cap="none" normalizeH="0" baseline="0" dirty="0">
              <a:ln>
                <a:noFill/>
              </a:ln>
              <a:solidFill>
                <a:schemeClr val="bg2"/>
              </a:solidFill>
              <a:effectLst/>
              <a:latin typeface="Algerian" panose="04020705040A02060702" pitchFamily="82" charset="0"/>
            </a:endParaRPr>
          </a:p>
        </p:txBody>
      </p:sp>
      <p:sp>
        <p:nvSpPr>
          <p:cNvPr id="6" name="Shape 1">
            <a:extLst>
              <a:ext uri="{FF2B5EF4-FFF2-40B4-BE49-F238E27FC236}">
                <a16:creationId xmlns:a16="http://schemas.microsoft.com/office/drawing/2014/main" id="{23D4B66F-13BB-FBB8-9217-EDB47A745BF9}"/>
              </a:ext>
            </a:extLst>
          </p:cNvPr>
          <p:cNvSpPr/>
          <p:nvPr/>
        </p:nvSpPr>
        <p:spPr>
          <a:xfrm>
            <a:off x="1419726" y="2129589"/>
            <a:ext cx="11694696" cy="4596063"/>
          </a:xfrm>
          <a:prstGeom prst="roundRect">
            <a:avLst>
              <a:gd name="adj" fmla="val 2117"/>
            </a:avLst>
          </a:prstGeom>
          <a:solidFill>
            <a:srgbClr val="5F5153"/>
          </a:solidFill>
          <a:ln/>
        </p:spPr>
        <p:txBody>
          <a:bodyPr/>
          <a:lstStyle/>
          <a:p>
            <a:endParaRPr lang="en-IN" sz="2400" dirty="0">
              <a:solidFill>
                <a:schemeClr val="tx2">
                  <a:lumMod val="20000"/>
                  <a:lumOff val="80000"/>
                </a:schemeClr>
              </a:solidFill>
              <a:latin typeface="Times New Roman" panose="02020603050405020304" pitchFamily="18" charset="0"/>
              <a:cs typeface="Times New Roman" panose="02020603050405020304" pitchFamily="18" charset="0"/>
            </a:endParaRPr>
          </a:p>
          <a:p>
            <a:r>
              <a:rPr lang="en-IN" sz="2400" dirty="0">
                <a:solidFill>
                  <a:schemeClr val="tx2">
                    <a:lumMod val="20000"/>
                    <a:lumOff val="80000"/>
                  </a:schemeClr>
                </a:solidFill>
                <a:latin typeface="Times New Roman" panose="02020603050405020304" pitchFamily="18" charset="0"/>
                <a:cs typeface="Times New Roman" panose="02020603050405020304" pitchFamily="18" charset="0"/>
              </a:rPr>
              <a:t>Menstrual health is an important health issue affecting women’s physical and emotional well-being, often impacting daily activities and quality of life. Previous studies have identified biological and lifestyle factors such as hormonal imbalance, diet, stress, and physical activity as key determinants of menstrual pain. However, most research examines these factors individually rather than considering their combined effects. Psychological factors such as stress , mood also plays an important role. </a:t>
            </a:r>
          </a:p>
          <a:p>
            <a:endParaRPr lang="en-IN" sz="2400" dirty="0">
              <a:solidFill>
                <a:schemeClr val="tx2">
                  <a:lumMod val="20000"/>
                  <a:lumOff val="80000"/>
                </a:schemeClr>
              </a:solidFill>
              <a:latin typeface="Times New Roman" panose="02020603050405020304" pitchFamily="18" charset="0"/>
              <a:cs typeface="Times New Roman" panose="02020603050405020304" pitchFamily="18" charset="0"/>
            </a:endParaRPr>
          </a:p>
          <a:p>
            <a:r>
              <a:rPr lang="en-IN" sz="2400" dirty="0">
                <a:solidFill>
                  <a:schemeClr val="tx2">
                    <a:lumMod val="20000"/>
                    <a:lumOff val="80000"/>
                  </a:schemeClr>
                </a:solidFill>
                <a:latin typeface="Times New Roman" panose="02020603050405020304" pitchFamily="18" charset="0"/>
                <a:cs typeface="Times New Roman" panose="02020603050405020304" pitchFamily="18" charset="0"/>
              </a:rPr>
              <a:t>Therefore, this study aims to </a:t>
            </a:r>
            <a:r>
              <a:rPr lang="en-IN" sz="2400" dirty="0" err="1">
                <a:solidFill>
                  <a:schemeClr val="tx2">
                    <a:lumMod val="20000"/>
                    <a:lumOff val="80000"/>
                  </a:schemeClr>
                </a:solidFill>
                <a:latin typeface="Times New Roman" panose="02020603050405020304" pitchFamily="18" charset="0"/>
                <a:cs typeface="Times New Roman" panose="02020603050405020304" pitchFamily="18" charset="0"/>
              </a:rPr>
              <a:t>analyze</a:t>
            </a:r>
            <a:r>
              <a:rPr lang="en-IN" sz="2400" dirty="0">
                <a:solidFill>
                  <a:schemeClr val="tx2">
                    <a:lumMod val="20000"/>
                    <a:lumOff val="80000"/>
                  </a:schemeClr>
                </a:solidFill>
                <a:latin typeface="Times New Roman" panose="02020603050405020304" pitchFamily="18" charset="0"/>
                <a:cs typeface="Times New Roman" panose="02020603050405020304" pitchFamily="18" charset="0"/>
              </a:rPr>
              <a:t> the combined impact of biological, psychological and lifestyle factors on menstrual pain using a comprehensive approach</a:t>
            </a:r>
            <a:r>
              <a:rPr lang="en-IN" sz="2000" dirty="0">
                <a:solidFill>
                  <a:schemeClr val="tx2">
                    <a:lumMod val="20000"/>
                    <a:lumOff val="80000"/>
                  </a:schemeClr>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15795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nvSpPr>
        <p:spPr>
          <a:xfrm>
            <a:off x="379788" y="276726"/>
            <a:ext cx="13673096" cy="721895"/>
          </a:xfrm>
          <a:prstGeom prst="rect">
            <a:avLst/>
          </a:prstGeom>
          <a:noFill/>
          <a:ln/>
        </p:spPr>
        <p:txBody>
          <a:bodyPr wrap="square" lIns="0" tIns="0" rIns="0" bIns="0" rtlCol="0" anchor="t"/>
          <a:lstStyle/>
          <a:p>
            <a:pPr marL="0" indent="0" algn="ctr">
              <a:lnSpc>
                <a:spcPts val="5100"/>
              </a:lnSpc>
              <a:buNone/>
            </a:pPr>
            <a:r>
              <a:rPr lang="en-US" sz="3600" b="1" u="sng" dirty="0">
                <a:solidFill>
                  <a:srgbClr val="FFF8F5"/>
                </a:solidFill>
                <a:latin typeface="Algerian" panose="04020705040A02060702" pitchFamily="82" charset="0"/>
                <a:ea typeface="Noto Serif HK Bold" pitchFamily="34" charset="-122"/>
                <a:cs typeface="Noto Serif HK Bold" pitchFamily="34" charset="-120"/>
              </a:rPr>
              <a:t>DATA SOURCE</a:t>
            </a:r>
          </a:p>
          <a:p>
            <a:r>
              <a:rPr lang="en-US" sz="2400" dirty="0">
                <a:solidFill>
                  <a:srgbClr val="FFF8F5"/>
                </a:solidFill>
                <a:latin typeface="Times New Roman" panose="02020603050405020304" pitchFamily="18" charset="0"/>
                <a:cs typeface="Times New Roman" panose="02020603050405020304" pitchFamily="18" charset="0"/>
              </a:rPr>
              <a:t>The data is sourced from KAGGLE. The link is attached</a:t>
            </a:r>
          </a:p>
          <a:p>
            <a:r>
              <a:rPr lang="en-US" sz="2400" dirty="0">
                <a:solidFill>
                  <a:srgbClr val="FFF8F5"/>
                </a:solidFill>
                <a:latin typeface="Aptos Display" panose="020B0004020202020204" pitchFamily="34" charset="0"/>
                <a:hlinkClick r:id="rId3"/>
              </a:rPr>
              <a:t>https://www.kaggle.com/datasets/puspitachowdhury2/menstrual-health-dataset</a:t>
            </a:r>
            <a:endParaRPr lang="en-US" sz="2400" dirty="0">
              <a:solidFill>
                <a:srgbClr val="FFF8F5"/>
              </a:solidFill>
              <a:latin typeface="Aptos Display" panose="020B0004020202020204" pitchFamily="34" charset="0"/>
            </a:endParaRPr>
          </a:p>
          <a:p>
            <a:r>
              <a:rPr lang="en-US" altLang="en-US" sz="2400" dirty="0">
                <a:solidFill>
                  <a:schemeClr val="bg2"/>
                </a:solidFill>
                <a:latin typeface="Times New Roman" panose="02020603050405020304" pitchFamily="18" charset="0"/>
                <a:cs typeface="Times New Roman" panose="02020603050405020304" pitchFamily="18" charset="0"/>
              </a:rPr>
              <a:t>This dataset was taken to study how menstrual cycle patterns interact with lifestyle habits, stress, sleep quality, and overall health. It contains two linked files:</a:t>
            </a:r>
            <a:endParaRPr lang="en-US" sz="2400" dirty="0">
              <a:latin typeface="Times New Roman" panose="02020603050405020304" pitchFamily="18" charset="0"/>
              <a:cs typeface="Times New Roman" panose="02020603050405020304" pitchFamily="18" charset="0"/>
            </a:endParaRPr>
          </a:p>
          <a:p>
            <a:pPr>
              <a:lnSpc>
                <a:spcPts val="5100"/>
              </a:lnSpc>
            </a:pPr>
            <a:endParaRPr lang="en-US" sz="2400" dirty="0">
              <a:solidFill>
                <a:srgbClr val="FFF8F5"/>
              </a:solidFill>
              <a:latin typeface="Aptos Display" panose="020B0004020202020204" pitchFamily="34" charset="0"/>
            </a:endParaRPr>
          </a:p>
          <a:p>
            <a:pPr>
              <a:lnSpc>
                <a:spcPts val="5100"/>
              </a:lnSpc>
            </a:pPr>
            <a:endParaRPr lang="en-US" sz="2800" dirty="0">
              <a:solidFill>
                <a:srgbClr val="FFF8F5"/>
              </a:solidFill>
              <a:latin typeface="Aptos Display" panose="020B0004020202020204" pitchFamily="34" charset="0"/>
            </a:endParaRPr>
          </a:p>
        </p:txBody>
      </p:sp>
      <p:sp>
        <p:nvSpPr>
          <p:cNvPr id="4" name="Text 1"/>
          <p:cNvSpPr/>
          <p:nvPr/>
        </p:nvSpPr>
        <p:spPr>
          <a:xfrm>
            <a:off x="731758" y="2527459"/>
            <a:ext cx="2613779" cy="326588"/>
          </a:xfrm>
          <a:prstGeom prst="rect">
            <a:avLst/>
          </a:prstGeom>
          <a:noFill/>
          <a:ln/>
        </p:spPr>
        <p:txBody>
          <a:bodyPr wrap="none" lIns="0" tIns="0" rIns="0" bIns="0" rtlCol="0" anchor="t"/>
          <a:lstStyle/>
          <a:p>
            <a:pPr marL="0" indent="0" algn="l">
              <a:lnSpc>
                <a:spcPts val="2550"/>
              </a:lnSpc>
              <a:buNone/>
            </a:pPr>
            <a:endParaRPr lang="en-US" sz="2050" dirty="0">
              <a:solidFill>
                <a:schemeClr val="bg2"/>
              </a:solidFill>
            </a:endParaRPr>
          </a:p>
        </p:txBody>
      </p:sp>
      <p:sp>
        <p:nvSpPr>
          <p:cNvPr id="5" name="Text 2"/>
          <p:cNvSpPr/>
          <p:nvPr/>
        </p:nvSpPr>
        <p:spPr>
          <a:xfrm>
            <a:off x="10080295" y="4346220"/>
            <a:ext cx="3585210" cy="3144597"/>
          </a:xfrm>
          <a:prstGeom prst="rect">
            <a:avLst/>
          </a:prstGeom>
          <a:noFill/>
          <a:ln/>
        </p:spPr>
        <p:txBody>
          <a:bodyPr wrap="square" lIns="0" tIns="0" rIns="0" bIns="0" rtlCol="0" anchor="t"/>
          <a:lstStyle/>
          <a:p>
            <a:pPr marL="0" indent="0" algn="l">
              <a:lnSpc>
                <a:spcPts val="2500"/>
              </a:lnSpc>
              <a:buNone/>
            </a:pPr>
            <a:endParaRPr lang="en-US" sz="1600" dirty="0"/>
          </a:p>
        </p:txBody>
      </p:sp>
      <p:sp>
        <p:nvSpPr>
          <p:cNvPr id="6" name="Text 3"/>
          <p:cNvSpPr/>
          <p:nvPr/>
        </p:nvSpPr>
        <p:spPr>
          <a:xfrm>
            <a:off x="10080295" y="4114801"/>
            <a:ext cx="3585210" cy="3513534"/>
          </a:xfrm>
          <a:prstGeom prst="rect">
            <a:avLst/>
          </a:prstGeom>
          <a:noFill/>
          <a:ln/>
        </p:spPr>
        <p:txBody>
          <a:bodyPr wrap="square" lIns="0" tIns="0" rIns="0" bIns="0" rtlCol="0" anchor="t"/>
          <a:lstStyle/>
          <a:p>
            <a:pPr marL="342900" indent="-342900" algn="l">
              <a:lnSpc>
                <a:spcPts val="2500"/>
              </a:lnSpc>
              <a:buSzPct val="100000"/>
              <a:buChar char="•"/>
            </a:pPr>
            <a:endParaRPr lang="en-US" sz="1600" dirty="0"/>
          </a:p>
        </p:txBody>
      </p:sp>
      <p:sp>
        <p:nvSpPr>
          <p:cNvPr id="7" name="Text 4"/>
          <p:cNvSpPr/>
          <p:nvPr/>
        </p:nvSpPr>
        <p:spPr>
          <a:xfrm>
            <a:off x="731758" y="6353294"/>
            <a:ext cx="3585210" cy="964049"/>
          </a:xfrm>
          <a:prstGeom prst="rect">
            <a:avLst/>
          </a:prstGeom>
          <a:noFill/>
          <a:ln/>
        </p:spPr>
        <p:txBody>
          <a:bodyPr wrap="square" lIns="0" tIns="0" rIns="0" bIns="0" rtlCol="0" anchor="t"/>
          <a:lstStyle/>
          <a:p>
            <a:pPr marL="0" indent="0" algn="l">
              <a:lnSpc>
                <a:spcPts val="2500"/>
              </a:lnSpc>
              <a:buNone/>
            </a:pPr>
            <a:endParaRPr lang="en-US" sz="1600" dirty="0"/>
          </a:p>
        </p:txBody>
      </p:sp>
      <p:sp>
        <p:nvSpPr>
          <p:cNvPr id="8" name="Text 5"/>
          <p:cNvSpPr/>
          <p:nvPr/>
        </p:nvSpPr>
        <p:spPr>
          <a:xfrm>
            <a:off x="4834652" y="2527459"/>
            <a:ext cx="2613779" cy="326588"/>
          </a:xfrm>
          <a:prstGeom prst="rect">
            <a:avLst/>
          </a:prstGeom>
          <a:noFill/>
          <a:ln/>
        </p:spPr>
        <p:txBody>
          <a:bodyPr wrap="none" lIns="0" tIns="0" rIns="0" bIns="0" rtlCol="0" anchor="t"/>
          <a:lstStyle/>
          <a:p>
            <a:pPr marL="0" indent="0" algn="l">
              <a:lnSpc>
                <a:spcPts val="2550"/>
              </a:lnSpc>
              <a:buNone/>
            </a:pPr>
            <a:endParaRPr lang="en-US" sz="2050" dirty="0"/>
          </a:p>
        </p:txBody>
      </p:sp>
      <p:sp>
        <p:nvSpPr>
          <p:cNvPr id="9" name="Text 6"/>
          <p:cNvSpPr/>
          <p:nvPr/>
        </p:nvSpPr>
        <p:spPr>
          <a:xfrm>
            <a:off x="4834652" y="3046809"/>
            <a:ext cx="3585210" cy="2264688"/>
          </a:xfrm>
          <a:prstGeom prst="rect">
            <a:avLst/>
          </a:prstGeom>
          <a:noFill/>
          <a:ln/>
        </p:spPr>
        <p:txBody>
          <a:bodyPr wrap="square" lIns="0" tIns="0" rIns="0" bIns="0" rtlCol="0" anchor="t"/>
          <a:lstStyle/>
          <a:p>
            <a:pPr marL="0" indent="0" algn="l">
              <a:lnSpc>
                <a:spcPts val="2500"/>
              </a:lnSpc>
              <a:buNone/>
            </a:pPr>
            <a:endParaRPr lang="en-US" sz="1600" dirty="0"/>
          </a:p>
        </p:txBody>
      </p:sp>
      <p:sp>
        <p:nvSpPr>
          <p:cNvPr id="10" name="Text 7"/>
          <p:cNvSpPr/>
          <p:nvPr/>
        </p:nvSpPr>
        <p:spPr>
          <a:xfrm>
            <a:off x="4834652" y="5484971"/>
            <a:ext cx="3585210" cy="1285399"/>
          </a:xfrm>
          <a:prstGeom prst="rect">
            <a:avLst/>
          </a:prstGeom>
          <a:noFill/>
          <a:ln/>
        </p:spPr>
        <p:txBody>
          <a:bodyPr wrap="square" lIns="0" tIns="0" rIns="0" bIns="0" rtlCol="0" anchor="t"/>
          <a:lstStyle/>
          <a:p>
            <a:pPr marL="0" indent="0" algn="l">
              <a:lnSpc>
                <a:spcPts val="2500"/>
              </a:lnSpc>
              <a:buNone/>
            </a:pPr>
            <a:endParaRPr lang="en-US" sz="1600" dirty="0"/>
          </a:p>
        </p:txBody>
      </p:sp>
      <p:sp>
        <p:nvSpPr>
          <p:cNvPr id="16" name="Shape 1">
            <a:extLst>
              <a:ext uri="{FF2B5EF4-FFF2-40B4-BE49-F238E27FC236}">
                <a16:creationId xmlns:a16="http://schemas.microsoft.com/office/drawing/2014/main" id="{D45EA3E1-F906-57B8-3C6D-CF7DE12C641E}"/>
              </a:ext>
            </a:extLst>
          </p:cNvPr>
          <p:cNvSpPr/>
          <p:nvPr/>
        </p:nvSpPr>
        <p:spPr>
          <a:xfrm>
            <a:off x="379788" y="2854047"/>
            <a:ext cx="6504358" cy="5002574"/>
          </a:xfrm>
          <a:prstGeom prst="roundRect">
            <a:avLst>
              <a:gd name="adj" fmla="val 2117"/>
            </a:avLst>
          </a:prstGeom>
          <a:solidFill>
            <a:srgbClr val="5F5153"/>
          </a:solidFill>
          <a:ln/>
        </p:spPr>
        <p:txBody>
          <a:bodyPr/>
          <a:lstStyle/>
          <a:p>
            <a:pPr algn="ctr"/>
            <a:r>
              <a:rPr lang="en-US" sz="2400" dirty="0">
                <a:solidFill>
                  <a:schemeClr val="tx2">
                    <a:lumMod val="20000"/>
                    <a:lumOff val="80000"/>
                  </a:schemeClr>
                </a:solidFill>
                <a:latin typeface="Algerian" panose="04020705040A02060702" pitchFamily="82" charset="0"/>
                <a:cs typeface="Times New Roman" panose="02020603050405020304" pitchFamily="18" charset="0"/>
              </a:rPr>
              <a:t>Period_Log.csv (Cycle-Level Data)</a:t>
            </a:r>
          </a:p>
        </p:txBody>
      </p:sp>
      <p:sp>
        <p:nvSpPr>
          <p:cNvPr id="21" name="Rectangle 1">
            <a:extLst>
              <a:ext uri="{FF2B5EF4-FFF2-40B4-BE49-F238E27FC236}">
                <a16:creationId xmlns:a16="http://schemas.microsoft.com/office/drawing/2014/main" id="{19F289AD-AEF8-90C0-6416-52752E1B1CBD}"/>
              </a:ext>
            </a:extLst>
          </p:cNvPr>
          <p:cNvSpPr>
            <a:spLocks noChangeArrowheads="1"/>
          </p:cNvSpPr>
          <p:nvPr/>
        </p:nvSpPr>
        <p:spPr bwMode="auto">
          <a:xfrm>
            <a:off x="7773088" y="4281756"/>
            <a:ext cx="589241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1" i="0" u="sng" strike="noStrike" cap="none" normalizeH="0" baseline="0" dirty="0">
              <a:ln>
                <a:noFill/>
              </a:ln>
              <a:solidFill>
                <a:schemeClr val="bg2"/>
              </a:solidFill>
              <a:effectLst/>
              <a:latin typeface="Algerian" panose="04020705040A02060702" pitchFamily="82"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dirty="0">
              <a:solidFill>
                <a:schemeClr val="bg2"/>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037C6DFC-B90E-F83F-EFD2-48A4BAC97D76}"/>
              </a:ext>
            </a:extLst>
          </p:cNvPr>
          <p:cNvGraphicFramePr>
            <a:graphicFrameLocks noGrp="1"/>
          </p:cNvGraphicFramePr>
          <p:nvPr>
            <p:extLst>
              <p:ext uri="{D42A27DB-BD31-4B8C-83A1-F6EECF244321}">
                <p14:modId xmlns:p14="http://schemas.microsoft.com/office/powerpoint/2010/main" val="640591748"/>
              </p:ext>
            </p:extLst>
          </p:nvPr>
        </p:nvGraphicFramePr>
        <p:xfrm>
          <a:off x="4316967" y="3983513"/>
          <a:ext cx="2998234" cy="2377440"/>
        </p:xfrm>
        <a:graphic>
          <a:graphicData uri="http://schemas.openxmlformats.org/drawingml/2006/table">
            <a:tbl>
              <a:tblPr/>
              <a:tblGrid>
                <a:gridCol w="1499117">
                  <a:extLst>
                    <a:ext uri="{9D8B030D-6E8A-4147-A177-3AD203B41FA5}">
                      <a16:colId xmlns:a16="http://schemas.microsoft.com/office/drawing/2014/main" val="780528640"/>
                    </a:ext>
                  </a:extLst>
                </a:gridCol>
                <a:gridCol w="1499117">
                  <a:extLst>
                    <a:ext uri="{9D8B030D-6E8A-4147-A177-3AD203B41FA5}">
                      <a16:colId xmlns:a16="http://schemas.microsoft.com/office/drawing/2014/main" val="3908183233"/>
                    </a:ext>
                  </a:extLst>
                </a:gridCol>
              </a:tblGrid>
              <a:tr h="0">
                <a:tc>
                  <a:txBody>
                    <a:bodyPr/>
                    <a:lstStyle/>
                    <a:p>
                      <a:pPr>
                        <a:buNone/>
                      </a:pPr>
                      <a:endParaRPr lang="en-IN" sz="2000" dirty="0"/>
                    </a:p>
                  </a:txBody>
                  <a:tcPr anchor="ctr">
                    <a:lnL>
                      <a:noFill/>
                    </a:lnL>
                    <a:lnR>
                      <a:noFill/>
                    </a:lnR>
                    <a:lnT>
                      <a:noFill/>
                    </a:lnT>
                    <a:lnB>
                      <a:noFill/>
                    </a:lnB>
                    <a:noFill/>
                  </a:tcPr>
                </a:tc>
                <a:tc>
                  <a:txBody>
                    <a:bodyPr/>
                    <a:lstStyle/>
                    <a:p>
                      <a:pPr>
                        <a:buNone/>
                      </a:pPr>
                      <a:endParaRPr lang="en-IN" sz="2000" dirty="0"/>
                    </a:p>
                  </a:txBody>
                  <a:tcPr anchor="ctr">
                    <a:lnL>
                      <a:noFill/>
                    </a:lnL>
                    <a:lnR>
                      <a:noFill/>
                    </a:lnR>
                    <a:lnT>
                      <a:noFill/>
                    </a:lnT>
                    <a:lnB>
                      <a:noFill/>
                    </a:lnB>
                    <a:noFill/>
                  </a:tcPr>
                </a:tc>
                <a:extLst>
                  <a:ext uri="{0D108BD9-81ED-4DB2-BD59-A6C34878D82A}">
                    <a16:rowId xmlns:a16="http://schemas.microsoft.com/office/drawing/2014/main" val="581397912"/>
                  </a:ext>
                </a:extLst>
              </a:tr>
              <a:tr h="196553">
                <a:tc>
                  <a:txBody>
                    <a:bodyPr/>
                    <a:lstStyle/>
                    <a:p>
                      <a:pPr>
                        <a:buNone/>
                      </a:pPr>
                      <a:endParaRPr lang="en-IN" sz="2000" dirty="0"/>
                    </a:p>
                  </a:txBody>
                  <a:tcPr anchor="ctr">
                    <a:lnL>
                      <a:noFill/>
                    </a:lnL>
                    <a:lnR>
                      <a:noFill/>
                    </a:lnR>
                    <a:lnT>
                      <a:noFill/>
                    </a:lnT>
                    <a:lnB>
                      <a:noFill/>
                    </a:lnB>
                    <a:noFill/>
                  </a:tcPr>
                </a:tc>
                <a:tc>
                  <a:txBody>
                    <a:bodyPr/>
                    <a:lstStyle/>
                    <a:p>
                      <a:pPr>
                        <a:buNone/>
                      </a:pPr>
                      <a:endParaRPr lang="en-US" sz="2000" dirty="0"/>
                    </a:p>
                  </a:txBody>
                  <a:tcPr anchor="ctr">
                    <a:lnL>
                      <a:noFill/>
                    </a:lnL>
                    <a:lnR>
                      <a:noFill/>
                    </a:lnR>
                    <a:lnT>
                      <a:noFill/>
                    </a:lnT>
                    <a:lnB>
                      <a:noFill/>
                    </a:lnB>
                    <a:noFill/>
                  </a:tcPr>
                </a:tc>
                <a:extLst>
                  <a:ext uri="{0D108BD9-81ED-4DB2-BD59-A6C34878D82A}">
                    <a16:rowId xmlns:a16="http://schemas.microsoft.com/office/drawing/2014/main" val="1157350308"/>
                  </a:ext>
                </a:extLst>
              </a:tr>
              <a:tr h="196553">
                <a:tc>
                  <a:txBody>
                    <a:bodyPr/>
                    <a:lstStyle/>
                    <a:p>
                      <a:pPr>
                        <a:buNone/>
                      </a:pPr>
                      <a:endParaRPr lang="en-IN" sz="2000"/>
                    </a:p>
                  </a:txBody>
                  <a:tcPr anchor="ctr">
                    <a:lnL>
                      <a:noFill/>
                    </a:lnL>
                    <a:lnR>
                      <a:noFill/>
                    </a:lnR>
                    <a:lnT>
                      <a:noFill/>
                    </a:lnT>
                    <a:lnB>
                      <a:noFill/>
                    </a:lnB>
                    <a:noFill/>
                  </a:tcPr>
                </a:tc>
                <a:tc>
                  <a:txBody>
                    <a:bodyPr/>
                    <a:lstStyle/>
                    <a:p>
                      <a:pPr>
                        <a:buNone/>
                      </a:pPr>
                      <a:endParaRPr lang="en-US" sz="2000" dirty="0"/>
                    </a:p>
                  </a:txBody>
                  <a:tcPr anchor="ctr">
                    <a:lnL>
                      <a:noFill/>
                    </a:lnL>
                    <a:lnR>
                      <a:noFill/>
                    </a:lnR>
                    <a:lnT>
                      <a:noFill/>
                    </a:lnT>
                    <a:lnB>
                      <a:noFill/>
                    </a:lnB>
                    <a:noFill/>
                  </a:tcPr>
                </a:tc>
                <a:extLst>
                  <a:ext uri="{0D108BD9-81ED-4DB2-BD59-A6C34878D82A}">
                    <a16:rowId xmlns:a16="http://schemas.microsoft.com/office/drawing/2014/main" val="3588820831"/>
                  </a:ext>
                </a:extLst>
              </a:tr>
              <a:tr h="196553">
                <a:tc>
                  <a:txBody>
                    <a:bodyPr/>
                    <a:lstStyle/>
                    <a:p>
                      <a:pPr>
                        <a:buNone/>
                      </a:pPr>
                      <a:endParaRPr lang="en-IN" sz="2000"/>
                    </a:p>
                  </a:txBody>
                  <a:tcPr anchor="ctr">
                    <a:lnL>
                      <a:noFill/>
                    </a:lnL>
                    <a:lnR>
                      <a:noFill/>
                    </a:lnR>
                    <a:lnT>
                      <a:noFill/>
                    </a:lnT>
                    <a:lnB>
                      <a:noFill/>
                    </a:lnB>
                    <a:noFill/>
                  </a:tcPr>
                </a:tc>
                <a:tc>
                  <a:txBody>
                    <a:bodyPr/>
                    <a:lstStyle/>
                    <a:p>
                      <a:pPr>
                        <a:buNone/>
                      </a:pPr>
                      <a:endParaRPr lang="en-US" sz="2000" dirty="0"/>
                    </a:p>
                  </a:txBody>
                  <a:tcPr anchor="ctr">
                    <a:lnL>
                      <a:noFill/>
                    </a:lnL>
                    <a:lnR>
                      <a:noFill/>
                    </a:lnR>
                    <a:lnT>
                      <a:noFill/>
                    </a:lnT>
                    <a:lnB>
                      <a:noFill/>
                    </a:lnB>
                    <a:noFill/>
                  </a:tcPr>
                </a:tc>
                <a:extLst>
                  <a:ext uri="{0D108BD9-81ED-4DB2-BD59-A6C34878D82A}">
                    <a16:rowId xmlns:a16="http://schemas.microsoft.com/office/drawing/2014/main" val="3016200063"/>
                  </a:ext>
                </a:extLst>
              </a:tr>
              <a:tr h="196553">
                <a:tc>
                  <a:txBody>
                    <a:bodyPr/>
                    <a:lstStyle/>
                    <a:p>
                      <a:pPr>
                        <a:buNone/>
                      </a:pPr>
                      <a:endParaRPr lang="en-IN" sz="2000"/>
                    </a:p>
                  </a:txBody>
                  <a:tcPr anchor="ctr">
                    <a:lnL>
                      <a:noFill/>
                    </a:lnL>
                    <a:lnR>
                      <a:noFill/>
                    </a:lnR>
                    <a:lnT>
                      <a:noFill/>
                    </a:lnT>
                    <a:lnB>
                      <a:noFill/>
                    </a:lnB>
                    <a:noFill/>
                  </a:tcPr>
                </a:tc>
                <a:tc>
                  <a:txBody>
                    <a:bodyPr/>
                    <a:lstStyle/>
                    <a:p>
                      <a:pPr>
                        <a:buNone/>
                      </a:pPr>
                      <a:endParaRPr lang="en-US" sz="2000" dirty="0"/>
                    </a:p>
                  </a:txBody>
                  <a:tcPr anchor="ctr">
                    <a:lnL>
                      <a:noFill/>
                    </a:lnL>
                    <a:lnR>
                      <a:noFill/>
                    </a:lnR>
                    <a:lnT>
                      <a:noFill/>
                    </a:lnT>
                    <a:lnB>
                      <a:noFill/>
                    </a:lnB>
                    <a:noFill/>
                  </a:tcPr>
                </a:tc>
                <a:extLst>
                  <a:ext uri="{0D108BD9-81ED-4DB2-BD59-A6C34878D82A}">
                    <a16:rowId xmlns:a16="http://schemas.microsoft.com/office/drawing/2014/main" val="635979782"/>
                  </a:ext>
                </a:extLst>
              </a:tr>
              <a:tr h="196553">
                <a:tc>
                  <a:txBody>
                    <a:bodyPr/>
                    <a:lstStyle/>
                    <a:p>
                      <a:pPr>
                        <a:buNone/>
                      </a:pPr>
                      <a:endParaRPr lang="en-IN" sz="2000"/>
                    </a:p>
                  </a:txBody>
                  <a:tcPr anchor="ctr">
                    <a:lnL>
                      <a:noFill/>
                    </a:lnL>
                    <a:lnR>
                      <a:noFill/>
                    </a:lnR>
                    <a:lnT>
                      <a:noFill/>
                    </a:lnT>
                    <a:lnB>
                      <a:noFill/>
                    </a:lnB>
                    <a:noFill/>
                  </a:tcPr>
                </a:tc>
                <a:tc>
                  <a:txBody>
                    <a:bodyPr/>
                    <a:lstStyle/>
                    <a:p>
                      <a:pPr>
                        <a:buNone/>
                      </a:pPr>
                      <a:endParaRPr lang="en-IN" sz="2000" dirty="0"/>
                    </a:p>
                  </a:txBody>
                  <a:tcPr anchor="ctr">
                    <a:lnL>
                      <a:noFill/>
                    </a:lnL>
                    <a:lnR>
                      <a:noFill/>
                    </a:lnR>
                    <a:lnT>
                      <a:noFill/>
                    </a:lnT>
                    <a:lnB>
                      <a:noFill/>
                    </a:lnB>
                    <a:noFill/>
                  </a:tcPr>
                </a:tc>
                <a:extLst>
                  <a:ext uri="{0D108BD9-81ED-4DB2-BD59-A6C34878D82A}">
                    <a16:rowId xmlns:a16="http://schemas.microsoft.com/office/drawing/2014/main" val="2820427239"/>
                  </a:ext>
                </a:extLst>
              </a:tr>
            </a:tbl>
          </a:graphicData>
        </a:graphic>
      </p:graphicFrame>
      <p:graphicFrame>
        <p:nvGraphicFramePr>
          <p:cNvPr id="12" name="Table 11">
            <a:extLst>
              <a:ext uri="{FF2B5EF4-FFF2-40B4-BE49-F238E27FC236}">
                <a16:creationId xmlns:a16="http://schemas.microsoft.com/office/drawing/2014/main" id="{65A49B3B-D22E-763F-59AD-D0CD701DB1EE}"/>
              </a:ext>
            </a:extLst>
          </p:cNvPr>
          <p:cNvGraphicFramePr>
            <a:graphicFrameLocks noGrp="1"/>
          </p:cNvGraphicFramePr>
          <p:nvPr>
            <p:extLst>
              <p:ext uri="{D42A27DB-BD31-4B8C-83A1-F6EECF244321}">
                <p14:modId xmlns:p14="http://schemas.microsoft.com/office/powerpoint/2010/main" val="2685542617"/>
              </p:ext>
            </p:extLst>
          </p:nvPr>
        </p:nvGraphicFramePr>
        <p:xfrm>
          <a:off x="613612" y="3657599"/>
          <a:ext cx="6027820" cy="3839270"/>
        </p:xfrm>
        <a:graphic>
          <a:graphicData uri="http://schemas.openxmlformats.org/drawingml/2006/table">
            <a:tbl>
              <a:tblPr firstRow="1" bandRow="1">
                <a:tableStyleId>{616DA210-FB5B-4158-B5E0-FEB733F419BA}</a:tableStyleId>
              </a:tblPr>
              <a:tblGrid>
                <a:gridCol w="2846952">
                  <a:extLst>
                    <a:ext uri="{9D8B030D-6E8A-4147-A177-3AD203B41FA5}">
                      <a16:colId xmlns:a16="http://schemas.microsoft.com/office/drawing/2014/main" val="374613878"/>
                    </a:ext>
                  </a:extLst>
                </a:gridCol>
                <a:gridCol w="3180868">
                  <a:extLst>
                    <a:ext uri="{9D8B030D-6E8A-4147-A177-3AD203B41FA5}">
                      <a16:colId xmlns:a16="http://schemas.microsoft.com/office/drawing/2014/main" val="1878292848"/>
                    </a:ext>
                  </a:extLst>
                </a:gridCol>
              </a:tblGrid>
              <a:tr h="638870">
                <a:tc>
                  <a:txBody>
                    <a:bodyPr/>
                    <a:lstStyle/>
                    <a:p>
                      <a:pPr>
                        <a:buNone/>
                      </a:pPr>
                      <a:r>
                        <a:rPr lang="en-IN" sz="2400" dirty="0">
                          <a:solidFill>
                            <a:schemeClr val="tx2">
                              <a:lumMod val="20000"/>
                              <a:lumOff val="80000"/>
                            </a:schemeClr>
                          </a:solidFill>
                          <a:latin typeface="+mn-lt"/>
                          <a:cs typeface="Times New Roman" panose="02020603050405020304" pitchFamily="18" charset="0"/>
                        </a:rPr>
                        <a:t>VARIABLE CATEGORY</a:t>
                      </a:r>
                    </a:p>
                  </a:txBody>
                  <a:tcPr anchor="ctr"/>
                </a:tc>
                <a:tc>
                  <a:txBody>
                    <a:bodyPr/>
                    <a:lstStyle/>
                    <a:p>
                      <a:pPr>
                        <a:buNone/>
                      </a:pPr>
                      <a:r>
                        <a:rPr lang="en-IN" sz="2400" dirty="0">
                          <a:solidFill>
                            <a:schemeClr val="tx2">
                              <a:lumMod val="20000"/>
                              <a:lumOff val="80000"/>
                            </a:schemeClr>
                          </a:solidFill>
                          <a:latin typeface="+mn-lt"/>
                          <a:cs typeface="Times New Roman" panose="02020603050405020304" pitchFamily="18" charset="0"/>
                        </a:rPr>
                        <a:t>VARIABLES INCLUDED</a:t>
                      </a:r>
                    </a:p>
                  </a:txBody>
                  <a:tcPr anchor="ctr"/>
                </a:tc>
                <a:extLst>
                  <a:ext uri="{0D108BD9-81ED-4DB2-BD59-A6C34878D82A}">
                    <a16:rowId xmlns:a16="http://schemas.microsoft.com/office/drawing/2014/main" val="2968577094"/>
                  </a:ext>
                </a:extLst>
              </a:tr>
              <a:tr h="638870">
                <a:tc>
                  <a:txBody>
                    <a:bodyPr/>
                    <a:lstStyle/>
                    <a:p>
                      <a:pPr>
                        <a:buNone/>
                      </a:pPr>
                      <a:r>
                        <a:rPr lang="en-IN" dirty="0">
                          <a:solidFill>
                            <a:schemeClr val="tx2">
                              <a:lumMod val="20000"/>
                              <a:lumOff val="80000"/>
                            </a:schemeClr>
                          </a:solidFill>
                          <a:latin typeface="Times New Roman" panose="02020603050405020304" pitchFamily="18" charset="0"/>
                          <a:cs typeface="Times New Roman" panose="02020603050405020304" pitchFamily="18" charset="0"/>
                        </a:rPr>
                        <a:t>Cycle Information</a:t>
                      </a:r>
                    </a:p>
                  </a:txBody>
                  <a:tcPr anchor="ctr"/>
                </a:tc>
                <a:tc>
                  <a:txBody>
                    <a:bodyPr/>
                    <a:lstStyle/>
                    <a:p>
                      <a:pPr>
                        <a:buNone/>
                      </a:pPr>
                      <a:r>
                        <a:rPr lang="en-US" dirty="0">
                          <a:solidFill>
                            <a:schemeClr val="tx2">
                              <a:lumMod val="20000"/>
                              <a:lumOff val="80000"/>
                            </a:schemeClr>
                          </a:solidFill>
                          <a:latin typeface="Times New Roman" panose="02020603050405020304" pitchFamily="18" charset="0"/>
                          <a:cs typeface="Times New Roman" panose="02020603050405020304" pitchFamily="18" charset="0"/>
                        </a:rPr>
                        <a:t>Cycle number, Start date, Cycle length</a:t>
                      </a:r>
                    </a:p>
                  </a:txBody>
                  <a:tcPr anchor="ctr"/>
                </a:tc>
                <a:extLst>
                  <a:ext uri="{0D108BD9-81ED-4DB2-BD59-A6C34878D82A}">
                    <a16:rowId xmlns:a16="http://schemas.microsoft.com/office/drawing/2014/main" val="3493715222"/>
                  </a:ext>
                </a:extLst>
              </a:tr>
              <a:tr h="638870">
                <a:tc>
                  <a:txBody>
                    <a:bodyPr/>
                    <a:lstStyle/>
                    <a:p>
                      <a:pPr>
                        <a:buNone/>
                      </a:pPr>
                      <a:r>
                        <a:rPr lang="en-IN">
                          <a:solidFill>
                            <a:schemeClr val="tx2">
                              <a:lumMod val="20000"/>
                              <a:lumOff val="80000"/>
                            </a:schemeClr>
                          </a:solidFill>
                          <a:latin typeface="Times New Roman" panose="02020603050405020304" pitchFamily="18" charset="0"/>
                          <a:cs typeface="Times New Roman" panose="02020603050405020304" pitchFamily="18" charset="0"/>
                        </a:rPr>
                        <a:t>Menstrual Details</a:t>
                      </a:r>
                    </a:p>
                  </a:txBody>
                  <a:tcPr anchor="ctr"/>
                </a:tc>
                <a:tc>
                  <a:txBody>
                    <a:bodyPr/>
                    <a:lstStyle/>
                    <a:p>
                      <a:pPr>
                        <a:buNone/>
                      </a:pPr>
                      <a:r>
                        <a:rPr lang="en-US" dirty="0">
                          <a:solidFill>
                            <a:schemeClr val="tx2">
                              <a:lumMod val="20000"/>
                              <a:lumOff val="80000"/>
                            </a:schemeClr>
                          </a:solidFill>
                          <a:latin typeface="Times New Roman" panose="02020603050405020304" pitchFamily="18" charset="0"/>
                          <a:cs typeface="Times New Roman" panose="02020603050405020304" pitchFamily="18" charset="0"/>
                        </a:rPr>
                        <a:t>Flow intensity, Pain level (0–10), PMS symptoms (Yes/No)</a:t>
                      </a:r>
                    </a:p>
                  </a:txBody>
                  <a:tcPr anchor="ctr"/>
                </a:tc>
                <a:extLst>
                  <a:ext uri="{0D108BD9-81ED-4DB2-BD59-A6C34878D82A}">
                    <a16:rowId xmlns:a16="http://schemas.microsoft.com/office/drawing/2014/main" val="1230315526"/>
                  </a:ext>
                </a:extLst>
              </a:tr>
              <a:tr h="638870">
                <a:tc>
                  <a:txBody>
                    <a:bodyPr/>
                    <a:lstStyle/>
                    <a:p>
                      <a:pPr>
                        <a:buNone/>
                      </a:pPr>
                      <a:r>
                        <a:rPr lang="en-IN">
                          <a:solidFill>
                            <a:schemeClr val="tx2">
                              <a:lumMod val="20000"/>
                              <a:lumOff val="80000"/>
                            </a:schemeClr>
                          </a:solidFill>
                          <a:latin typeface="Times New Roman" panose="02020603050405020304" pitchFamily="18" charset="0"/>
                          <a:cs typeface="Times New Roman" panose="02020603050405020304" pitchFamily="18" charset="0"/>
                        </a:rPr>
                        <a:t>Emotional &amp; Physical</a:t>
                      </a:r>
                    </a:p>
                  </a:txBody>
                  <a:tcPr anchor="ctr"/>
                </a:tc>
                <a:tc>
                  <a:txBody>
                    <a:bodyPr/>
                    <a:lstStyle/>
                    <a:p>
                      <a:pPr>
                        <a:buNone/>
                      </a:pPr>
                      <a:r>
                        <a:rPr lang="en-US" dirty="0">
                          <a:solidFill>
                            <a:schemeClr val="tx2">
                              <a:lumMod val="20000"/>
                              <a:lumOff val="80000"/>
                            </a:schemeClr>
                          </a:solidFill>
                          <a:latin typeface="Times New Roman" panose="02020603050405020304" pitchFamily="18" charset="0"/>
                          <a:cs typeface="Times New Roman" panose="02020603050405020304" pitchFamily="18" charset="0"/>
                        </a:rPr>
                        <a:t>Mood score, Energy score, Stress score</a:t>
                      </a:r>
                    </a:p>
                  </a:txBody>
                  <a:tcPr anchor="ctr"/>
                </a:tc>
                <a:extLst>
                  <a:ext uri="{0D108BD9-81ED-4DB2-BD59-A6C34878D82A}">
                    <a16:rowId xmlns:a16="http://schemas.microsoft.com/office/drawing/2014/main" val="3245633403"/>
                  </a:ext>
                </a:extLst>
              </a:tr>
              <a:tr h="638870">
                <a:tc>
                  <a:txBody>
                    <a:bodyPr/>
                    <a:lstStyle/>
                    <a:p>
                      <a:pPr>
                        <a:buNone/>
                      </a:pPr>
                      <a:r>
                        <a:rPr lang="en-IN">
                          <a:solidFill>
                            <a:schemeClr val="tx2">
                              <a:lumMod val="20000"/>
                              <a:lumOff val="80000"/>
                            </a:schemeClr>
                          </a:solidFill>
                          <a:latin typeface="Times New Roman" panose="02020603050405020304" pitchFamily="18" charset="0"/>
                          <a:cs typeface="Times New Roman" panose="02020603050405020304" pitchFamily="18" charset="0"/>
                        </a:rPr>
                        <a:t>Lifestyle Factors</a:t>
                      </a:r>
                    </a:p>
                  </a:txBody>
                  <a:tcPr anchor="ctr"/>
                </a:tc>
                <a:tc>
                  <a:txBody>
                    <a:bodyPr/>
                    <a:lstStyle/>
                    <a:p>
                      <a:pPr>
                        <a:buNone/>
                      </a:pPr>
                      <a:r>
                        <a:rPr lang="en-US" dirty="0">
                          <a:solidFill>
                            <a:schemeClr val="tx2">
                              <a:lumMod val="20000"/>
                              <a:lumOff val="80000"/>
                            </a:schemeClr>
                          </a:solidFill>
                          <a:latin typeface="Times New Roman" panose="02020603050405020304" pitchFamily="18" charset="0"/>
                          <a:cs typeface="Times New Roman" panose="02020603050405020304" pitchFamily="18" charset="0"/>
                        </a:rPr>
                        <a:t>Sleep duration, Water intake, Caffeine intake</a:t>
                      </a:r>
                    </a:p>
                  </a:txBody>
                  <a:tcPr anchor="ctr"/>
                </a:tc>
                <a:extLst>
                  <a:ext uri="{0D108BD9-81ED-4DB2-BD59-A6C34878D82A}">
                    <a16:rowId xmlns:a16="http://schemas.microsoft.com/office/drawing/2014/main" val="370308560"/>
                  </a:ext>
                </a:extLst>
              </a:tr>
              <a:tr h="638870">
                <a:tc>
                  <a:txBody>
                    <a:bodyPr/>
                    <a:lstStyle/>
                    <a:p>
                      <a:pPr>
                        <a:buNone/>
                      </a:pPr>
                      <a:r>
                        <a:rPr lang="en-IN" dirty="0">
                          <a:solidFill>
                            <a:schemeClr val="tx2">
                              <a:lumMod val="20000"/>
                              <a:lumOff val="80000"/>
                            </a:schemeClr>
                          </a:solidFill>
                          <a:latin typeface="Times New Roman" panose="02020603050405020304" pitchFamily="18" charset="0"/>
                          <a:cs typeface="Times New Roman" panose="02020603050405020304" pitchFamily="18" charset="0"/>
                        </a:rPr>
                        <a:t>Productivity</a:t>
                      </a:r>
                    </a:p>
                  </a:txBody>
                  <a:tcPr anchor="ctr"/>
                </a:tc>
                <a:tc>
                  <a:txBody>
                    <a:bodyPr/>
                    <a:lstStyle/>
                    <a:p>
                      <a:pPr>
                        <a:buNone/>
                      </a:pPr>
                      <a:r>
                        <a:rPr lang="en-IN" dirty="0">
                          <a:solidFill>
                            <a:schemeClr val="tx2">
                              <a:lumMod val="20000"/>
                              <a:lumOff val="80000"/>
                            </a:schemeClr>
                          </a:solidFill>
                          <a:latin typeface="Times New Roman" panose="02020603050405020304" pitchFamily="18" charset="0"/>
                          <a:cs typeface="Times New Roman" panose="02020603050405020304" pitchFamily="18" charset="0"/>
                        </a:rPr>
                        <a:t>Concentration level, Productivity loss</a:t>
                      </a:r>
                    </a:p>
                  </a:txBody>
                  <a:tcPr anchor="ctr"/>
                </a:tc>
                <a:extLst>
                  <a:ext uri="{0D108BD9-81ED-4DB2-BD59-A6C34878D82A}">
                    <a16:rowId xmlns:a16="http://schemas.microsoft.com/office/drawing/2014/main" val="1307660590"/>
                  </a:ext>
                </a:extLst>
              </a:tr>
            </a:tbl>
          </a:graphicData>
        </a:graphic>
      </p:graphicFrame>
      <p:sp>
        <p:nvSpPr>
          <p:cNvPr id="13" name="Shape 1">
            <a:extLst>
              <a:ext uri="{FF2B5EF4-FFF2-40B4-BE49-F238E27FC236}">
                <a16:creationId xmlns:a16="http://schemas.microsoft.com/office/drawing/2014/main" id="{09F6166E-423C-6DA5-8F29-07D24AF73F1D}"/>
              </a:ext>
            </a:extLst>
          </p:cNvPr>
          <p:cNvSpPr/>
          <p:nvPr/>
        </p:nvSpPr>
        <p:spPr>
          <a:xfrm>
            <a:off x="7566577" y="2854046"/>
            <a:ext cx="6764987" cy="4980077"/>
          </a:xfrm>
          <a:prstGeom prst="roundRect">
            <a:avLst>
              <a:gd name="adj" fmla="val 2117"/>
            </a:avLst>
          </a:prstGeom>
          <a:solidFill>
            <a:srgbClr val="5F5153"/>
          </a:solidFill>
          <a:ln/>
        </p:spPr>
        <p:txBody>
          <a:bodyPr/>
          <a:lstStyle/>
          <a:p>
            <a:r>
              <a:rPr lang="en-IN" sz="2400" dirty="0">
                <a:solidFill>
                  <a:schemeClr val="tx2">
                    <a:lumMod val="20000"/>
                    <a:lumOff val="80000"/>
                  </a:schemeClr>
                </a:solidFill>
                <a:latin typeface="Algerian" panose="04020705040A02060702" pitchFamily="82" charset="0"/>
              </a:rPr>
              <a:t>User_Profile.csv (User-Level Data)</a:t>
            </a:r>
            <a:endParaRPr lang="en-US" sz="2400" dirty="0">
              <a:solidFill>
                <a:schemeClr val="tx2">
                  <a:lumMod val="20000"/>
                  <a:lumOff val="80000"/>
                </a:schemeClr>
              </a:solidFill>
              <a:latin typeface="Algerian" panose="04020705040A02060702" pitchFamily="82" charset="0"/>
              <a:cs typeface="Times New Roman" panose="02020603050405020304" pitchFamily="18" charset="0"/>
            </a:endParaRPr>
          </a:p>
        </p:txBody>
      </p:sp>
      <p:graphicFrame>
        <p:nvGraphicFramePr>
          <p:cNvPr id="15" name="Table 14">
            <a:extLst>
              <a:ext uri="{FF2B5EF4-FFF2-40B4-BE49-F238E27FC236}">
                <a16:creationId xmlns:a16="http://schemas.microsoft.com/office/drawing/2014/main" id="{A2986CAD-06F5-F543-CB4F-FD7C4CAD3BF7}"/>
              </a:ext>
            </a:extLst>
          </p:cNvPr>
          <p:cNvGraphicFramePr>
            <a:graphicFrameLocks noGrp="1"/>
          </p:cNvGraphicFramePr>
          <p:nvPr>
            <p:extLst>
              <p:ext uri="{D42A27DB-BD31-4B8C-83A1-F6EECF244321}">
                <p14:modId xmlns:p14="http://schemas.microsoft.com/office/powerpoint/2010/main" val="3222607849"/>
              </p:ext>
            </p:extLst>
          </p:nvPr>
        </p:nvGraphicFramePr>
        <p:xfrm>
          <a:off x="7667171" y="3657599"/>
          <a:ext cx="6583442" cy="4068478"/>
        </p:xfrm>
        <a:graphic>
          <a:graphicData uri="http://schemas.openxmlformats.org/drawingml/2006/table">
            <a:tbl>
              <a:tblPr firstRow="1" bandRow="1">
                <a:tableStyleId>{616DA210-FB5B-4158-B5E0-FEB733F419BA}</a:tableStyleId>
              </a:tblPr>
              <a:tblGrid>
                <a:gridCol w="3291721">
                  <a:extLst>
                    <a:ext uri="{9D8B030D-6E8A-4147-A177-3AD203B41FA5}">
                      <a16:colId xmlns:a16="http://schemas.microsoft.com/office/drawing/2014/main" val="4089676806"/>
                    </a:ext>
                  </a:extLst>
                </a:gridCol>
                <a:gridCol w="3291721">
                  <a:extLst>
                    <a:ext uri="{9D8B030D-6E8A-4147-A177-3AD203B41FA5}">
                      <a16:colId xmlns:a16="http://schemas.microsoft.com/office/drawing/2014/main" val="4225212753"/>
                    </a:ext>
                  </a:extLst>
                </a:gridCol>
              </a:tblGrid>
              <a:tr h="5023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schemeClr val="tx2">
                              <a:lumMod val="20000"/>
                              <a:lumOff val="80000"/>
                            </a:schemeClr>
                          </a:solidFill>
                        </a:rPr>
                        <a:t>VARIABLE CATEGORY</a:t>
                      </a:r>
                    </a:p>
                    <a:p>
                      <a:pPr>
                        <a:buNone/>
                      </a:pPr>
                      <a:endParaRPr lang="en-IN" dirty="0">
                        <a:solidFill>
                          <a:schemeClr val="tx2">
                            <a:lumMod val="20000"/>
                            <a:lumOff val="80000"/>
                          </a:schemeClr>
                        </a:solidFill>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solidFill>
                            <a:schemeClr val="tx2">
                              <a:lumMod val="20000"/>
                              <a:lumOff val="80000"/>
                            </a:schemeClr>
                          </a:solidFill>
                        </a:rPr>
                        <a:t>VARIABLES INCLUDED</a:t>
                      </a:r>
                    </a:p>
                    <a:p>
                      <a:pPr>
                        <a:buNone/>
                      </a:pPr>
                      <a:endParaRPr lang="en-IN" dirty="0">
                        <a:solidFill>
                          <a:schemeClr val="tx2">
                            <a:lumMod val="20000"/>
                            <a:lumOff val="80000"/>
                          </a:schemeClr>
                        </a:solidFill>
                      </a:endParaRPr>
                    </a:p>
                  </a:txBody>
                  <a:tcPr anchor="ctr"/>
                </a:tc>
                <a:extLst>
                  <a:ext uri="{0D108BD9-81ED-4DB2-BD59-A6C34878D82A}">
                    <a16:rowId xmlns:a16="http://schemas.microsoft.com/office/drawing/2014/main" val="526462781"/>
                  </a:ext>
                </a:extLst>
              </a:tr>
              <a:tr h="502313">
                <a:tc>
                  <a:txBody>
                    <a:bodyPr/>
                    <a:lstStyle/>
                    <a:p>
                      <a:pPr>
                        <a:buNone/>
                      </a:pPr>
                      <a:r>
                        <a:rPr lang="en-IN">
                          <a:solidFill>
                            <a:schemeClr val="tx2">
                              <a:lumMod val="20000"/>
                              <a:lumOff val="80000"/>
                            </a:schemeClr>
                          </a:solidFill>
                        </a:rPr>
                        <a:t>Demographics</a:t>
                      </a:r>
                    </a:p>
                  </a:txBody>
                  <a:tcPr anchor="ctr"/>
                </a:tc>
                <a:tc>
                  <a:txBody>
                    <a:bodyPr/>
                    <a:lstStyle/>
                    <a:p>
                      <a:pPr>
                        <a:buNone/>
                      </a:pPr>
                      <a:r>
                        <a:rPr lang="en-US" dirty="0">
                          <a:solidFill>
                            <a:schemeClr val="tx2">
                              <a:lumMod val="20000"/>
                              <a:lumOff val="80000"/>
                            </a:schemeClr>
                          </a:solidFill>
                        </a:rPr>
                        <a:t>Age, BMI, State of residence</a:t>
                      </a:r>
                    </a:p>
                  </a:txBody>
                  <a:tcPr anchor="ctr"/>
                </a:tc>
                <a:extLst>
                  <a:ext uri="{0D108BD9-81ED-4DB2-BD59-A6C34878D82A}">
                    <a16:rowId xmlns:a16="http://schemas.microsoft.com/office/drawing/2014/main" val="751464141"/>
                  </a:ext>
                </a:extLst>
              </a:tr>
              <a:tr h="825393">
                <a:tc>
                  <a:txBody>
                    <a:bodyPr/>
                    <a:lstStyle/>
                    <a:p>
                      <a:pPr>
                        <a:buNone/>
                      </a:pPr>
                      <a:r>
                        <a:rPr lang="en-IN">
                          <a:solidFill>
                            <a:schemeClr val="tx2">
                              <a:lumMod val="20000"/>
                              <a:lumOff val="80000"/>
                            </a:schemeClr>
                          </a:solidFill>
                        </a:rPr>
                        <a:t>Health Status</a:t>
                      </a:r>
                    </a:p>
                  </a:txBody>
                  <a:tcPr anchor="ctr"/>
                </a:tc>
                <a:tc>
                  <a:txBody>
                    <a:bodyPr/>
                    <a:lstStyle/>
                    <a:p>
                      <a:pPr>
                        <a:buNone/>
                      </a:pPr>
                      <a:r>
                        <a:rPr lang="en-US" dirty="0">
                          <a:solidFill>
                            <a:schemeClr val="tx2">
                              <a:lumMod val="20000"/>
                              <a:lumOff val="80000"/>
                            </a:schemeClr>
                          </a:solidFill>
                        </a:rPr>
                        <a:t>General health rating, PCOS diagnosis</a:t>
                      </a:r>
                    </a:p>
                  </a:txBody>
                  <a:tcPr anchor="ctr"/>
                </a:tc>
                <a:extLst>
                  <a:ext uri="{0D108BD9-81ED-4DB2-BD59-A6C34878D82A}">
                    <a16:rowId xmlns:a16="http://schemas.microsoft.com/office/drawing/2014/main" val="4114550413"/>
                  </a:ext>
                </a:extLst>
              </a:tr>
              <a:tr h="502313">
                <a:tc>
                  <a:txBody>
                    <a:bodyPr/>
                    <a:lstStyle/>
                    <a:p>
                      <a:pPr>
                        <a:buNone/>
                      </a:pPr>
                      <a:r>
                        <a:rPr lang="en-IN">
                          <a:solidFill>
                            <a:schemeClr val="tx2">
                              <a:lumMod val="20000"/>
                              <a:lumOff val="80000"/>
                            </a:schemeClr>
                          </a:solidFill>
                        </a:rPr>
                        <a:t>Lifestyle Factors</a:t>
                      </a:r>
                    </a:p>
                  </a:txBody>
                  <a:tcPr anchor="ctr"/>
                </a:tc>
                <a:tc>
                  <a:txBody>
                    <a:bodyPr/>
                    <a:lstStyle/>
                    <a:p>
                      <a:pPr>
                        <a:buNone/>
                      </a:pPr>
                      <a:r>
                        <a:rPr lang="en-IN" dirty="0">
                          <a:solidFill>
                            <a:schemeClr val="tx2">
                              <a:lumMod val="20000"/>
                              <a:lumOff val="80000"/>
                            </a:schemeClr>
                          </a:solidFill>
                        </a:rPr>
                        <a:t>Exercise frequency, Sleep hours</a:t>
                      </a:r>
                    </a:p>
                  </a:txBody>
                  <a:tcPr anchor="ctr"/>
                </a:tc>
                <a:extLst>
                  <a:ext uri="{0D108BD9-81ED-4DB2-BD59-A6C34878D82A}">
                    <a16:rowId xmlns:a16="http://schemas.microsoft.com/office/drawing/2014/main" val="2163447134"/>
                  </a:ext>
                </a:extLst>
              </a:tr>
              <a:tr h="502313">
                <a:tc>
                  <a:txBody>
                    <a:bodyPr/>
                    <a:lstStyle/>
                    <a:p>
                      <a:pPr>
                        <a:buNone/>
                      </a:pPr>
                      <a:r>
                        <a:rPr lang="en-IN">
                          <a:solidFill>
                            <a:schemeClr val="tx2">
                              <a:lumMod val="20000"/>
                              <a:lumOff val="80000"/>
                            </a:schemeClr>
                          </a:solidFill>
                        </a:rPr>
                        <a:t>Behavioral Factors</a:t>
                      </a:r>
                    </a:p>
                  </a:txBody>
                  <a:tcPr anchor="ctr"/>
                </a:tc>
                <a:tc>
                  <a:txBody>
                    <a:bodyPr/>
                    <a:lstStyle/>
                    <a:p>
                      <a:pPr>
                        <a:buNone/>
                      </a:pPr>
                      <a:r>
                        <a:rPr lang="en-IN" dirty="0">
                          <a:solidFill>
                            <a:schemeClr val="tx2">
                              <a:lumMod val="20000"/>
                              <a:lumOff val="80000"/>
                            </a:schemeClr>
                          </a:solidFill>
                        </a:rPr>
                        <a:t>Smoking, Alcohol consumption</a:t>
                      </a:r>
                    </a:p>
                  </a:txBody>
                  <a:tcPr anchor="ctr"/>
                </a:tc>
                <a:extLst>
                  <a:ext uri="{0D108BD9-81ED-4DB2-BD59-A6C34878D82A}">
                    <a16:rowId xmlns:a16="http://schemas.microsoft.com/office/drawing/2014/main" val="1221289074"/>
                  </a:ext>
                </a:extLst>
              </a:tr>
              <a:tr h="502313">
                <a:tc>
                  <a:txBody>
                    <a:bodyPr/>
                    <a:lstStyle/>
                    <a:p>
                      <a:pPr>
                        <a:buNone/>
                      </a:pPr>
                      <a:r>
                        <a:rPr lang="en-IN">
                          <a:solidFill>
                            <a:schemeClr val="tx2">
                              <a:lumMod val="20000"/>
                              <a:lumOff val="80000"/>
                            </a:schemeClr>
                          </a:solidFill>
                        </a:rPr>
                        <a:t>Reproductive Health</a:t>
                      </a:r>
                    </a:p>
                  </a:txBody>
                  <a:tcPr anchor="ctr"/>
                </a:tc>
                <a:tc>
                  <a:txBody>
                    <a:bodyPr/>
                    <a:lstStyle/>
                    <a:p>
                      <a:pPr>
                        <a:buNone/>
                      </a:pPr>
                      <a:r>
                        <a:rPr lang="en-IN" dirty="0">
                          <a:solidFill>
                            <a:schemeClr val="tx2">
                              <a:lumMod val="20000"/>
                              <a:lumOff val="80000"/>
                            </a:schemeClr>
                          </a:solidFill>
                        </a:rPr>
                        <a:t>Birth control status</a:t>
                      </a:r>
                    </a:p>
                  </a:txBody>
                  <a:tcPr anchor="ctr"/>
                </a:tc>
                <a:extLst>
                  <a:ext uri="{0D108BD9-81ED-4DB2-BD59-A6C34878D82A}">
                    <a16:rowId xmlns:a16="http://schemas.microsoft.com/office/drawing/2014/main" val="2014573567"/>
                  </a:ext>
                </a:extLst>
              </a:tr>
              <a:tr h="502313">
                <a:tc>
                  <a:txBody>
                    <a:bodyPr/>
                    <a:lstStyle/>
                    <a:p>
                      <a:pPr>
                        <a:buNone/>
                      </a:pPr>
                      <a:r>
                        <a:rPr lang="en-IN">
                          <a:solidFill>
                            <a:schemeClr val="tx2">
                              <a:lumMod val="20000"/>
                              <a:lumOff val="80000"/>
                            </a:schemeClr>
                          </a:solidFill>
                        </a:rPr>
                        <a:t>Psychological Factor</a:t>
                      </a:r>
                    </a:p>
                  </a:txBody>
                  <a:tcPr anchor="ctr"/>
                </a:tc>
                <a:tc>
                  <a:txBody>
                    <a:bodyPr/>
                    <a:lstStyle/>
                    <a:p>
                      <a:pPr>
                        <a:buNone/>
                      </a:pPr>
                      <a:r>
                        <a:rPr lang="en-IN" dirty="0">
                          <a:solidFill>
                            <a:schemeClr val="tx2">
                              <a:lumMod val="20000"/>
                              <a:lumOff val="80000"/>
                            </a:schemeClr>
                          </a:solidFill>
                        </a:rPr>
                        <a:t>Baseline stress score</a:t>
                      </a:r>
                    </a:p>
                  </a:txBody>
                  <a:tcPr anchor="ctr"/>
                </a:tc>
                <a:extLst>
                  <a:ext uri="{0D108BD9-81ED-4DB2-BD59-A6C34878D82A}">
                    <a16:rowId xmlns:a16="http://schemas.microsoft.com/office/drawing/2014/main" val="287570018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a:extLst>
              <a:ext uri="{FF2B5EF4-FFF2-40B4-BE49-F238E27FC236}">
                <a16:creationId xmlns:a16="http://schemas.microsoft.com/office/drawing/2014/main" id="{77BF7A75-1DA6-F56A-D3F5-4FB4F1975AF0}"/>
              </a:ext>
            </a:extLst>
          </p:cNvPr>
          <p:cNvSpPr/>
          <p:nvPr/>
        </p:nvSpPr>
        <p:spPr>
          <a:xfrm>
            <a:off x="1299409" y="1535794"/>
            <a:ext cx="11598441" cy="4374756"/>
          </a:xfrm>
          <a:prstGeom prst="roundRect">
            <a:avLst>
              <a:gd name="adj" fmla="val 2117"/>
            </a:avLst>
          </a:prstGeom>
          <a:solidFill>
            <a:srgbClr val="5F5153"/>
          </a:solidFill>
          <a:ln/>
        </p:spPr>
        <p:txBody>
          <a:bodyPr/>
          <a:lstStyle/>
          <a:p>
            <a:endParaRPr lang="en-US" sz="2000" dirty="0">
              <a:solidFill>
                <a:schemeClr val="bg2"/>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176B4ADB-0869-BDB5-CF87-EE5AF9A29176}"/>
              </a:ext>
            </a:extLst>
          </p:cNvPr>
          <p:cNvGraphicFramePr>
            <a:graphicFrameLocks noGrp="1"/>
          </p:cNvGraphicFramePr>
          <p:nvPr>
            <p:extLst>
              <p:ext uri="{D42A27DB-BD31-4B8C-83A1-F6EECF244321}">
                <p14:modId xmlns:p14="http://schemas.microsoft.com/office/powerpoint/2010/main" val="1818599093"/>
              </p:ext>
            </p:extLst>
          </p:nvPr>
        </p:nvGraphicFramePr>
        <p:xfrm>
          <a:off x="2039351" y="2177717"/>
          <a:ext cx="9805737" cy="3066848"/>
        </p:xfrm>
        <a:graphic>
          <a:graphicData uri="http://schemas.openxmlformats.org/drawingml/2006/table">
            <a:tbl>
              <a:tblPr firstRow="1" bandRow="1">
                <a:tableStyleId>{616DA210-FB5B-4158-B5E0-FEB733F419BA}</a:tableStyleId>
              </a:tblPr>
              <a:tblGrid>
                <a:gridCol w="4870950">
                  <a:extLst>
                    <a:ext uri="{9D8B030D-6E8A-4147-A177-3AD203B41FA5}">
                      <a16:colId xmlns:a16="http://schemas.microsoft.com/office/drawing/2014/main" val="991632094"/>
                    </a:ext>
                  </a:extLst>
                </a:gridCol>
                <a:gridCol w="4934787">
                  <a:extLst>
                    <a:ext uri="{9D8B030D-6E8A-4147-A177-3AD203B41FA5}">
                      <a16:colId xmlns:a16="http://schemas.microsoft.com/office/drawing/2014/main" val="2478462228"/>
                    </a:ext>
                  </a:extLst>
                </a:gridCol>
              </a:tblGrid>
              <a:tr h="527584">
                <a:tc>
                  <a:txBody>
                    <a:bodyPr/>
                    <a:lstStyle/>
                    <a:p>
                      <a:pPr>
                        <a:buNone/>
                      </a:pPr>
                      <a:r>
                        <a:rPr lang="en-IN" sz="2400" dirty="0">
                          <a:solidFill>
                            <a:schemeClr val="tx2">
                              <a:lumMod val="20000"/>
                              <a:lumOff val="80000"/>
                            </a:schemeClr>
                          </a:solidFill>
                          <a:latin typeface="Algerian" panose="04020705040A02060702" pitchFamily="82" charset="0"/>
                        </a:rPr>
                        <a:t>Feature</a:t>
                      </a:r>
                    </a:p>
                  </a:txBody>
                  <a:tcPr anchor="ctr"/>
                </a:tc>
                <a:tc>
                  <a:txBody>
                    <a:bodyPr/>
                    <a:lstStyle/>
                    <a:p>
                      <a:pPr>
                        <a:buNone/>
                      </a:pPr>
                      <a:r>
                        <a:rPr lang="en-IN" sz="2400" dirty="0">
                          <a:solidFill>
                            <a:schemeClr val="tx2">
                              <a:lumMod val="20000"/>
                              <a:lumOff val="80000"/>
                            </a:schemeClr>
                          </a:solidFill>
                          <a:latin typeface="Algerian" panose="04020705040A02060702" pitchFamily="82" charset="0"/>
                        </a:rPr>
                        <a:t>Description</a:t>
                      </a:r>
                    </a:p>
                  </a:txBody>
                  <a:tcPr anchor="ctr"/>
                </a:tc>
                <a:extLst>
                  <a:ext uri="{0D108BD9-81ED-4DB2-BD59-A6C34878D82A}">
                    <a16:rowId xmlns:a16="http://schemas.microsoft.com/office/drawing/2014/main" val="2595461477"/>
                  </a:ext>
                </a:extLst>
              </a:tr>
              <a:tr h="527584">
                <a:tc>
                  <a:txBody>
                    <a:bodyPr/>
                    <a:lstStyle/>
                    <a:p>
                      <a:pPr>
                        <a:buNone/>
                      </a:pPr>
                      <a:r>
                        <a:rPr lang="en-IN" sz="2400" dirty="0">
                          <a:solidFill>
                            <a:schemeClr val="tx2">
                              <a:lumMod val="20000"/>
                              <a:lumOff val="80000"/>
                            </a:schemeClr>
                          </a:solidFill>
                          <a:latin typeface="Times New Roman" panose="02020603050405020304" pitchFamily="18" charset="0"/>
                          <a:cs typeface="Times New Roman" panose="02020603050405020304" pitchFamily="18" charset="0"/>
                        </a:rPr>
                        <a:t>Number of Users</a:t>
                      </a:r>
                    </a:p>
                  </a:txBody>
                  <a:tcPr anchor="ctr"/>
                </a:tc>
                <a:tc>
                  <a:txBody>
                    <a:bodyPr/>
                    <a:lstStyle/>
                    <a:p>
                      <a:pPr>
                        <a:buNone/>
                      </a:pPr>
                      <a:r>
                        <a:rPr lang="en-IN" sz="2400" dirty="0">
                          <a:solidFill>
                            <a:schemeClr val="tx2">
                              <a:lumMod val="20000"/>
                              <a:lumOff val="80000"/>
                            </a:schemeClr>
                          </a:solidFill>
                          <a:latin typeface="Times New Roman" panose="02020603050405020304" pitchFamily="18" charset="0"/>
                          <a:cs typeface="Times New Roman" panose="02020603050405020304" pitchFamily="18" charset="0"/>
                        </a:rPr>
                        <a:t>2000 females</a:t>
                      </a:r>
                    </a:p>
                  </a:txBody>
                  <a:tcPr anchor="ctr"/>
                </a:tc>
                <a:extLst>
                  <a:ext uri="{0D108BD9-81ED-4DB2-BD59-A6C34878D82A}">
                    <a16:rowId xmlns:a16="http://schemas.microsoft.com/office/drawing/2014/main" val="1916614231"/>
                  </a:ext>
                </a:extLst>
              </a:tr>
              <a:tr h="779292">
                <a:tc>
                  <a:txBody>
                    <a:bodyPr/>
                    <a:lstStyle/>
                    <a:p>
                      <a:pPr>
                        <a:buNone/>
                      </a:pPr>
                      <a:r>
                        <a:rPr lang="en-IN" sz="2400" dirty="0">
                          <a:solidFill>
                            <a:schemeClr val="tx2">
                              <a:lumMod val="20000"/>
                              <a:lumOff val="80000"/>
                            </a:schemeClr>
                          </a:solidFill>
                          <a:latin typeface="Times New Roman" panose="02020603050405020304" pitchFamily="18" charset="0"/>
                          <a:cs typeface="Times New Roman" panose="02020603050405020304" pitchFamily="18" charset="0"/>
                        </a:rPr>
                        <a:t>Data Structure</a:t>
                      </a:r>
                    </a:p>
                  </a:txBody>
                  <a:tcPr anchor="ctr"/>
                </a:tc>
                <a:tc>
                  <a:txBody>
                    <a:bodyPr/>
                    <a:lstStyle/>
                    <a:p>
                      <a:pPr>
                        <a:buNone/>
                      </a:pPr>
                      <a:r>
                        <a:rPr lang="en-US" sz="2400" dirty="0">
                          <a:solidFill>
                            <a:schemeClr val="tx2">
                              <a:lumMod val="20000"/>
                              <a:lumOff val="80000"/>
                            </a:schemeClr>
                          </a:solidFill>
                          <a:latin typeface="Times New Roman" panose="02020603050405020304" pitchFamily="18" charset="0"/>
                          <a:cs typeface="Times New Roman" panose="02020603050405020304" pitchFamily="18" charset="0"/>
                        </a:rPr>
                        <a:t>One-to-many (one user → multiple cycle logs)</a:t>
                      </a:r>
                    </a:p>
                  </a:txBody>
                  <a:tcPr anchor="ctr"/>
                </a:tc>
                <a:extLst>
                  <a:ext uri="{0D108BD9-81ED-4DB2-BD59-A6C34878D82A}">
                    <a16:rowId xmlns:a16="http://schemas.microsoft.com/office/drawing/2014/main" val="15426444"/>
                  </a:ext>
                </a:extLst>
              </a:tr>
              <a:tr h="1113275">
                <a:tc>
                  <a:txBody>
                    <a:bodyPr/>
                    <a:lstStyle/>
                    <a:p>
                      <a:pPr>
                        <a:buNone/>
                      </a:pPr>
                      <a:r>
                        <a:rPr lang="en-IN" sz="2400" dirty="0">
                          <a:solidFill>
                            <a:schemeClr val="tx2">
                              <a:lumMod val="20000"/>
                              <a:lumOff val="80000"/>
                            </a:schemeClr>
                          </a:solidFill>
                          <a:latin typeface="Times New Roman" panose="02020603050405020304" pitchFamily="18" charset="0"/>
                          <a:cs typeface="Times New Roman" panose="02020603050405020304" pitchFamily="18" charset="0"/>
                        </a:rPr>
                        <a:t>Purpose</a:t>
                      </a:r>
                    </a:p>
                  </a:txBody>
                  <a:tcPr anchor="ctr"/>
                </a:tc>
                <a:tc>
                  <a:txBody>
                    <a:bodyPr/>
                    <a:lstStyle/>
                    <a:p>
                      <a:pPr>
                        <a:buNone/>
                      </a:pPr>
                      <a:r>
                        <a:rPr lang="en-US" sz="2400" dirty="0">
                          <a:solidFill>
                            <a:schemeClr val="tx2">
                              <a:lumMod val="20000"/>
                              <a:lumOff val="80000"/>
                            </a:schemeClr>
                          </a:solidFill>
                          <a:latin typeface="Times New Roman" panose="02020603050405020304" pitchFamily="18" charset="0"/>
                          <a:cs typeface="Times New Roman" panose="02020603050405020304" pitchFamily="18" charset="0"/>
                        </a:rPr>
                        <a:t>To analyze menstrual health trends, predict pain/PMS, and study impact on productivity</a:t>
                      </a:r>
                    </a:p>
                  </a:txBody>
                  <a:tcPr anchor="ctr"/>
                </a:tc>
                <a:extLst>
                  <a:ext uri="{0D108BD9-81ED-4DB2-BD59-A6C34878D82A}">
                    <a16:rowId xmlns:a16="http://schemas.microsoft.com/office/drawing/2014/main" val="2211462872"/>
                  </a:ext>
                </a:extLst>
              </a:tr>
            </a:tbl>
          </a:graphicData>
        </a:graphic>
      </p:graphicFrame>
      <p:sp>
        <p:nvSpPr>
          <p:cNvPr id="8" name="TextBox 7">
            <a:extLst>
              <a:ext uri="{FF2B5EF4-FFF2-40B4-BE49-F238E27FC236}">
                <a16:creationId xmlns:a16="http://schemas.microsoft.com/office/drawing/2014/main" id="{003560C7-0831-7E7E-C047-45521C2DE415}"/>
              </a:ext>
            </a:extLst>
          </p:cNvPr>
          <p:cNvSpPr txBox="1"/>
          <p:nvPr/>
        </p:nvSpPr>
        <p:spPr>
          <a:xfrm>
            <a:off x="4283242" y="611105"/>
            <a:ext cx="7315200" cy="646331"/>
          </a:xfrm>
          <a:prstGeom prst="rect">
            <a:avLst/>
          </a:prstGeom>
          <a:noFill/>
        </p:spPr>
        <p:txBody>
          <a:bodyPr wrap="square">
            <a:spAutoFit/>
          </a:bodyPr>
          <a:lstStyle/>
          <a:p>
            <a:pPr algn="just"/>
            <a:r>
              <a:rPr lang="en-IN" sz="3600" b="1" u="sng" dirty="0">
                <a:solidFill>
                  <a:schemeClr val="tx2">
                    <a:lumMod val="20000"/>
                    <a:lumOff val="80000"/>
                  </a:schemeClr>
                </a:solidFill>
                <a:latin typeface="Algerian" panose="04020705040A02060702" pitchFamily="82" charset="0"/>
              </a:rPr>
              <a:t>Dataset Overview</a:t>
            </a:r>
          </a:p>
        </p:txBody>
      </p:sp>
      <p:sp>
        <p:nvSpPr>
          <p:cNvPr id="10" name="TextBox 9">
            <a:extLst>
              <a:ext uri="{FF2B5EF4-FFF2-40B4-BE49-F238E27FC236}">
                <a16:creationId xmlns:a16="http://schemas.microsoft.com/office/drawing/2014/main" id="{E7173B1C-C0F1-8370-6096-0C833813F670}"/>
              </a:ext>
            </a:extLst>
          </p:cNvPr>
          <p:cNvSpPr txBox="1"/>
          <p:nvPr/>
        </p:nvSpPr>
        <p:spPr>
          <a:xfrm>
            <a:off x="1750594" y="6035114"/>
            <a:ext cx="7315200" cy="1938992"/>
          </a:xfrm>
          <a:prstGeom prst="rect">
            <a:avLst/>
          </a:prstGeom>
          <a:noFill/>
        </p:spPr>
        <p:txBody>
          <a:bodyPr wrap="square">
            <a:spAutoFit/>
          </a:bodyPr>
          <a:lstStyle/>
          <a:p>
            <a:r>
              <a:rPr lang="en-IN" sz="2400" dirty="0">
                <a:solidFill>
                  <a:schemeClr val="tx2">
                    <a:lumMod val="20000"/>
                    <a:lumOff val="80000"/>
                  </a:schemeClr>
                </a:solidFill>
                <a:latin typeface="Times New Roman" panose="02020603050405020304" pitchFamily="18" charset="0"/>
                <a:cs typeface="Times New Roman" panose="02020603050405020304" pitchFamily="18" charset="0"/>
              </a:rPr>
              <a:t>Minimum cycles per user: 6</a:t>
            </a:r>
          </a:p>
          <a:p>
            <a:r>
              <a:rPr lang="en-IN" sz="2400" dirty="0">
                <a:solidFill>
                  <a:schemeClr val="tx2">
                    <a:lumMod val="20000"/>
                    <a:lumOff val="80000"/>
                  </a:schemeClr>
                </a:solidFill>
                <a:latin typeface="Times New Roman" panose="02020603050405020304" pitchFamily="18" charset="0"/>
                <a:cs typeface="Times New Roman" panose="02020603050405020304" pitchFamily="18" charset="0"/>
              </a:rPr>
              <a:t>Maximum cycles per user: 12</a:t>
            </a:r>
          </a:p>
          <a:p>
            <a:r>
              <a:rPr lang="en-IN" sz="2400" dirty="0">
                <a:solidFill>
                  <a:schemeClr val="tx2">
                    <a:lumMod val="20000"/>
                    <a:lumOff val="80000"/>
                  </a:schemeClr>
                </a:solidFill>
                <a:latin typeface="Times New Roman" panose="02020603050405020304" pitchFamily="18" charset="0"/>
                <a:cs typeface="Times New Roman" panose="02020603050405020304" pitchFamily="18" charset="0"/>
              </a:rPr>
              <a:t> So, most users have around 6–12 cycles recorded.</a:t>
            </a:r>
          </a:p>
          <a:p>
            <a:endParaRPr lang="en-IN" sz="2400" dirty="0">
              <a:solidFill>
                <a:schemeClr val="tx2">
                  <a:lumMod val="20000"/>
                  <a:lumOff val="80000"/>
                </a:schemeClr>
              </a:solidFill>
              <a:latin typeface="Times New Roman" panose="02020603050405020304" pitchFamily="18" charset="0"/>
              <a:cs typeface="Times New Roman" panose="02020603050405020304" pitchFamily="18" charset="0"/>
            </a:endParaRPr>
          </a:p>
          <a:p>
            <a:r>
              <a:rPr lang="en-IN" sz="2400" dirty="0">
                <a:solidFill>
                  <a:schemeClr val="tx2">
                    <a:lumMod val="20000"/>
                    <a:lumOff val="80000"/>
                  </a:schemeClr>
                </a:solidFill>
                <a:latin typeface="Times New Roman" panose="02020603050405020304" pitchFamily="18" charset="0"/>
                <a:cs typeface="Times New Roman" panose="02020603050405020304" pitchFamily="18" charset="0"/>
              </a:rPr>
              <a:t>Number of regressors = 32</a:t>
            </a:r>
          </a:p>
        </p:txBody>
      </p:sp>
    </p:spTree>
    <p:extLst>
      <p:ext uri="{BB962C8B-B14F-4D97-AF65-F5344CB8AC3E}">
        <p14:creationId xmlns:p14="http://schemas.microsoft.com/office/powerpoint/2010/main" val="4058239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A21759D-DC69-8598-3332-8A263BC35036}"/>
              </a:ext>
            </a:extLst>
          </p:cNvPr>
          <p:cNvSpPr txBox="1"/>
          <p:nvPr/>
        </p:nvSpPr>
        <p:spPr>
          <a:xfrm>
            <a:off x="4511842" y="344723"/>
            <a:ext cx="7315200" cy="646331"/>
          </a:xfrm>
          <a:prstGeom prst="rect">
            <a:avLst/>
          </a:prstGeom>
          <a:noFill/>
        </p:spPr>
        <p:txBody>
          <a:bodyPr wrap="square">
            <a:spAutoFit/>
          </a:bodyPr>
          <a:lstStyle/>
          <a:p>
            <a:pPr algn="just"/>
            <a:r>
              <a:rPr lang="en-US" sz="3600" b="1" u="sng" dirty="0">
                <a:solidFill>
                  <a:schemeClr val="bg2"/>
                </a:solidFill>
                <a:latin typeface="Algerian" panose="04020705040A02060702" pitchFamily="82" charset="0"/>
              </a:rPr>
              <a:t>RESEARCH OBJECTIVE</a:t>
            </a:r>
          </a:p>
        </p:txBody>
      </p:sp>
      <p:sp>
        <p:nvSpPr>
          <p:cNvPr id="4" name="Rectangle 1">
            <a:extLst>
              <a:ext uri="{FF2B5EF4-FFF2-40B4-BE49-F238E27FC236}">
                <a16:creationId xmlns:a16="http://schemas.microsoft.com/office/drawing/2014/main" id="{E9B04D23-FCB2-D0B3-23CB-6104A40EE507}"/>
              </a:ext>
            </a:extLst>
          </p:cNvPr>
          <p:cNvSpPr>
            <a:spLocks noChangeArrowheads="1"/>
          </p:cNvSpPr>
          <p:nvPr/>
        </p:nvSpPr>
        <p:spPr bwMode="auto">
          <a:xfrm>
            <a:off x="1046748" y="3290230"/>
            <a:ext cx="1194983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tx2">
                  <a:lumMod val="20000"/>
                  <a:lumOff val="80000"/>
                </a:schemeClr>
              </a:solidFill>
              <a:effectLst/>
              <a:latin typeface="Times New Roman" panose="02020603050405020304" pitchFamily="18" charset="0"/>
              <a:cs typeface="Times New Roman" panose="02020603050405020304" pitchFamily="18"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2">
                  <a:lumMod val="20000"/>
                  <a:lumOff val="80000"/>
                </a:schemeClr>
              </a:solidFill>
              <a:effectLst/>
              <a:latin typeface="Times New Roman" panose="02020603050405020304" pitchFamily="18" charset="0"/>
              <a:cs typeface="Times New Roman" panose="02020603050405020304" pitchFamily="18" charset="0"/>
            </a:endParaRPr>
          </a:p>
        </p:txBody>
      </p:sp>
      <p:sp>
        <p:nvSpPr>
          <p:cNvPr id="5" name="Shape 1">
            <a:extLst>
              <a:ext uri="{FF2B5EF4-FFF2-40B4-BE49-F238E27FC236}">
                <a16:creationId xmlns:a16="http://schemas.microsoft.com/office/drawing/2014/main" id="{7F8D2B9B-23DF-3512-D353-DC53D0C50800}"/>
              </a:ext>
            </a:extLst>
          </p:cNvPr>
          <p:cNvSpPr/>
          <p:nvPr/>
        </p:nvSpPr>
        <p:spPr>
          <a:xfrm>
            <a:off x="1046748" y="2021304"/>
            <a:ext cx="12260178" cy="4487779"/>
          </a:xfrm>
          <a:prstGeom prst="roundRect">
            <a:avLst>
              <a:gd name="adj" fmla="val 2117"/>
            </a:avLst>
          </a:prstGeom>
          <a:solidFill>
            <a:srgbClr val="5F5153"/>
          </a:solidFill>
          <a:ln/>
        </p:spPr>
        <p:txBody>
          <a:bodyPr/>
          <a:lstStyle/>
          <a:p>
            <a:pPr lvl="0" eaLnBrk="0" fontAlgn="base" hangingPunct="0">
              <a:spcBef>
                <a:spcPct val="0"/>
              </a:spcBef>
              <a:spcAft>
                <a:spcPct val="0"/>
              </a:spcAft>
            </a:pPr>
            <a:r>
              <a:rPr lang="en-US" altLang="en-US" sz="2400" dirty="0">
                <a:solidFill>
                  <a:schemeClr val="tx2">
                    <a:lumMod val="20000"/>
                    <a:lumOff val="80000"/>
                  </a:schemeClr>
                </a:solidFill>
                <a:latin typeface="Times New Roman" panose="02020603050405020304" pitchFamily="18" charset="0"/>
                <a:cs typeface="Times New Roman" panose="02020603050405020304" pitchFamily="18" charset="0"/>
              </a:rPr>
              <a:t>The primary objective of this study is </a:t>
            </a:r>
          </a:p>
          <a:p>
            <a:pPr lvl="0" eaLnBrk="0" fontAlgn="base" hangingPunct="0">
              <a:spcBef>
                <a:spcPct val="0"/>
              </a:spcBef>
              <a:spcAft>
                <a:spcPct val="0"/>
              </a:spcAft>
            </a:pPr>
            <a:endParaRPr lang="en-US" altLang="en-US" sz="2400" dirty="0">
              <a:solidFill>
                <a:schemeClr val="tx2">
                  <a:lumMod val="20000"/>
                  <a:lumOff val="80000"/>
                </a:schemeClr>
              </a:solidFill>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Font typeface="Arial" panose="020B0604020202020204" pitchFamily="34" charset="0"/>
              <a:buChar char="•"/>
            </a:pPr>
            <a:r>
              <a:rPr lang="en-US" sz="2400" dirty="0">
                <a:solidFill>
                  <a:schemeClr val="tx2">
                    <a:lumMod val="20000"/>
                    <a:lumOff val="80000"/>
                  </a:schemeClr>
                </a:solidFill>
                <a:latin typeface="Times New Roman" panose="02020603050405020304" pitchFamily="18" charset="0"/>
                <a:cs typeface="Times New Roman" panose="02020603050405020304" pitchFamily="18" charset="0"/>
              </a:rPr>
              <a:t>To analyze the impact between biological, psychological, lifestyle, and health-related factors and menstrual pain intensity. </a:t>
            </a:r>
          </a:p>
          <a:p>
            <a:pPr eaLnBrk="0" fontAlgn="base" hangingPunct="0">
              <a:spcBef>
                <a:spcPct val="0"/>
              </a:spcBef>
              <a:spcAft>
                <a:spcPct val="0"/>
              </a:spcAft>
            </a:pPr>
            <a:endParaRPr lang="en-US" sz="2400" dirty="0">
              <a:solidFill>
                <a:schemeClr val="tx2">
                  <a:lumMod val="20000"/>
                  <a:lumOff val="80000"/>
                </a:schemeClr>
              </a:solidFill>
              <a:latin typeface="Times New Roman" panose="02020603050405020304" pitchFamily="18" charset="0"/>
              <a:cs typeface="Times New Roman" panose="02020603050405020304" pitchFamily="18" charset="0"/>
            </a:endParaRPr>
          </a:p>
          <a:p>
            <a:pPr marL="342900" lvl="0" indent="-342900" eaLnBrk="0" fontAlgn="base" hangingPunct="0">
              <a:spcBef>
                <a:spcPct val="0"/>
              </a:spcBef>
              <a:spcAft>
                <a:spcPct val="0"/>
              </a:spcAft>
              <a:buFont typeface="Arial" panose="020B0604020202020204" pitchFamily="34" charset="0"/>
              <a:buChar char="•"/>
            </a:pPr>
            <a:r>
              <a:rPr lang="en-US" altLang="en-US" sz="2400" dirty="0">
                <a:solidFill>
                  <a:schemeClr val="tx2">
                    <a:lumMod val="20000"/>
                    <a:lumOff val="80000"/>
                  </a:schemeClr>
                </a:solidFill>
                <a:latin typeface="Times New Roman" panose="02020603050405020304" pitchFamily="18" charset="0"/>
                <a:cs typeface="Times New Roman" panose="02020603050405020304" pitchFamily="18" charset="0"/>
              </a:rPr>
              <a:t> It aims to identify the key determinants influencing menstrual health and to evaluate the combined effect of these factors using statistical modeling techniques. </a:t>
            </a:r>
          </a:p>
          <a:p>
            <a:pPr lvl="0" eaLnBrk="0" fontAlgn="base" hangingPunct="0">
              <a:spcBef>
                <a:spcPct val="0"/>
              </a:spcBef>
              <a:spcAft>
                <a:spcPct val="0"/>
              </a:spcAft>
            </a:pPr>
            <a:endParaRPr lang="en-US" altLang="en-US" sz="2400" dirty="0">
              <a:solidFill>
                <a:schemeClr val="tx2">
                  <a:lumMod val="20000"/>
                  <a:lumOff val="80000"/>
                </a:schemeClr>
              </a:solidFill>
              <a:latin typeface="Times New Roman" panose="02020603050405020304" pitchFamily="18" charset="0"/>
              <a:cs typeface="Times New Roman" panose="02020603050405020304" pitchFamily="18" charset="0"/>
            </a:endParaRPr>
          </a:p>
          <a:p>
            <a:pPr marL="342900" indent="-342900" eaLnBrk="0" fontAlgn="base" hangingPunct="0">
              <a:spcBef>
                <a:spcPct val="0"/>
              </a:spcBef>
              <a:spcAft>
                <a:spcPct val="0"/>
              </a:spcAft>
              <a:buFont typeface="Arial" panose="020B0604020202020204" pitchFamily="34" charset="0"/>
              <a:buChar char="•"/>
            </a:pPr>
            <a:r>
              <a:rPr lang="en-US" sz="2400" dirty="0">
                <a:solidFill>
                  <a:schemeClr val="tx2">
                    <a:lumMod val="20000"/>
                    <a:lumOff val="80000"/>
                  </a:schemeClr>
                </a:solidFill>
                <a:latin typeface="Times New Roman" panose="02020603050405020304" pitchFamily="18" charset="0"/>
                <a:cs typeface="Times New Roman" panose="02020603050405020304" pitchFamily="18" charset="0"/>
              </a:rPr>
              <a:t>To provide insights that can support awareness, healthcare strategies, and future research in menstrual health.</a:t>
            </a:r>
          </a:p>
        </p:txBody>
      </p:sp>
    </p:spTree>
    <p:extLst>
      <p:ext uri="{BB962C8B-B14F-4D97-AF65-F5344CB8AC3E}">
        <p14:creationId xmlns:p14="http://schemas.microsoft.com/office/powerpoint/2010/main" val="4149297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5F0AC8C-003D-B536-8A80-408E0B35A9FA}"/>
              </a:ext>
            </a:extLst>
          </p:cNvPr>
          <p:cNvSpPr txBox="1"/>
          <p:nvPr/>
        </p:nvSpPr>
        <p:spPr>
          <a:xfrm>
            <a:off x="4174958" y="501134"/>
            <a:ext cx="7315200" cy="646331"/>
          </a:xfrm>
          <a:prstGeom prst="rect">
            <a:avLst/>
          </a:prstGeom>
          <a:noFill/>
        </p:spPr>
        <p:txBody>
          <a:bodyPr wrap="square">
            <a:spAutoFit/>
          </a:bodyPr>
          <a:lstStyle/>
          <a:p>
            <a:r>
              <a:rPr lang="en-US" sz="3600" b="1" u="sng" dirty="0">
                <a:solidFill>
                  <a:schemeClr val="bg2"/>
                </a:solidFill>
                <a:latin typeface="Algerian" panose="04020705040A02060702" pitchFamily="82" charset="0"/>
              </a:rPr>
              <a:t>RESEARCH HYPOTHESIS </a:t>
            </a:r>
          </a:p>
        </p:txBody>
      </p:sp>
      <p:sp>
        <p:nvSpPr>
          <p:cNvPr id="10" name="Shape 1">
            <a:extLst>
              <a:ext uri="{FF2B5EF4-FFF2-40B4-BE49-F238E27FC236}">
                <a16:creationId xmlns:a16="http://schemas.microsoft.com/office/drawing/2014/main" id="{D81C15E8-4207-E9E7-2B80-7922DBF11B9A}"/>
              </a:ext>
            </a:extLst>
          </p:cNvPr>
          <p:cNvSpPr/>
          <p:nvPr/>
        </p:nvSpPr>
        <p:spPr>
          <a:xfrm>
            <a:off x="1127343" y="2090261"/>
            <a:ext cx="12137720" cy="4374756"/>
          </a:xfrm>
          <a:prstGeom prst="roundRect">
            <a:avLst>
              <a:gd name="adj" fmla="val 2117"/>
            </a:avLst>
          </a:prstGeom>
          <a:solidFill>
            <a:srgbClr val="5F5153"/>
          </a:solidFill>
          <a:ln/>
        </p:spPr>
        <p:txBody>
          <a:bodyPr/>
          <a:lstStyle/>
          <a:p>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Null Hypothesis (H₀):</a:t>
            </a:r>
          </a:p>
          <a:p>
            <a:endParaRPr lang="en-IN" sz="2400" dirty="0">
              <a:solidFill>
                <a:schemeClr val="tx2">
                  <a:lumMod val="20000"/>
                  <a:lumOff val="80000"/>
                </a:schemeClr>
              </a:solidFill>
              <a:latin typeface="Times New Roman" panose="02020603050405020304" pitchFamily="18" charset="0"/>
              <a:cs typeface="Times New Roman" panose="02020603050405020304" pitchFamily="18" charset="0"/>
            </a:endParaRPr>
          </a:p>
          <a:p>
            <a:r>
              <a:rPr lang="en-IN" sz="2400" dirty="0">
                <a:solidFill>
                  <a:schemeClr val="tx2">
                    <a:lumMod val="20000"/>
                    <a:lumOff val="80000"/>
                  </a:schemeClr>
                </a:solidFill>
                <a:latin typeface="Times New Roman" panose="02020603050405020304" pitchFamily="18" charset="0"/>
                <a:cs typeface="Times New Roman" panose="02020603050405020304" pitchFamily="18" charset="0"/>
              </a:rPr>
              <a:t>None of the independent variables significantly affect menstrual pain level. (All regression coefficients = 0)</a:t>
            </a:r>
          </a:p>
          <a:p>
            <a:endParaRPr lang="en-IN" sz="2400" dirty="0">
              <a:solidFill>
                <a:schemeClr val="tx2">
                  <a:lumMod val="20000"/>
                  <a:lumOff val="80000"/>
                </a:schemeClr>
              </a:solidFill>
              <a:latin typeface="Times New Roman" panose="02020603050405020304" pitchFamily="18" charset="0"/>
              <a:cs typeface="Times New Roman" panose="02020603050405020304" pitchFamily="18" charset="0"/>
            </a:endParaRPr>
          </a:p>
          <a:p>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Alternative Hypothesis (H₁):</a:t>
            </a:r>
          </a:p>
          <a:p>
            <a:endParaRPr lang="en-IN" sz="2400" dirty="0">
              <a:solidFill>
                <a:schemeClr val="tx2">
                  <a:lumMod val="20000"/>
                  <a:lumOff val="80000"/>
                </a:schemeClr>
              </a:solidFill>
              <a:latin typeface="Times New Roman" panose="02020603050405020304" pitchFamily="18" charset="0"/>
              <a:cs typeface="Times New Roman" panose="02020603050405020304" pitchFamily="18" charset="0"/>
            </a:endParaRPr>
          </a:p>
          <a:p>
            <a:r>
              <a:rPr lang="en-IN" sz="2400" dirty="0">
                <a:solidFill>
                  <a:schemeClr val="tx2">
                    <a:lumMod val="20000"/>
                    <a:lumOff val="80000"/>
                  </a:schemeClr>
                </a:solidFill>
                <a:latin typeface="Times New Roman" panose="02020603050405020304" pitchFamily="18" charset="0"/>
                <a:cs typeface="Times New Roman" panose="02020603050405020304" pitchFamily="18" charset="0"/>
              </a:rPr>
              <a:t>At least one independent variable significantly affects menstrual pain level. (At least one regression coefficient ≠ 0)</a:t>
            </a:r>
          </a:p>
        </p:txBody>
      </p:sp>
    </p:spTree>
    <p:extLst>
      <p:ext uri="{BB962C8B-B14F-4D97-AF65-F5344CB8AC3E}">
        <p14:creationId xmlns:p14="http://schemas.microsoft.com/office/powerpoint/2010/main" val="11915692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1">
            <a:extLst>
              <a:ext uri="{FF2B5EF4-FFF2-40B4-BE49-F238E27FC236}">
                <a16:creationId xmlns:a16="http://schemas.microsoft.com/office/drawing/2014/main" id="{0CC6BC7F-887E-C874-0A80-CE4F567C4A9F}"/>
              </a:ext>
            </a:extLst>
          </p:cNvPr>
          <p:cNvSpPr/>
          <p:nvPr/>
        </p:nvSpPr>
        <p:spPr>
          <a:xfrm>
            <a:off x="779045" y="770294"/>
            <a:ext cx="13072310" cy="7182580"/>
          </a:xfrm>
          <a:prstGeom prst="roundRect">
            <a:avLst>
              <a:gd name="adj" fmla="val 2117"/>
            </a:avLst>
          </a:prstGeom>
          <a:solidFill>
            <a:srgbClr val="5F5153"/>
          </a:solidFill>
          <a:ln/>
        </p:spPr>
        <p:txBody>
          <a:bodyPr/>
          <a:lstStyle/>
          <a:p>
            <a:pPr algn="ctr"/>
            <a:r>
              <a:rPr lang="en-US" sz="2400" dirty="0">
                <a:solidFill>
                  <a:schemeClr val="bg2"/>
                </a:solidFill>
                <a:latin typeface="Times New Roman" panose="02020603050405020304" pitchFamily="18" charset="0"/>
                <a:cs typeface="Times New Roman" panose="02020603050405020304" pitchFamily="18" charset="0"/>
              </a:rPr>
              <a:t>Data collection</a:t>
            </a:r>
          </a:p>
          <a:p>
            <a:pPr algn="ctr"/>
            <a:r>
              <a:rPr lang="en-US" sz="2400" dirty="0">
                <a:solidFill>
                  <a:schemeClr val="bg2"/>
                </a:solidFill>
                <a:latin typeface="Times New Roman" panose="02020603050405020304" pitchFamily="18" charset="0"/>
                <a:cs typeface="Times New Roman" panose="02020603050405020304" pitchFamily="18" charset="0"/>
              </a:rPr>
              <a:t>  ↓</a:t>
            </a:r>
          </a:p>
          <a:p>
            <a:pPr algn="ctr"/>
            <a:r>
              <a:rPr lang="en-US" sz="2400" dirty="0">
                <a:solidFill>
                  <a:schemeClr val="bg2"/>
                </a:solidFill>
                <a:latin typeface="Times New Roman" panose="02020603050405020304" pitchFamily="18" charset="0"/>
                <a:cs typeface="Times New Roman" panose="02020603050405020304" pitchFamily="18" charset="0"/>
              </a:rPr>
              <a:t>Data Preparation</a:t>
            </a:r>
          </a:p>
          <a:p>
            <a:pPr algn="ctr"/>
            <a:r>
              <a:rPr lang="en-US" sz="2400" dirty="0">
                <a:solidFill>
                  <a:schemeClr val="bg2"/>
                </a:solidFill>
                <a:latin typeface="Times New Roman" panose="02020603050405020304" pitchFamily="18" charset="0"/>
                <a:cs typeface="Times New Roman" panose="02020603050405020304" pitchFamily="18" charset="0"/>
              </a:rPr>
              <a:t>  ↓</a:t>
            </a:r>
          </a:p>
          <a:p>
            <a:pPr algn="ctr"/>
            <a:r>
              <a:rPr lang="en-US" sz="2400" dirty="0">
                <a:solidFill>
                  <a:schemeClr val="bg2"/>
                </a:solidFill>
                <a:latin typeface="Times New Roman" panose="02020603050405020304" pitchFamily="18" charset="0"/>
                <a:cs typeface="Times New Roman" panose="02020603050405020304" pitchFamily="18" charset="0"/>
              </a:rPr>
              <a:t>Multicollinearity Check</a:t>
            </a:r>
          </a:p>
          <a:p>
            <a:pPr algn="ctr"/>
            <a:r>
              <a:rPr lang="en-US" sz="2400" dirty="0">
                <a:solidFill>
                  <a:schemeClr val="bg2"/>
                </a:solidFill>
                <a:latin typeface="Times New Roman" panose="02020603050405020304" pitchFamily="18" charset="0"/>
                <a:cs typeface="Times New Roman" panose="02020603050405020304" pitchFamily="18" charset="0"/>
              </a:rPr>
              <a:t>(VIF, Correlation Matrix)</a:t>
            </a:r>
          </a:p>
          <a:p>
            <a:pPr algn="ctr"/>
            <a:r>
              <a:rPr lang="en-US" sz="2400" dirty="0">
                <a:solidFill>
                  <a:schemeClr val="bg2"/>
                </a:solidFill>
                <a:latin typeface="Times New Roman" panose="02020603050405020304" pitchFamily="18" charset="0"/>
                <a:cs typeface="Times New Roman" panose="02020603050405020304" pitchFamily="18" charset="0"/>
              </a:rPr>
              <a:t>  ↓</a:t>
            </a:r>
          </a:p>
          <a:p>
            <a:pPr algn="ctr"/>
            <a:r>
              <a:rPr lang="en-US" sz="2400" dirty="0">
                <a:solidFill>
                  <a:schemeClr val="bg2"/>
                </a:solidFill>
                <a:latin typeface="Times New Roman" panose="02020603050405020304" pitchFamily="18" charset="0"/>
                <a:cs typeface="Times New Roman" panose="02020603050405020304" pitchFamily="18" charset="0"/>
              </a:rPr>
              <a:t>Hierarchical Linear Model (HLM)</a:t>
            </a:r>
          </a:p>
          <a:p>
            <a:pPr algn="ctr"/>
            <a:r>
              <a:rPr lang="en-US" sz="2400" dirty="0">
                <a:solidFill>
                  <a:schemeClr val="bg2"/>
                </a:solidFill>
                <a:latin typeface="Times New Roman" panose="02020603050405020304" pitchFamily="18" charset="0"/>
                <a:cs typeface="Times New Roman" panose="02020603050405020304" pitchFamily="18" charset="0"/>
              </a:rPr>
              <a:t>(Multi-level Modeling: User &amp; Cycle Level)</a:t>
            </a:r>
          </a:p>
          <a:p>
            <a:pPr algn="ctr"/>
            <a:r>
              <a:rPr lang="en-US" sz="2400" dirty="0">
                <a:solidFill>
                  <a:schemeClr val="bg2"/>
                </a:solidFill>
                <a:latin typeface="Times New Roman" panose="02020603050405020304" pitchFamily="18" charset="0"/>
                <a:cs typeface="Times New Roman" panose="02020603050405020304" pitchFamily="18" charset="0"/>
              </a:rPr>
              <a:t>  ↓</a:t>
            </a:r>
          </a:p>
          <a:p>
            <a:pPr algn="ctr"/>
            <a:r>
              <a:rPr lang="en-US" sz="2400" dirty="0">
                <a:solidFill>
                  <a:schemeClr val="bg2"/>
                </a:solidFill>
                <a:latin typeface="Times New Roman" panose="02020603050405020304" pitchFamily="18" charset="0"/>
                <a:cs typeface="Times New Roman" panose="02020603050405020304" pitchFamily="18" charset="0"/>
              </a:rPr>
              <a:t>Diagnostic Check</a:t>
            </a:r>
          </a:p>
          <a:p>
            <a:pPr algn="ctr"/>
            <a:r>
              <a:rPr lang="en-US" sz="2400" dirty="0">
                <a:solidFill>
                  <a:schemeClr val="bg2"/>
                </a:solidFill>
                <a:latin typeface="Times New Roman" panose="02020603050405020304" pitchFamily="18" charset="0"/>
                <a:cs typeface="Times New Roman" panose="02020603050405020304" pitchFamily="18" charset="0"/>
              </a:rPr>
              <a:t>(Residual Analysis, Normality, Homoscedasticity)</a:t>
            </a:r>
          </a:p>
          <a:p>
            <a:pPr algn="ctr"/>
            <a:r>
              <a:rPr lang="en-US" sz="2400" dirty="0">
                <a:solidFill>
                  <a:schemeClr val="bg2"/>
                </a:solidFill>
                <a:latin typeface="Times New Roman" panose="02020603050405020304" pitchFamily="18" charset="0"/>
                <a:cs typeface="Times New Roman" panose="02020603050405020304" pitchFamily="18" charset="0"/>
              </a:rPr>
              <a:t>  ↓</a:t>
            </a:r>
          </a:p>
          <a:p>
            <a:pPr algn="ctr"/>
            <a:r>
              <a:rPr lang="en-US" sz="2400" dirty="0">
                <a:solidFill>
                  <a:schemeClr val="bg2"/>
                </a:solidFill>
                <a:latin typeface="Times New Roman" panose="02020603050405020304" pitchFamily="18" charset="0"/>
                <a:cs typeface="Times New Roman" panose="02020603050405020304" pitchFamily="18" charset="0"/>
              </a:rPr>
              <a:t>LASSO Regression with K-Fold Cross Validation</a:t>
            </a:r>
          </a:p>
          <a:p>
            <a:pPr algn="ctr"/>
            <a:r>
              <a:rPr lang="en-US" sz="2400" dirty="0">
                <a:solidFill>
                  <a:schemeClr val="bg2"/>
                </a:solidFill>
                <a:latin typeface="Times New Roman" panose="02020603050405020304" pitchFamily="18" charset="0"/>
                <a:cs typeface="Times New Roman" panose="02020603050405020304" pitchFamily="18" charset="0"/>
              </a:rPr>
              <a:t>(Model Selection &amp; Regularization)</a:t>
            </a:r>
          </a:p>
          <a:p>
            <a:pPr algn="ctr"/>
            <a:r>
              <a:rPr lang="en-US" sz="2400" dirty="0">
                <a:solidFill>
                  <a:schemeClr val="bg2"/>
                </a:solidFill>
                <a:latin typeface="Times New Roman" panose="02020603050405020304" pitchFamily="18" charset="0"/>
                <a:cs typeface="Times New Roman" panose="02020603050405020304" pitchFamily="18" charset="0"/>
              </a:rPr>
              <a:t>  ↓</a:t>
            </a:r>
          </a:p>
          <a:p>
            <a:pPr algn="ctr"/>
            <a:r>
              <a:rPr lang="en-US" sz="2400" dirty="0">
                <a:solidFill>
                  <a:schemeClr val="bg2"/>
                </a:solidFill>
                <a:latin typeface="Times New Roman" panose="02020603050405020304" pitchFamily="18" charset="0"/>
                <a:cs typeface="Times New Roman" panose="02020603050405020304" pitchFamily="18" charset="0"/>
              </a:rPr>
              <a:t>Final Model Interpretation &amp; Results</a:t>
            </a:r>
          </a:p>
          <a:p>
            <a:pPr algn="ctr"/>
            <a:r>
              <a:rPr lang="en-US" sz="2400" dirty="0">
                <a:solidFill>
                  <a:schemeClr val="bg2"/>
                </a:solidFill>
                <a:latin typeface="Times New Roman" panose="02020603050405020304" pitchFamily="18" charset="0"/>
                <a:cs typeface="Times New Roman" panose="02020603050405020304" pitchFamily="18" charset="0"/>
              </a:rPr>
              <a:t>  ↓</a:t>
            </a:r>
          </a:p>
          <a:p>
            <a:pPr algn="ctr"/>
            <a:r>
              <a:rPr lang="en-US" sz="2400" dirty="0">
                <a:solidFill>
                  <a:schemeClr val="bg2"/>
                </a:solidFill>
                <a:latin typeface="Times New Roman" panose="02020603050405020304" pitchFamily="18" charset="0"/>
                <a:cs typeface="Times New Roman" panose="02020603050405020304" pitchFamily="18" charset="0"/>
              </a:rPr>
              <a:t>Conclusion</a:t>
            </a:r>
          </a:p>
        </p:txBody>
      </p:sp>
      <p:sp>
        <p:nvSpPr>
          <p:cNvPr id="6" name="TextBox 5">
            <a:extLst>
              <a:ext uri="{FF2B5EF4-FFF2-40B4-BE49-F238E27FC236}">
                <a16:creationId xmlns:a16="http://schemas.microsoft.com/office/drawing/2014/main" id="{5E69CD1C-9B3B-F211-269C-F48123AFBD00}"/>
              </a:ext>
            </a:extLst>
          </p:cNvPr>
          <p:cNvSpPr txBox="1"/>
          <p:nvPr/>
        </p:nvSpPr>
        <p:spPr>
          <a:xfrm>
            <a:off x="3994484" y="99900"/>
            <a:ext cx="7844589" cy="646331"/>
          </a:xfrm>
          <a:prstGeom prst="rect">
            <a:avLst/>
          </a:prstGeom>
          <a:noFill/>
        </p:spPr>
        <p:txBody>
          <a:bodyPr wrap="square">
            <a:spAutoFit/>
          </a:bodyPr>
          <a:lstStyle/>
          <a:p>
            <a:r>
              <a:rPr lang="en-US" sz="3600" b="1" u="sng" dirty="0">
                <a:solidFill>
                  <a:schemeClr val="bg2"/>
                </a:solidFill>
                <a:latin typeface="Algerian" panose="04020705040A02060702" pitchFamily="82" charset="0"/>
              </a:rPr>
              <a:t>RESEARCH METHODOLOGY </a:t>
            </a:r>
          </a:p>
        </p:txBody>
      </p:sp>
    </p:spTree>
    <p:extLst>
      <p:ext uri="{BB962C8B-B14F-4D97-AF65-F5344CB8AC3E}">
        <p14:creationId xmlns:p14="http://schemas.microsoft.com/office/powerpoint/2010/main" val="338035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A1F88DB-B6F1-8BA2-2C8C-C38AED70E937}"/>
              </a:ext>
            </a:extLst>
          </p:cNvPr>
          <p:cNvSpPr txBox="1"/>
          <p:nvPr/>
        </p:nvSpPr>
        <p:spPr>
          <a:xfrm>
            <a:off x="4367463" y="573323"/>
            <a:ext cx="7315200" cy="646331"/>
          </a:xfrm>
          <a:prstGeom prst="rect">
            <a:avLst/>
          </a:prstGeom>
          <a:noFill/>
        </p:spPr>
        <p:txBody>
          <a:bodyPr wrap="square">
            <a:spAutoFit/>
          </a:bodyPr>
          <a:lstStyle/>
          <a:p>
            <a:r>
              <a:rPr lang="en-US" sz="3600" b="1" u="sng" dirty="0">
                <a:solidFill>
                  <a:schemeClr val="bg2"/>
                </a:solidFill>
                <a:latin typeface="Algerian" panose="04020705040A02060702" pitchFamily="82" charset="0"/>
              </a:rPr>
              <a:t>Multicollinearity </a:t>
            </a:r>
          </a:p>
        </p:txBody>
      </p:sp>
      <p:sp>
        <p:nvSpPr>
          <p:cNvPr id="6" name="Shape 1">
            <a:extLst>
              <a:ext uri="{FF2B5EF4-FFF2-40B4-BE49-F238E27FC236}">
                <a16:creationId xmlns:a16="http://schemas.microsoft.com/office/drawing/2014/main" id="{858C281E-A00F-4DAF-2474-89B217C4AC55}"/>
              </a:ext>
            </a:extLst>
          </p:cNvPr>
          <p:cNvSpPr/>
          <p:nvPr/>
        </p:nvSpPr>
        <p:spPr>
          <a:xfrm>
            <a:off x="1642310" y="1925053"/>
            <a:ext cx="11345779" cy="4848726"/>
          </a:xfrm>
          <a:prstGeom prst="roundRect">
            <a:avLst>
              <a:gd name="adj" fmla="val 2117"/>
            </a:avLst>
          </a:prstGeom>
          <a:solidFill>
            <a:srgbClr val="5F5153"/>
          </a:solidFill>
          <a:ln/>
        </p:spPr>
        <p:txBody>
          <a:bodyPr/>
          <a:lstStyle/>
          <a:p>
            <a:pPr>
              <a:buNone/>
            </a:pPr>
            <a:endParaRPr lang="en-US" sz="2400" dirty="0">
              <a:solidFill>
                <a:schemeClr val="tx2">
                  <a:lumMod val="20000"/>
                  <a:lumOff val="80000"/>
                </a:schemeClr>
              </a:solidFill>
              <a:latin typeface="Times New Roman" panose="02020603050405020304" pitchFamily="18" charset="0"/>
              <a:cs typeface="Times New Roman" panose="02020603050405020304" pitchFamily="18" charset="0"/>
            </a:endParaRPr>
          </a:p>
          <a:p>
            <a:pPr>
              <a:buNone/>
            </a:pPr>
            <a:r>
              <a:rPr lang="en-US" sz="2400" dirty="0">
                <a:solidFill>
                  <a:schemeClr val="tx2">
                    <a:lumMod val="20000"/>
                    <a:lumOff val="80000"/>
                  </a:schemeClr>
                </a:solidFill>
                <a:latin typeface="Times New Roman" panose="02020603050405020304" pitchFamily="18" charset="0"/>
                <a:cs typeface="Times New Roman" panose="02020603050405020304" pitchFamily="18" charset="0"/>
              </a:rPr>
              <a:t>Multicollinearity refers to a situation in regression analysis where two or more independent variables are highly correlated with each other. This means they contain similar information about the variance in the dependent variable.</a:t>
            </a:r>
          </a:p>
          <a:p>
            <a:pPr>
              <a:buNone/>
            </a:pPr>
            <a:endParaRPr lang="en-US" sz="2400" dirty="0">
              <a:solidFill>
                <a:schemeClr val="tx2">
                  <a:lumMod val="20000"/>
                  <a:lumOff val="80000"/>
                </a:schemeClr>
              </a:solidFill>
              <a:latin typeface="Times New Roman" panose="02020603050405020304" pitchFamily="18" charset="0"/>
              <a:cs typeface="Times New Roman" panose="02020603050405020304" pitchFamily="18" charset="0"/>
            </a:endParaRPr>
          </a:p>
          <a:p>
            <a:pPr>
              <a:buNone/>
            </a:pPr>
            <a:r>
              <a:rPr lang="en-US" sz="2400" dirty="0">
                <a:solidFill>
                  <a:schemeClr val="tx2">
                    <a:lumMod val="20000"/>
                    <a:lumOff val="80000"/>
                  </a:schemeClr>
                </a:solidFill>
                <a:latin typeface="Times New Roman" panose="02020603050405020304" pitchFamily="18" charset="0"/>
                <a:cs typeface="Times New Roman" panose="02020603050405020304" pitchFamily="18" charset="0"/>
              </a:rPr>
              <a:t>A multicollinearity check is the process of detecting this issue using tools like:</a:t>
            </a:r>
          </a:p>
          <a:p>
            <a:pPr>
              <a:buFont typeface="Arial" panose="020B0604020202020204" pitchFamily="34" charset="0"/>
              <a:buChar char="•"/>
            </a:pPr>
            <a:r>
              <a:rPr lang="en-US" sz="2400" dirty="0">
                <a:solidFill>
                  <a:schemeClr val="tx2">
                    <a:lumMod val="20000"/>
                    <a:lumOff val="80000"/>
                  </a:schemeClr>
                </a:solidFill>
                <a:latin typeface="Times New Roman" panose="02020603050405020304" pitchFamily="18" charset="0"/>
                <a:cs typeface="Times New Roman" panose="02020603050405020304" pitchFamily="18" charset="0"/>
              </a:rPr>
              <a:t>Correlation Matrix </a:t>
            </a:r>
          </a:p>
          <a:p>
            <a:pPr>
              <a:buFont typeface="Arial" panose="020B0604020202020204" pitchFamily="34" charset="0"/>
              <a:buChar char="•"/>
            </a:pPr>
            <a:r>
              <a:rPr lang="en-US" sz="2400" dirty="0">
                <a:solidFill>
                  <a:schemeClr val="tx2">
                    <a:lumMod val="20000"/>
                    <a:lumOff val="80000"/>
                  </a:schemeClr>
                </a:solidFill>
                <a:latin typeface="Times New Roman" panose="02020603050405020304" pitchFamily="18" charset="0"/>
                <a:cs typeface="Times New Roman" panose="02020603050405020304" pitchFamily="18" charset="0"/>
              </a:rPr>
              <a:t>Eigen System Analysis</a:t>
            </a:r>
          </a:p>
          <a:p>
            <a:pPr>
              <a:buFont typeface="Arial" panose="020B0604020202020204" pitchFamily="34" charset="0"/>
              <a:buChar char="•"/>
            </a:pPr>
            <a:r>
              <a:rPr lang="en-US" sz="2400" dirty="0">
                <a:solidFill>
                  <a:schemeClr val="tx2">
                    <a:lumMod val="20000"/>
                    <a:lumOff val="80000"/>
                  </a:schemeClr>
                </a:solidFill>
                <a:latin typeface="Times New Roman" panose="02020603050405020304" pitchFamily="18" charset="0"/>
                <a:cs typeface="Times New Roman" panose="02020603050405020304" pitchFamily="18" charset="0"/>
              </a:rPr>
              <a:t>Variance Inflation Factor (VIF)</a:t>
            </a:r>
          </a:p>
        </p:txBody>
      </p:sp>
    </p:spTree>
    <p:extLst>
      <p:ext uri="{BB962C8B-B14F-4D97-AF65-F5344CB8AC3E}">
        <p14:creationId xmlns:p14="http://schemas.microsoft.com/office/powerpoint/2010/main" val="1314738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4" name="TextBox 3">
            <a:extLst>
              <a:ext uri="{FF2B5EF4-FFF2-40B4-BE49-F238E27FC236}">
                <a16:creationId xmlns:a16="http://schemas.microsoft.com/office/drawing/2014/main" id="{D70B7CB6-13A1-28A3-4C50-80C0C322B18F}"/>
              </a:ext>
            </a:extLst>
          </p:cNvPr>
          <p:cNvSpPr txBox="1"/>
          <p:nvPr/>
        </p:nvSpPr>
        <p:spPr>
          <a:xfrm>
            <a:off x="195210" y="383458"/>
            <a:ext cx="6269170" cy="1460528"/>
          </a:xfrm>
          <a:prstGeom prst="rect">
            <a:avLst/>
          </a:prstGeom>
          <a:noFill/>
        </p:spPr>
        <p:txBody>
          <a:bodyPr wrap="square">
            <a:spAutoFit/>
          </a:bodyPr>
          <a:lstStyle/>
          <a:p>
            <a:pPr>
              <a:lnSpc>
                <a:spcPts val="5550"/>
              </a:lnSpc>
            </a:pPr>
            <a:r>
              <a:rPr lang="en-US" sz="3200" b="1" dirty="0">
                <a:solidFill>
                  <a:srgbClr val="FFF8F5"/>
                </a:solidFill>
                <a:latin typeface="Algerian" panose="04020705040A02060702" pitchFamily="82" charset="0"/>
                <a:ea typeface="Noto Serif HK Bold" pitchFamily="34" charset="-122"/>
              </a:rPr>
              <a:t>CORRELATION HEATMAP</a:t>
            </a:r>
            <a:endParaRPr lang="en-US" sz="3200" b="1" dirty="0">
              <a:latin typeface="Algerian" panose="04020705040A02060702" pitchFamily="82" charset="0"/>
            </a:endParaRPr>
          </a:p>
          <a:p>
            <a:pPr>
              <a:lnSpc>
                <a:spcPts val="5550"/>
              </a:lnSpc>
            </a:pPr>
            <a:endParaRPr lang="en-US" sz="3600" b="1" u="sng" dirty="0">
              <a:solidFill>
                <a:srgbClr val="FFF8F5"/>
              </a:solidFill>
              <a:latin typeface="Algerian" panose="04020705040A02060702" pitchFamily="82" charset="0"/>
              <a:ea typeface="Noto Serif HK Bold" pitchFamily="34" charset="-122"/>
            </a:endParaRPr>
          </a:p>
        </p:txBody>
      </p:sp>
      <p:pic>
        <p:nvPicPr>
          <p:cNvPr id="2050" name="Picture 2">
            <a:extLst>
              <a:ext uri="{FF2B5EF4-FFF2-40B4-BE49-F238E27FC236}">
                <a16:creationId xmlns:a16="http://schemas.microsoft.com/office/drawing/2014/main" id="{A2EDAA7B-FF12-849F-85CB-5806D24040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3110" y="565079"/>
            <a:ext cx="8815227" cy="718163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B0206CF5-E61E-5727-BA36-1A738DCF5386}"/>
              </a:ext>
            </a:extLst>
          </p:cNvPr>
          <p:cNvSpPr>
            <a:spLocks noChangeArrowheads="1"/>
          </p:cNvSpPr>
          <p:nvPr/>
        </p:nvSpPr>
        <p:spPr bwMode="auto">
          <a:xfrm>
            <a:off x="404492" y="3898123"/>
            <a:ext cx="4749337"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bg2"/>
                </a:solidFill>
                <a:effectLst/>
                <a:latin typeface="Times New Roman" panose="02020603050405020304" pitchFamily="18" charset="0"/>
                <a:cs typeface="Times New Roman" panose="02020603050405020304" pitchFamily="18" charset="0"/>
              </a:rPr>
              <a:t>  </a:t>
            </a:r>
          </a:p>
        </p:txBody>
      </p:sp>
      <p:sp>
        <p:nvSpPr>
          <p:cNvPr id="3" name="Shape 1">
            <a:extLst>
              <a:ext uri="{FF2B5EF4-FFF2-40B4-BE49-F238E27FC236}">
                <a16:creationId xmlns:a16="http://schemas.microsoft.com/office/drawing/2014/main" id="{EDBD0D36-773C-0AA5-FBAC-2B5B2673B2A3}"/>
              </a:ext>
            </a:extLst>
          </p:cNvPr>
          <p:cNvSpPr/>
          <p:nvPr/>
        </p:nvSpPr>
        <p:spPr>
          <a:xfrm>
            <a:off x="298376" y="1682833"/>
            <a:ext cx="4870085" cy="5403767"/>
          </a:xfrm>
          <a:prstGeom prst="roundRect">
            <a:avLst>
              <a:gd name="adj" fmla="val 2117"/>
            </a:avLst>
          </a:prstGeom>
          <a:solidFill>
            <a:srgbClr val="5F5153"/>
          </a:solidFill>
          <a:ln/>
        </p:spPr>
        <p:txBody>
          <a:bodyPr/>
          <a:lstStyle/>
          <a:p>
            <a:pPr lvl="0" eaLnBrk="0" fontAlgn="base" hangingPunct="0">
              <a:spcBef>
                <a:spcPct val="0"/>
              </a:spcBef>
              <a:spcAft>
                <a:spcPct val="0"/>
              </a:spcAft>
              <a:buFontTx/>
              <a:buChar char="•"/>
            </a:pPr>
            <a:r>
              <a:rPr lang="en-US" altLang="en-US" sz="2400" dirty="0">
                <a:solidFill>
                  <a:schemeClr val="bg2"/>
                </a:solidFill>
                <a:latin typeface="Times New Roman" panose="02020603050405020304" pitchFamily="18" charset="0"/>
                <a:cs typeface="Times New Roman" panose="02020603050405020304" pitchFamily="18" charset="0"/>
              </a:rPr>
              <a:t>The correlation matrix shows that pain and stress negatively impact overall health, energy, concentration, and productivity. </a:t>
            </a:r>
          </a:p>
          <a:p>
            <a:pPr lvl="0" eaLnBrk="0" fontAlgn="base" hangingPunct="0">
              <a:spcBef>
                <a:spcPct val="0"/>
              </a:spcBef>
              <a:spcAft>
                <a:spcPct val="0"/>
              </a:spcAft>
            </a:pPr>
            <a:endParaRPr lang="en-US" altLang="en-US" sz="2400" dirty="0">
              <a:solidFill>
                <a:schemeClr val="bg2"/>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400" dirty="0">
                <a:solidFill>
                  <a:schemeClr val="bg2"/>
                </a:solidFill>
                <a:latin typeface="Times New Roman" panose="02020603050405020304" pitchFamily="18" charset="0"/>
                <a:cs typeface="Times New Roman" panose="02020603050405020304" pitchFamily="18" charset="0"/>
              </a:rPr>
              <a:t> Positive factors such as higher energy, better concentration, and good mood are strongly associated with better health outcomes. </a:t>
            </a:r>
          </a:p>
          <a:p>
            <a:pPr lvl="0" eaLnBrk="0" fontAlgn="base" hangingPunct="0">
              <a:spcBef>
                <a:spcPct val="0"/>
              </a:spcBef>
              <a:spcAft>
                <a:spcPct val="0"/>
              </a:spcAft>
              <a:buFontTx/>
              <a:buChar char="•"/>
            </a:pPr>
            <a:endParaRPr lang="en-US" altLang="en-US" sz="2400" dirty="0">
              <a:solidFill>
                <a:schemeClr val="bg2"/>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400" dirty="0">
                <a:solidFill>
                  <a:schemeClr val="bg2"/>
                </a:solidFill>
                <a:latin typeface="Times New Roman" panose="02020603050405020304" pitchFamily="18" charset="0"/>
                <a:cs typeface="Times New Roman" panose="02020603050405020304" pitchFamily="18" charset="0"/>
              </a:rPr>
              <a:t> Overall, well-being is mainly driven by symptom severity and mental state, while lifestyle factors show weaker direct effects</a:t>
            </a:r>
            <a:r>
              <a:rPr lang="en-US" altLang="en-US" sz="2000" dirty="0">
                <a:solidFill>
                  <a:schemeClr val="bg2"/>
                </a:solidFill>
                <a:latin typeface="Times New Roman" panose="02020603050405020304" pitchFamily="18" charset="0"/>
                <a:cs typeface="Times New Roman" panose="02020603050405020304" pitchFamily="18" charset="0"/>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4" name="TextBox 3">
            <a:extLst>
              <a:ext uri="{FF2B5EF4-FFF2-40B4-BE49-F238E27FC236}">
                <a16:creationId xmlns:a16="http://schemas.microsoft.com/office/drawing/2014/main" id="{6E4FE611-3388-186C-EC24-084335C82988}"/>
              </a:ext>
            </a:extLst>
          </p:cNvPr>
          <p:cNvSpPr txBox="1"/>
          <p:nvPr/>
        </p:nvSpPr>
        <p:spPr>
          <a:xfrm>
            <a:off x="421241" y="411819"/>
            <a:ext cx="7315200" cy="742383"/>
          </a:xfrm>
          <a:prstGeom prst="rect">
            <a:avLst/>
          </a:prstGeom>
          <a:noFill/>
        </p:spPr>
        <p:txBody>
          <a:bodyPr wrap="square">
            <a:spAutoFit/>
          </a:bodyPr>
          <a:lstStyle/>
          <a:p>
            <a:pPr>
              <a:lnSpc>
                <a:spcPts val="5550"/>
              </a:lnSpc>
            </a:pPr>
            <a:r>
              <a:rPr lang="en-US" sz="1800" b="1" dirty="0">
                <a:solidFill>
                  <a:srgbClr val="FFF8F5"/>
                </a:solidFill>
                <a:latin typeface="Algerian" panose="04020705040A02060702" pitchFamily="82" charset="0"/>
                <a:ea typeface="Noto Serif HK Bold" pitchFamily="34" charset="-122"/>
              </a:rPr>
              <a:t> </a:t>
            </a:r>
            <a:r>
              <a:rPr lang="en-US" sz="3600" b="1" u="sng" dirty="0">
                <a:solidFill>
                  <a:srgbClr val="FFF8F5"/>
                </a:solidFill>
                <a:latin typeface="Algerian" panose="04020705040A02060702" pitchFamily="82" charset="0"/>
                <a:ea typeface="Noto Serif HK Bold" pitchFamily="34" charset="-122"/>
              </a:rPr>
              <a:t>EIGEN SYSTEM ANALYSIS</a:t>
            </a:r>
            <a:endParaRPr lang="en-US" sz="3600" b="1" u="sng" dirty="0">
              <a:latin typeface="Algerian" panose="04020705040A02060702" pitchFamily="82" charset="0"/>
            </a:endParaRPr>
          </a:p>
        </p:txBody>
      </p:sp>
      <p:sp>
        <p:nvSpPr>
          <p:cNvPr id="8" name="Rectangle 1">
            <a:extLst>
              <a:ext uri="{FF2B5EF4-FFF2-40B4-BE49-F238E27FC236}">
                <a16:creationId xmlns:a16="http://schemas.microsoft.com/office/drawing/2014/main" id="{C7A44772-00EA-657B-48CB-ADB18BD74A31}"/>
              </a:ext>
            </a:extLst>
          </p:cNvPr>
          <p:cNvSpPr>
            <a:spLocks noChangeArrowheads="1"/>
          </p:cNvSpPr>
          <p:nvPr/>
        </p:nvSpPr>
        <p:spPr bwMode="auto">
          <a:xfrm>
            <a:off x="421241" y="3037020"/>
            <a:ext cx="617476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Shape 1">
            <a:extLst>
              <a:ext uri="{FF2B5EF4-FFF2-40B4-BE49-F238E27FC236}">
                <a16:creationId xmlns:a16="http://schemas.microsoft.com/office/drawing/2014/main" id="{2464FB24-8E74-DB55-5016-F19E75AC1C81}"/>
              </a:ext>
            </a:extLst>
          </p:cNvPr>
          <p:cNvSpPr/>
          <p:nvPr/>
        </p:nvSpPr>
        <p:spPr>
          <a:xfrm>
            <a:off x="587340" y="1832828"/>
            <a:ext cx="6174769" cy="5426844"/>
          </a:xfrm>
          <a:prstGeom prst="roundRect">
            <a:avLst>
              <a:gd name="adj" fmla="val 2117"/>
            </a:avLst>
          </a:prstGeom>
          <a:solidFill>
            <a:srgbClr val="5F5153"/>
          </a:solidFill>
          <a:ln/>
        </p:spPr>
        <p:txBody>
          <a:bodyPr/>
          <a:lstStyle/>
          <a:p>
            <a:pPr lvl="0" eaLnBrk="0" fontAlgn="base" hangingPunct="0">
              <a:spcBef>
                <a:spcPct val="0"/>
              </a:spcBef>
              <a:spcAft>
                <a:spcPct val="0"/>
              </a:spcAft>
              <a:buFontTx/>
              <a:buChar char="•"/>
            </a:pPr>
            <a:r>
              <a:rPr lang="en-US" altLang="en-US" sz="2400" dirty="0">
                <a:solidFill>
                  <a:schemeClr val="bg2"/>
                </a:solidFill>
                <a:latin typeface="Times New Roman" panose="02020603050405020304" pitchFamily="18" charset="0"/>
                <a:cs typeface="Times New Roman" panose="02020603050405020304" pitchFamily="18" charset="0"/>
              </a:rPr>
              <a:t>The condition number (67.27) indicates moderate to high multicollinearity, but it is NOT severe. </a:t>
            </a:r>
          </a:p>
          <a:p>
            <a:pPr lvl="0" eaLnBrk="0" fontAlgn="base" hangingPunct="0">
              <a:spcBef>
                <a:spcPct val="0"/>
              </a:spcBef>
              <a:spcAft>
                <a:spcPct val="0"/>
              </a:spcAft>
              <a:buFontTx/>
              <a:buChar char="•"/>
            </a:pPr>
            <a:r>
              <a:rPr lang="en-US" altLang="en-US" sz="2400" dirty="0">
                <a:solidFill>
                  <a:schemeClr val="bg2"/>
                </a:solidFill>
                <a:latin typeface="Times New Roman" panose="02020603050405020304" pitchFamily="18" charset="0"/>
                <a:cs typeface="Times New Roman" panose="02020603050405020304" pitchFamily="18" charset="0"/>
              </a:rPr>
              <a:t>No extremely small eigenvalues (≈ 0), so no perfect multicollinearity. </a:t>
            </a:r>
          </a:p>
          <a:p>
            <a:pPr lvl="0" eaLnBrk="0" fontAlgn="base" hangingPunct="0">
              <a:spcBef>
                <a:spcPct val="0"/>
              </a:spcBef>
              <a:spcAft>
                <a:spcPct val="0"/>
              </a:spcAft>
              <a:buFontTx/>
              <a:buChar char="•"/>
            </a:pPr>
            <a:r>
              <a:rPr lang="en-US" altLang="en-US" sz="2400" dirty="0">
                <a:solidFill>
                  <a:schemeClr val="bg2"/>
                </a:solidFill>
                <a:latin typeface="Times New Roman" panose="02020603050405020304" pitchFamily="18" charset="0"/>
                <a:cs typeface="Times New Roman" panose="02020603050405020304" pitchFamily="18" charset="0"/>
              </a:rPr>
              <a:t>Condition indices are mostly below 10, indicating: </a:t>
            </a:r>
          </a:p>
          <a:p>
            <a:pPr lvl="0" eaLnBrk="0" fontAlgn="base" hangingPunct="0">
              <a:spcBef>
                <a:spcPct val="0"/>
              </a:spcBef>
              <a:spcAft>
                <a:spcPct val="0"/>
              </a:spcAft>
              <a:buFontTx/>
              <a:buChar char="•"/>
            </a:pPr>
            <a:r>
              <a:rPr lang="en-US" altLang="en-US" sz="2400" dirty="0">
                <a:solidFill>
                  <a:schemeClr val="bg2"/>
                </a:solidFill>
                <a:latin typeface="Times New Roman" panose="02020603050405020304" pitchFamily="18" charset="0"/>
                <a:cs typeface="Times New Roman" panose="02020603050405020304" pitchFamily="18" charset="0"/>
              </a:rPr>
              <a:t>No critical instability </a:t>
            </a:r>
          </a:p>
          <a:p>
            <a:pPr eaLnBrk="0" fontAlgn="base" hangingPunct="0">
              <a:spcBef>
                <a:spcPct val="0"/>
              </a:spcBef>
              <a:spcAft>
                <a:spcPct val="0"/>
              </a:spcAft>
              <a:buFontTx/>
              <a:buChar char="•"/>
            </a:pPr>
            <a:r>
              <a:rPr lang="en-US" altLang="en-US" sz="2400" dirty="0">
                <a:solidFill>
                  <a:schemeClr val="bg2"/>
                </a:solidFill>
                <a:latin typeface="Times New Roman" panose="02020603050405020304" pitchFamily="18" charset="0"/>
                <a:cs typeface="Times New Roman" panose="02020603050405020304" pitchFamily="18" charset="0"/>
              </a:rPr>
              <a:t>Only mild linear dependencies </a:t>
            </a:r>
          </a:p>
          <a:p>
            <a:pPr eaLnBrk="0" fontAlgn="base" hangingPunct="0">
              <a:spcBef>
                <a:spcPct val="0"/>
              </a:spcBef>
              <a:spcAft>
                <a:spcPct val="0"/>
              </a:spcAft>
            </a:pPr>
            <a:endParaRPr lang="en-US" sz="2400" dirty="0">
              <a:solidFill>
                <a:schemeClr val="bg2"/>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US" sz="2400" dirty="0">
              <a:solidFill>
                <a:schemeClr val="bg2"/>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sz="2400" dirty="0">
                <a:solidFill>
                  <a:schemeClr val="bg2"/>
                </a:solidFill>
                <a:latin typeface="Times New Roman" panose="02020603050405020304" pitchFamily="18" charset="0"/>
                <a:cs typeface="Times New Roman" panose="02020603050405020304" pitchFamily="18" charset="0"/>
              </a:rPr>
              <a:t>The eigen system analysis indicates moderate multicollinearity, but the model remains stable and suitable for interpretation.</a:t>
            </a:r>
            <a:endParaRPr lang="en-IN" sz="2400" dirty="0">
              <a:solidFill>
                <a:schemeClr val="bg2"/>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endParaRPr lang="en-US" altLang="en-US" sz="2400" dirty="0">
              <a:solidFill>
                <a:schemeClr val="bg2"/>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altLang="en-US" sz="2400" dirty="0">
              <a:solidFill>
                <a:schemeClr val="bg2"/>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AA28386E-FC19-AC83-74F6-158376512DEA}"/>
              </a:ext>
            </a:extLst>
          </p:cNvPr>
          <p:cNvGraphicFramePr>
            <a:graphicFrameLocks noGrp="1"/>
          </p:cNvGraphicFramePr>
          <p:nvPr>
            <p:extLst>
              <p:ext uri="{D42A27DB-BD31-4B8C-83A1-F6EECF244321}">
                <p14:modId xmlns:p14="http://schemas.microsoft.com/office/powerpoint/2010/main" val="3992777818"/>
              </p:ext>
            </p:extLst>
          </p:nvPr>
        </p:nvGraphicFramePr>
        <p:xfrm>
          <a:off x="7315199" y="1287379"/>
          <a:ext cx="6893958" cy="6160169"/>
        </p:xfrm>
        <a:graphic>
          <a:graphicData uri="http://schemas.openxmlformats.org/drawingml/2006/table">
            <a:tbl>
              <a:tblPr firstRow="1" bandRow="1">
                <a:tableStyleId>{616DA210-FB5B-4158-B5E0-FEB733F419BA}</a:tableStyleId>
              </a:tblPr>
              <a:tblGrid>
                <a:gridCol w="2297986">
                  <a:extLst>
                    <a:ext uri="{9D8B030D-6E8A-4147-A177-3AD203B41FA5}">
                      <a16:colId xmlns:a16="http://schemas.microsoft.com/office/drawing/2014/main" val="3213821252"/>
                    </a:ext>
                  </a:extLst>
                </a:gridCol>
                <a:gridCol w="2041687">
                  <a:extLst>
                    <a:ext uri="{9D8B030D-6E8A-4147-A177-3AD203B41FA5}">
                      <a16:colId xmlns:a16="http://schemas.microsoft.com/office/drawing/2014/main" val="2180460569"/>
                    </a:ext>
                  </a:extLst>
                </a:gridCol>
                <a:gridCol w="2554285">
                  <a:extLst>
                    <a:ext uri="{9D8B030D-6E8A-4147-A177-3AD203B41FA5}">
                      <a16:colId xmlns:a16="http://schemas.microsoft.com/office/drawing/2014/main" val="1136047888"/>
                    </a:ext>
                  </a:extLst>
                </a:gridCol>
              </a:tblGrid>
              <a:tr h="1221413">
                <a:tc>
                  <a:txBody>
                    <a:bodyPr/>
                    <a:lstStyle/>
                    <a:p>
                      <a:pPr algn="ctr">
                        <a:buNone/>
                      </a:pPr>
                      <a:r>
                        <a:rPr lang="en-IN" sz="2000" b="1" dirty="0">
                          <a:solidFill>
                            <a:schemeClr val="tx2">
                              <a:lumMod val="20000"/>
                              <a:lumOff val="80000"/>
                            </a:schemeClr>
                          </a:solidFill>
                          <a:latin typeface="Times New Roman" panose="02020603050405020304" pitchFamily="18" charset="0"/>
                          <a:cs typeface="Times New Roman" panose="02020603050405020304" pitchFamily="18" charset="0"/>
                        </a:rPr>
                        <a:t>METRIC</a:t>
                      </a:r>
                    </a:p>
                  </a:txBody>
                  <a:tcPr anchor="ctr"/>
                </a:tc>
                <a:tc>
                  <a:txBody>
                    <a:bodyPr/>
                    <a:lstStyle/>
                    <a:p>
                      <a:pPr algn="ctr">
                        <a:buNone/>
                      </a:pPr>
                      <a:r>
                        <a:rPr lang="en-IN" sz="2000" b="1" dirty="0">
                          <a:solidFill>
                            <a:schemeClr val="tx2">
                              <a:lumMod val="20000"/>
                              <a:lumOff val="80000"/>
                            </a:schemeClr>
                          </a:solidFill>
                          <a:latin typeface="Times New Roman" panose="02020603050405020304" pitchFamily="18" charset="0"/>
                          <a:cs typeface="Times New Roman" panose="02020603050405020304" pitchFamily="18" charset="0"/>
                        </a:rPr>
                        <a:t>VALUE</a:t>
                      </a:r>
                    </a:p>
                  </a:txBody>
                  <a:tcPr anchor="ctr"/>
                </a:tc>
                <a:tc>
                  <a:txBody>
                    <a:bodyPr/>
                    <a:lstStyle/>
                    <a:p>
                      <a:pPr algn="ctr">
                        <a:buNone/>
                      </a:pPr>
                      <a:r>
                        <a:rPr lang="en-IN" sz="2000" b="1" dirty="0">
                          <a:solidFill>
                            <a:schemeClr val="tx2">
                              <a:lumMod val="20000"/>
                              <a:lumOff val="80000"/>
                            </a:schemeClr>
                          </a:solidFill>
                          <a:latin typeface="Times New Roman" panose="02020603050405020304" pitchFamily="18" charset="0"/>
                          <a:cs typeface="Times New Roman" panose="02020603050405020304" pitchFamily="18" charset="0"/>
                        </a:rPr>
                        <a:t>INTERPRETATION</a:t>
                      </a:r>
                    </a:p>
                  </a:txBody>
                  <a:tcPr anchor="ctr"/>
                </a:tc>
                <a:extLst>
                  <a:ext uri="{0D108BD9-81ED-4DB2-BD59-A6C34878D82A}">
                    <a16:rowId xmlns:a16="http://schemas.microsoft.com/office/drawing/2014/main" val="3771017079"/>
                  </a:ext>
                </a:extLst>
              </a:tr>
              <a:tr h="1593147">
                <a:tc>
                  <a:txBody>
                    <a:bodyPr/>
                    <a:lstStyle/>
                    <a:p>
                      <a:pPr algn="ctr">
                        <a:buNone/>
                      </a:pPr>
                      <a:r>
                        <a:rPr lang="en-IN" b="1" dirty="0">
                          <a:solidFill>
                            <a:schemeClr val="tx2">
                              <a:lumMod val="20000"/>
                              <a:lumOff val="80000"/>
                            </a:schemeClr>
                          </a:solidFill>
                          <a:latin typeface="Times New Roman" panose="02020603050405020304" pitchFamily="18" charset="0"/>
                          <a:cs typeface="Times New Roman" panose="02020603050405020304" pitchFamily="18" charset="0"/>
                        </a:rPr>
                        <a:t>Minimum Eigenvalue</a:t>
                      </a:r>
                    </a:p>
                  </a:txBody>
                  <a:tcPr anchor="ctr"/>
                </a:tc>
                <a:tc>
                  <a:txBody>
                    <a:bodyPr/>
                    <a:lstStyle/>
                    <a:p>
                      <a:pPr algn="ctr">
                        <a:buNone/>
                      </a:pPr>
                      <a:r>
                        <a:rPr lang="en-IN" b="1" dirty="0">
                          <a:solidFill>
                            <a:schemeClr val="tx2">
                              <a:lumMod val="20000"/>
                              <a:lumOff val="80000"/>
                            </a:schemeClr>
                          </a:solidFill>
                          <a:latin typeface="Times New Roman" panose="02020603050405020304" pitchFamily="18" charset="0"/>
                          <a:cs typeface="Times New Roman" panose="02020603050405020304" pitchFamily="18" charset="0"/>
                        </a:rPr>
                        <a:t>0.075</a:t>
                      </a:r>
                    </a:p>
                  </a:txBody>
                  <a:tcPr anchor="ctr"/>
                </a:tc>
                <a:tc>
                  <a:txBody>
                    <a:bodyPr/>
                    <a:lstStyle/>
                    <a:p>
                      <a:pPr algn="ctr">
                        <a:buNone/>
                      </a:pPr>
                      <a:r>
                        <a:rPr lang="en-US" b="1" dirty="0">
                          <a:solidFill>
                            <a:schemeClr val="tx2">
                              <a:lumMod val="20000"/>
                              <a:lumOff val="80000"/>
                            </a:schemeClr>
                          </a:solidFill>
                          <a:latin typeface="Times New Roman" panose="02020603050405020304" pitchFamily="18" charset="0"/>
                          <a:cs typeface="Times New Roman" panose="02020603050405020304" pitchFamily="18" charset="0"/>
                        </a:rPr>
                        <a:t>Small but not extremely close to 0</a:t>
                      </a:r>
                    </a:p>
                  </a:txBody>
                  <a:tcPr anchor="ctr"/>
                </a:tc>
                <a:extLst>
                  <a:ext uri="{0D108BD9-81ED-4DB2-BD59-A6C34878D82A}">
                    <a16:rowId xmlns:a16="http://schemas.microsoft.com/office/drawing/2014/main" val="2463516437"/>
                  </a:ext>
                </a:extLst>
              </a:tr>
              <a:tr h="1115203">
                <a:tc>
                  <a:txBody>
                    <a:bodyPr/>
                    <a:lstStyle/>
                    <a:p>
                      <a:pPr algn="ctr">
                        <a:buNone/>
                      </a:pPr>
                      <a:r>
                        <a:rPr lang="en-IN" b="1" dirty="0">
                          <a:solidFill>
                            <a:schemeClr val="tx2">
                              <a:lumMod val="20000"/>
                              <a:lumOff val="80000"/>
                            </a:schemeClr>
                          </a:solidFill>
                          <a:latin typeface="Times New Roman" panose="02020603050405020304" pitchFamily="18" charset="0"/>
                          <a:cs typeface="Times New Roman" panose="02020603050405020304" pitchFamily="18" charset="0"/>
                        </a:rPr>
                        <a:t>Maximum Eigenvalue</a:t>
                      </a:r>
                    </a:p>
                  </a:txBody>
                  <a:tcPr anchor="ctr"/>
                </a:tc>
                <a:tc>
                  <a:txBody>
                    <a:bodyPr/>
                    <a:lstStyle/>
                    <a:p>
                      <a:pPr algn="ctr">
                        <a:buNone/>
                      </a:pPr>
                      <a:r>
                        <a:rPr lang="en-IN" b="1" dirty="0">
                          <a:solidFill>
                            <a:schemeClr val="tx2">
                              <a:lumMod val="20000"/>
                              <a:lumOff val="80000"/>
                            </a:schemeClr>
                          </a:solidFill>
                          <a:latin typeface="Times New Roman" panose="02020603050405020304" pitchFamily="18" charset="0"/>
                          <a:cs typeface="Times New Roman" panose="02020603050405020304" pitchFamily="18" charset="0"/>
                        </a:rPr>
                        <a:t>5.077</a:t>
                      </a:r>
                    </a:p>
                  </a:txBody>
                  <a:tcPr anchor="ctr"/>
                </a:tc>
                <a:tc>
                  <a:txBody>
                    <a:bodyPr/>
                    <a:lstStyle/>
                    <a:p>
                      <a:pPr algn="ctr">
                        <a:buNone/>
                      </a:pPr>
                      <a:r>
                        <a:rPr lang="en-IN" b="1" dirty="0">
                          <a:solidFill>
                            <a:schemeClr val="tx2">
                              <a:lumMod val="20000"/>
                              <a:lumOff val="80000"/>
                            </a:schemeClr>
                          </a:solidFill>
                          <a:latin typeface="Times New Roman" panose="02020603050405020304" pitchFamily="18" charset="0"/>
                          <a:cs typeface="Times New Roman" panose="02020603050405020304" pitchFamily="18" charset="0"/>
                        </a:rPr>
                        <a:t>Moderate spread</a:t>
                      </a:r>
                    </a:p>
                  </a:txBody>
                  <a:tcPr anchor="ctr"/>
                </a:tc>
                <a:extLst>
                  <a:ext uri="{0D108BD9-81ED-4DB2-BD59-A6C34878D82A}">
                    <a16:rowId xmlns:a16="http://schemas.microsoft.com/office/drawing/2014/main" val="1866248220"/>
                  </a:ext>
                </a:extLst>
              </a:tr>
              <a:tr h="1115203">
                <a:tc>
                  <a:txBody>
                    <a:bodyPr/>
                    <a:lstStyle/>
                    <a:p>
                      <a:pPr algn="ctr">
                        <a:buNone/>
                      </a:pPr>
                      <a:r>
                        <a:rPr lang="en-IN" b="1" dirty="0">
                          <a:solidFill>
                            <a:schemeClr val="tx2">
                              <a:lumMod val="20000"/>
                              <a:lumOff val="80000"/>
                            </a:schemeClr>
                          </a:solidFill>
                          <a:latin typeface="Times New Roman" panose="02020603050405020304" pitchFamily="18" charset="0"/>
                          <a:cs typeface="Times New Roman" panose="02020603050405020304" pitchFamily="18" charset="0"/>
                        </a:rPr>
                        <a:t>Condition Number (K)</a:t>
                      </a:r>
                    </a:p>
                  </a:txBody>
                  <a:tcPr anchor="ctr"/>
                </a:tc>
                <a:tc>
                  <a:txBody>
                    <a:bodyPr/>
                    <a:lstStyle/>
                    <a:p>
                      <a:pPr algn="ctr">
                        <a:buNone/>
                      </a:pPr>
                      <a:r>
                        <a:rPr lang="en-IN" b="1" dirty="0">
                          <a:solidFill>
                            <a:schemeClr val="tx2">
                              <a:lumMod val="20000"/>
                              <a:lumOff val="80000"/>
                            </a:schemeClr>
                          </a:solidFill>
                          <a:latin typeface="Times New Roman" panose="02020603050405020304" pitchFamily="18" charset="0"/>
                          <a:cs typeface="Times New Roman" panose="02020603050405020304" pitchFamily="18" charset="0"/>
                        </a:rPr>
                        <a:t>67.27</a:t>
                      </a:r>
                    </a:p>
                  </a:txBody>
                  <a:tcPr anchor="ctr"/>
                </a:tc>
                <a:tc>
                  <a:txBody>
                    <a:bodyPr/>
                    <a:lstStyle/>
                    <a:p>
                      <a:pPr algn="ctr">
                        <a:buNone/>
                      </a:pPr>
                      <a:r>
                        <a:rPr lang="en-IN" b="1" dirty="0">
                          <a:solidFill>
                            <a:schemeClr val="tx2">
                              <a:lumMod val="20000"/>
                              <a:lumOff val="80000"/>
                            </a:schemeClr>
                          </a:solidFill>
                          <a:latin typeface="Times New Roman" panose="02020603050405020304" pitchFamily="18" charset="0"/>
                          <a:cs typeface="Times New Roman" panose="02020603050405020304" pitchFamily="18" charset="0"/>
                        </a:rPr>
                        <a:t>Moderate to High Multicollinearity</a:t>
                      </a:r>
                    </a:p>
                  </a:txBody>
                  <a:tcPr anchor="ctr"/>
                </a:tc>
                <a:extLst>
                  <a:ext uri="{0D108BD9-81ED-4DB2-BD59-A6C34878D82A}">
                    <a16:rowId xmlns:a16="http://schemas.microsoft.com/office/drawing/2014/main" val="4218468285"/>
                  </a:ext>
                </a:extLst>
              </a:tr>
              <a:tr h="1115203">
                <a:tc>
                  <a:txBody>
                    <a:bodyPr/>
                    <a:lstStyle/>
                    <a:p>
                      <a:pPr algn="ctr">
                        <a:buNone/>
                      </a:pPr>
                      <a:r>
                        <a:rPr lang="en-IN" b="1">
                          <a:solidFill>
                            <a:schemeClr val="tx2">
                              <a:lumMod val="20000"/>
                              <a:lumOff val="80000"/>
                            </a:schemeClr>
                          </a:solidFill>
                          <a:latin typeface="Times New Roman" panose="02020603050405020304" pitchFamily="18" charset="0"/>
                          <a:cs typeface="Times New Roman" panose="02020603050405020304" pitchFamily="18" charset="0"/>
                        </a:rPr>
                        <a:t>Number of Variables</a:t>
                      </a:r>
                    </a:p>
                  </a:txBody>
                  <a:tcPr anchor="ctr"/>
                </a:tc>
                <a:tc>
                  <a:txBody>
                    <a:bodyPr/>
                    <a:lstStyle/>
                    <a:p>
                      <a:pPr algn="ctr">
                        <a:buNone/>
                      </a:pPr>
                      <a:r>
                        <a:rPr lang="en-IN" b="1" dirty="0">
                          <a:solidFill>
                            <a:schemeClr val="tx2">
                              <a:lumMod val="20000"/>
                              <a:lumOff val="80000"/>
                            </a:schemeClr>
                          </a:solidFill>
                          <a:latin typeface="Times New Roman" panose="02020603050405020304" pitchFamily="18" charset="0"/>
                          <a:cs typeface="Times New Roman" panose="02020603050405020304" pitchFamily="18" charset="0"/>
                        </a:rPr>
                        <a:t>28</a:t>
                      </a:r>
                    </a:p>
                  </a:txBody>
                  <a:tcPr anchor="ctr"/>
                </a:tc>
                <a:tc>
                  <a:txBody>
                    <a:bodyPr/>
                    <a:lstStyle/>
                    <a:p>
                      <a:pPr algn="ctr">
                        <a:buNone/>
                      </a:pPr>
                      <a:r>
                        <a:rPr lang="en-IN" b="1" dirty="0">
                          <a:solidFill>
                            <a:schemeClr val="tx2">
                              <a:lumMod val="20000"/>
                              <a:lumOff val="80000"/>
                            </a:schemeClr>
                          </a:solidFill>
                          <a:latin typeface="Times New Roman" panose="02020603050405020304" pitchFamily="18" charset="0"/>
                          <a:cs typeface="Times New Roman" panose="02020603050405020304" pitchFamily="18" charset="0"/>
                        </a:rPr>
                        <a:t>High dimensional model</a:t>
                      </a:r>
                    </a:p>
                  </a:txBody>
                  <a:tcPr anchor="ctr"/>
                </a:tc>
                <a:extLst>
                  <a:ext uri="{0D108BD9-81ED-4DB2-BD59-A6C34878D82A}">
                    <a16:rowId xmlns:a16="http://schemas.microsoft.com/office/drawing/2014/main" val="102872476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4" name="TextBox 3">
            <a:extLst>
              <a:ext uri="{FF2B5EF4-FFF2-40B4-BE49-F238E27FC236}">
                <a16:creationId xmlns:a16="http://schemas.microsoft.com/office/drawing/2014/main" id="{A5537795-80D1-2EE1-3B75-F1F979F3BB8F}"/>
              </a:ext>
            </a:extLst>
          </p:cNvPr>
          <p:cNvSpPr txBox="1"/>
          <p:nvPr/>
        </p:nvSpPr>
        <p:spPr>
          <a:xfrm>
            <a:off x="390525" y="295277"/>
            <a:ext cx="6610043" cy="646331"/>
          </a:xfrm>
          <a:prstGeom prst="rect">
            <a:avLst/>
          </a:prstGeom>
          <a:noFill/>
        </p:spPr>
        <p:txBody>
          <a:bodyPr wrap="square" rtlCol="0">
            <a:spAutoFit/>
          </a:bodyPr>
          <a:lstStyle/>
          <a:p>
            <a:r>
              <a:rPr lang="en-IN" sz="3600" b="1" u="sng" dirty="0">
                <a:solidFill>
                  <a:schemeClr val="bg1">
                    <a:lumMod val="95000"/>
                  </a:schemeClr>
                </a:solidFill>
                <a:latin typeface="Algerian" panose="04020705040A02060702" pitchFamily="82" charset="0"/>
              </a:rPr>
              <a:t>Variance Inflation Factor</a:t>
            </a:r>
          </a:p>
        </p:txBody>
      </p:sp>
      <p:sp>
        <p:nvSpPr>
          <p:cNvPr id="5" name="TextBox 4">
            <a:extLst>
              <a:ext uri="{FF2B5EF4-FFF2-40B4-BE49-F238E27FC236}">
                <a16:creationId xmlns:a16="http://schemas.microsoft.com/office/drawing/2014/main" id="{5DF83139-D0B4-8F13-C71F-0505BC43627C}"/>
              </a:ext>
            </a:extLst>
          </p:cNvPr>
          <p:cNvSpPr txBox="1"/>
          <p:nvPr/>
        </p:nvSpPr>
        <p:spPr>
          <a:xfrm>
            <a:off x="953728" y="2271250"/>
            <a:ext cx="5073445" cy="707886"/>
          </a:xfrm>
          <a:prstGeom prst="rect">
            <a:avLst/>
          </a:prstGeom>
          <a:noFill/>
        </p:spPr>
        <p:txBody>
          <a:bodyPr wrap="square" rtlCol="0">
            <a:spAutoFit/>
          </a:bodyPr>
          <a:lstStyle/>
          <a:p>
            <a:pPr lvl="0" eaLnBrk="0" fontAlgn="base" hangingPunct="0">
              <a:spcBef>
                <a:spcPct val="0"/>
              </a:spcBef>
              <a:spcAft>
                <a:spcPct val="0"/>
              </a:spcAft>
            </a:pPr>
            <a:r>
              <a:rPr lang="en-US" altLang="en-US" sz="2000" dirty="0">
                <a:solidFill>
                  <a:schemeClr val="bg1"/>
                </a:solidFill>
                <a:latin typeface="Times New Roman" panose="02020603050405020304" pitchFamily="18" charset="0"/>
                <a:cs typeface="Times New Roman" panose="02020603050405020304" pitchFamily="18" charset="0"/>
              </a:rPr>
              <a:t> </a:t>
            </a:r>
          </a:p>
          <a:p>
            <a:r>
              <a:rPr lang="en-IN" sz="2000" dirty="0">
                <a:latin typeface="Times New Roman" panose="02020603050405020304" pitchFamily="18" charset="0"/>
                <a:cs typeface="Times New Roman" panose="02020603050405020304" pitchFamily="18" charset="0"/>
              </a:rPr>
              <a:t> </a:t>
            </a:r>
          </a:p>
        </p:txBody>
      </p:sp>
      <p:sp>
        <p:nvSpPr>
          <p:cNvPr id="8" name="Shape 1">
            <a:extLst>
              <a:ext uri="{FF2B5EF4-FFF2-40B4-BE49-F238E27FC236}">
                <a16:creationId xmlns:a16="http://schemas.microsoft.com/office/drawing/2014/main" id="{31DE3AB8-EC29-77FB-5468-933977A61CD5}"/>
              </a:ext>
            </a:extLst>
          </p:cNvPr>
          <p:cNvSpPr/>
          <p:nvPr/>
        </p:nvSpPr>
        <p:spPr>
          <a:xfrm>
            <a:off x="718376" y="1869352"/>
            <a:ext cx="5954339" cy="4586148"/>
          </a:xfrm>
          <a:prstGeom prst="roundRect">
            <a:avLst>
              <a:gd name="adj" fmla="val 2117"/>
            </a:avLst>
          </a:prstGeom>
          <a:solidFill>
            <a:srgbClr val="5F5153"/>
          </a:solidFill>
          <a:ln/>
        </p:spPr>
        <p:txBody>
          <a:bodyPr/>
          <a:lstStyle/>
          <a:p>
            <a:pPr lvl="0" eaLnBrk="0" fontAlgn="base" hangingPunct="0">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Most variables show low multicollinearity, with VIF values close to 1–3, indicating stable and reliable estimates.</a:t>
            </a:r>
          </a:p>
          <a:p>
            <a:pPr lvl="0" eaLnBrk="0" fontAlgn="base" hangingPunct="0">
              <a:spcBef>
                <a:spcPct val="0"/>
              </a:spcBef>
              <a:spcAft>
                <a:spcPct val="0"/>
              </a:spcAft>
            </a:pPr>
            <a:r>
              <a:rPr lang="en-US" altLang="en-US" sz="2400" dirty="0">
                <a:solidFill>
                  <a:schemeClr val="bg1"/>
                </a:solidFill>
                <a:latin typeface="Times New Roman" panose="02020603050405020304" pitchFamily="18" charset="0"/>
                <a:cs typeface="Times New Roman" panose="02020603050405020304" pitchFamily="18" charset="0"/>
              </a:rPr>
              <a:t> </a:t>
            </a:r>
          </a:p>
          <a:p>
            <a:pPr lvl="0" eaLnBrk="0" fontAlgn="base" hangingPunct="0">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A few variables have moderately high VIF (&gt;5), suggesting some multicollinearity that may need attention. </a:t>
            </a:r>
          </a:p>
          <a:p>
            <a:pPr lvl="0" eaLnBrk="0" fontAlgn="base" hangingPunct="0">
              <a:spcBef>
                <a:spcPct val="0"/>
              </a:spcBef>
              <a:spcAft>
                <a:spcPct val="0"/>
              </a:spcAft>
            </a:pPr>
            <a:endParaRPr lang="en-US" altLang="en-US" sz="2400"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No severe multicollinearity detected (VIF &lt; 10 for all variables), so the model is generally acceptable without major corrections. </a:t>
            </a:r>
          </a:p>
          <a:p>
            <a:r>
              <a:rPr lang="en-IN" sz="2400" dirty="0">
                <a:latin typeface="Times New Roman" panose="02020603050405020304" pitchFamily="18" charset="0"/>
                <a:cs typeface="Times New Roman" panose="02020603050405020304" pitchFamily="18" charset="0"/>
              </a:rPr>
              <a:t> </a:t>
            </a:r>
          </a:p>
        </p:txBody>
      </p:sp>
      <p:graphicFrame>
        <p:nvGraphicFramePr>
          <p:cNvPr id="10" name="Table 9">
            <a:extLst>
              <a:ext uri="{FF2B5EF4-FFF2-40B4-BE49-F238E27FC236}">
                <a16:creationId xmlns:a16="http://schemas.microsoft.com/office/drawing/2014/main" id="{FA08C999-C821-5428-83CB-03AB3699822A}"/>
              </a:ext>
            </a:extLst>
          </p:cNvPr>
          <p:cNvGraphicFramePr>
            <a:graphicFrameLocks noGrp="1"/>
          </p:cNvGraphicFramePr>
          <p:nvPr>
            <p:extLst>
              <p:ext uri="{D42A27DB-BD31-4B8C-83A1-F6EECF244321}">
                <p14:modId xmlns:p14="http://schemas.microsoft.com/office/powerpoint/2010/main" val="1587585755"/>
              </p:ext>
            </p:extLst>
          </p:nvPr>
        </p:nvGraphicFramePr>
        <p:xfrm>
          <a:off x="7399421" y="144321"/>
          <a:ext cx="6840454" cy="7986348"/>
        </p:xfrm>
        <a:graphic>
          <a:graphicData uri="http://schemas.openxmlformats.org/drawingml/2006/table">
            <a:tbl>
              <a:tblPr firstRow="1" bandRow="1">
                <a:tableStyleId>{616DA210-FB5B-4158-B5E0-FEB733F419BA}</a:tableStyleId>
              </a:tblPr>
              <a:tblGrid>
                <a:gridCol w="3420227">
                  <a:extLst>
                    <a:ext uri="{9D8B030D-6E8A-4147-A177-3AD203B41FA5}">
                      <a16:colId xmlns:a16="http://schemas.microsoft.com/office/drawing/2014/main" val="1564962100"/>
                    </a:ext>
                  </a:extLst>
                </a:gridCol>
                <a:gridCol w="3420227">
                  <a:extLst>
                    <a:ext uri="{9D8B030D-6E8A-4147-A177-3AD203B41FA5}">
                      <a16:colId xmlns:a16="http://schemas.microsoft.com/office/drawing/2014/main" val="59832067"/>
                    </a:ext>
                  </a:extLst>
                </a:gridCol>
              </a:tblGrid>
              <a:tr h="273822">
                <a:tc>
                  <a:txBody>
                    <a:bodyPr/>
                    <a:lstStyle/>
                    <a:p>
                      <a:pPr algn="ctr">
                        <a:buNone/>
                      </a:pPr>
                      <a:r>
                        <a:rPr lang="en-IN" sz="1800" b="1" dirty="0">
                          <a:solidFill>
                            <a:schemeClr val="tx2">
                              <a:lumMod val="20000"/>
                              <a:lumOff val="80000"/>
                            </a:schemeClr>
                          </a:solidFill>
                          <a:latin typeface="Times New Roman" panose="02020603050405020304" pitchFamily="18" charset="0"/>
                          <a:cs typeface="Times New Roman" panose="02020603050405020304" pitchFamily="18" charset="0"/>
                        </a:rPr>
                        <a:t>VARIABLE</a:t>
                      </a:r>
                    </a:p>
                  </a:txBody>
                  <a:tcPr marL="45011" marR="45011" marT="22506" marB="22506" anchor="ctr"/>
                </a:tc>
                <a:tc>
                  <a:txBody>
                    <a:bodyPr/>
                    <a:lstStyle/>
                    <a:p>
                      <a:pPr algn="ctr">
                        <a:buNone/>
                      </a:pPr>
                      <a:r>
                        <a:rPr lang="en-IN" sz="1800" b="1" dirty="0">
                          <a:solidFill>
                            <a:schemeClr val="tx2">
                              <a:lumMod val="20000"/>
                              <a:lumOff val="80000"/>
                            </a:schemeClr>
                          </a:solidFill>
                          <a:latin typeface="Times New Roman" panose="02020603050405020304" pitchFamily="18" charset="0"/>
                          <a:cs typeface="Times New Roman" panose="02020603050405020304" pitchFamily="18" charset="0"/>
                        </a:rPr>
                        <a:t>VIF</a:t>
                      </a:r>
                    </a:p>
                  </a:txBody>
                  <a:tcPr marL="45011" marR="45011" marT="22506" marB="22506" anchor="ctr"/>
                </a:tc>
                <a:extLst>
                  <a:ext uri="{0D108BD9-81ED-4DB2-BD59-A6C34878D82A}">
                    <a16:rowId xmlns:a16="http://schemas.microsoft.com/office/drawing/2014/main" val="212062530"/>
                  </a:ext>
                </a:extLst>
              </a:tr>
              <a:tr h="273822">
                <a:tc>
                  <a:txBody>
                    <a:bodyPr/>
                    <a:lstStyle/>
                    <a:p>
                      <a:pPr algn="ctr">
                        <a:buNone/>
                      </a:pPr>
                      <a:r>
                        <a:rPr lang="en-IN" sz="1400" b="1" dirty="0" err="1">
                          <a:solidFill>
                            <a:schemeClr val="tx2">
                              <a:lumMod val="20000"/>
                              <a:lumOff val="80000"/>
                            </a:schemeClr>
                          </a:solidFill>
                          <a:latin typeface="Times New Roman" panose="02020603050405020304" pitchFamily="18" charset="0"/>
                          <a:cs typeface="Times New Roman" panose="02020603050405020304" pitchFamily="18" charset="0"/>
                        </a:rPr>
                        <a:t>overall_health_score</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9.370</a:t>
                      </a:r>
                    </a:p>
                  </a:txBody>
                  <a:tcPr marL="45011" marR="45011" marT="22506" marB="22506" anchor="ctr"/>
                </a:tc>
                <a:extLst>
                  <a:ext uri="{0D108BD9-81ED-4DB2-BD59-A6C34878D82A}">
                    <a16:rowId xmlns:a16="http://schemas.microsoft.com/office/drawing/2014/main" val="1670535210"/>
                  </a:ext>
                </a:extLst>
              </a:tr>
              <a:tr h="273822">
                <a:tc>
                  <a:txBody>
                    <a:bodyPr/>
                    <a:lstStyle/>
                    <a:p>
                      <a:pPr algn="ctr">
                        <a:buNone/>
                      </a:pPr>
                      <a:r>
                        <a:rPr lang="en-IN" sz="1400" b="1" dirty="0" err="1">
                          <a:solidFill>
                            <a:schemeClr val="tx2">
                              <a:lumMod val="20000"/>
                              <a:lumOff val="80000"/>
                            </a:schemeClr>
                          </a:solidFill>
                          <a:latin typeface="Times New Roman" panose="02020603050405020304" pitchFamily="18" charset="0"/>
                          <a:cs typeface="Times New Roman" panose="02020603050405020304" pitchFamily="18" charset="0"/>
                        </a:rPr>
                        <a:t>stress_score_cycle</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6.737</a:t>
                      </a:r>
                    </a:p>
                  </a:txBody>
                  <a:tcPr marL="45011" marR="45011" marT="22506" marB="22506" anchor="ctr"/>
                </a:tc>
                <a:extLst>
                  <a:ext uri="{0D108BD9-81ED-4DB2-BD59-A6C34878D82A}">
                    <a16:rowId xmlns:a16="http://schemas.microsoft.com/office/drawing/2014/main" val="556698896"/>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work_hours_lost</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5.390</a:t>
                      </a:r>
                    </a:p>
                  </a:txBody>
                  <a:tcPr marL="45011" marR="45011" marT="22506" marB="22506" anchor="ctr"/>
                </a:tc>
                <a:extLst>
                  <a:ext uri="{0D108BD9-81ED-4DB2-BD59-A6C34878D82A}">
                    <a16:rowId xmlns:a16="http://schemas.microsoft.com/office/drawing/2014/main" val="2496909681"/>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progesterone_ngml</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4.812</a:t>
                      </a:r>
                    </a:p>
                  </a:txBody>
                  <a:tcPr marL="45011" marR="45011" marT="22506" marB="22506" anchor="ctr"/>
                </a:tc>
                <a:extLst>
                  <a:ext uri="{0D108BD9-81ED-4DB2-BD59-A6C34878D82A}">
                    <a16:rowId xmlns:a16="http://schemas.microsoft.com/office/drawing/2014/main" val="283439461"/>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cycle_phase_Luteal</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4.800</a:t>
                      </a:r>
                    </a:p>
                  </a:txBody>
                  <a:tcPr marL="45011" marR="45011" marT="22506" marB="22506" anchor="ctr"/>
                </a:tc>
                <a:extLst>
                  <a:ext uri="{0D108BD9-81ED-4DB2-BD59-A6C34878D82A}">
                    <a16:rowId xmlns:a16="http://schemas.microsoft.com/office/drawing/2014/main" val="3690200"/>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stress_score_baseline</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3.211</a:t>
                      </a:r>
                    </a:p>
                  </a:txBody>
                  <a:tcPr marL="45011" marR="45011" marT="22506" marB="22506" anchor="ctr"/>
                </a:tc>
                <a:extLst>
                  <a:ext uri="{0D108BD9-81ED-4DB2-BD59-A6C34878D82A}">
                    <a16:rowId xmlns:a16="http://schemas.microsoft.com/office/drawing/2014/main" val="3568493830"/>
                  </a:ext>
                </a:extLst>
              </a:tr>
              <a:tr h="273822">
                <a:tc>
                  <a:txBody>
                    <a:bodyPr/>
                    <a:lstStyle/>
                    <a:p>
                      <a:pPr algn="ctr">
                        <a:buNone/>
                      </a:pPr>
                      <a:r>
                        <a:rPr lang="en-IN" sz="1400" b="1" dirty="0" err="1">
                          <a:solidFill>
                            <a:schemeClr val="tx2">
                              <a:lumMod val="20000"/>
                              <a:lumOff val="80000"/>
                            </a:schemeClr>
                          </a:solidFill>
                          <a:latin typeface="Times New Roman" panose="02020603050405020304" pitchFamily="18" charset="0"/>
                          <a:cs typeface="Times New Roman" panose="02020603050405020304" pitchFamily="18" charset="0"/>
                        </a:rPr>
                        <a:t>birth_control_use</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2.448</a:t>
                      </a:r>
                    </a:p>
                  </a:txBody>
                  <a:tcPr marL="45011" marR="45011" marT="22506" marB="22506" anchor="ctr"/>
                </a:tc>
                <a:extLst>
                  <a:ext uri="{0D108BD9-81ED-4DB2-BD59-A6C34878D82A}">
                    <a16:rowId xmlns:a16="http://schemas.microsoft.com/office/drawing/2014/main" val="2402190553"/>
                  </a:ext>
                </a:extLst>
              </a:tr>
              <a:tr h="273822">
                <a:tc>
                  <a:txBody>
                    <a:bodyPr/>
                    <a:lstStyle/>
                    <a:p>
                      <a:pPr algn="ctr">
                        <a:buNone/>
                      </a:pPr>
                      <a:r>
                        <a:rPr lang="en-IN" sz="1400" b="1" dirty="0" err="1">
                          <a:solidFill>
                            <a:schemeClr val="tx2">
                              <a:lumMod val="20000"/>
                              <a:lumOff val="80000"/>
                            </a:schemeClr>
                          </a:solidFill>
                          <a:latin typeface="Times New Roman" panose="02020603050405020304" pitchFamily="18" charset="0"/>
                          <a:cs typeface="Times New Roman" panose="02020603050405020304" pitchFamily="18" charset="0"/>
                        </a:rPr>
                        <a:t>concentration_score</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2.311</a:t>
                      </a:r>
                    </a:p>
                  </a:txBody>
                  <a:tcPr marL="45011" marR="45011" marT="22506" marB="22506" anchor="ctr"/>
                </a:tc>
                <a:extLst>
                  <a:ext uri="{0D108BD9-81ED-4DB2-BD59-A6C34878D82A}">
                    <a16:rowId xmlns:a16="http://schemas.microsoft.com/office/drawing/2014/main" val="220717683"/>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energy_level</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2.188</a:t>
                      </a:r>
                    </a:p>
                  </a:txBody>
                  <a:tcPr marL="45011" marR="45011" marT="22506" marB="22506" anchor="ctr"/>
                </a:tc>
                <a:extLst>
                  <a:ext uri="{0D108BD9-81ED-4DB2-BD59-A6C34878D82A}">
                    <a16:rowId xmlns:a16="http://schemas.microsoft.com/office/drawing/2014/main" val="2212992877"/>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flow_level</a:t>
                      </a:r>
                    </a:p>
                  </a:txBody>
                  <a:tcPr marL="45011" marR="45011" marT="22506" marB="22506" anchor="ctr"/>
                </a:tc>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2.106</a:t>
                      </a:r>
                    </a:p>
                  </a:txBody>
                  <a:tcPr marL="45011" marR="45011" marT="22506" marB="22506" anchor="ctr"/>
                </a:tc>
                <a:extLst>
                  <a:ext uri="{0D108BD9-81ED-4DB2-BD59-A6C34878D82A}">
                    <a16:rowId xmlns:a16="http://schemas.microsoft.com/office/drawing/2014/main" val="1572161006"/>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log_consistency_score</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1.800</a:t>
                      </a:r>
                    </a:p>
                  </a:txBody>
                  <a:tcPr marL="45011" marR="45011" marT="22506" marB="22506" anchor="ctr"/>
                </a:tc>
                <a:extLst>
                  <a:ext uri="{0D108BD9-81ED-4DB2-BD59-A6C34878D82A}">
                    <a16:rowId xmlns:a16="http://schemas.microsoft.com/office/drawing/2014/main" val="3779074165"/>
                  </a:ext>
                </a:extLst>
              </a:tr>
              <a:tr h="273822">
                <a:tc>
                  <a:txBody>
                    <a:bodyPr/>
                    <a:lstStyle/>
                    <a:p>
                      <a:pPr algn="ctr">
                        <a:buNone/>
                      </a:pPr>
                      <a:r>
                        <a:rPr lang="en-IN" sz="1400" b="1" dirty="0" err="1">
                          <a:solidFill>
                            <a:schemeClr val="tx2">
                              <a:lumMod val="20000"/>
                              <a:lumOff val="80000"/>
                            </a:schemeClr>
                          </a:solidFill>
                          <a:latin typeface="Times New Roman" panose="02020603050405020304" pitchFamily="18" charset="0"/>
                          <a:cs typeface="Times New Roman" panose="02020603050405020304" pitchFamily="18" charset="0"/>
                        </a:rPr>
                        <a:t>mood_score</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1.763</a:t>
                      </a:r>
                    </a:p>
                  </a:txBody>
                  <a:tcPr marL="45011" marR="45011" marT="22506" marB="22506" anchor="ctr"/>
                </a:tc>
                <a:extLst>
                  <a:ext uri="{0D108BD9-81ED-4DB2-BD59-A6C34878D82A}">
                    <a16:rowId xmlns:a16="http://schemas.microsoft.com/office/drawing/2014/main" val="1281382471"/>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estrogen_pgml</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1.750</a:t>
                      </a:r>
                    </a:p>
                  </a:txBody>
                  <a:tcPr marL="45011" marR="45011" marT="22506" marB="22506" anchor="ctr"/>
                </a:tc>
                <a:extLst>
                  <a:ext uri="{0D108BD9-81ED-4DB2-BD59-A6C34878D82A}">
                    <a16:rowId xmlns:a16="http://schemas.microsoft.com/office/drawing/2014/main" val="3520690029"/>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cycle_phase_Menstrual</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1.620</a:t>
                      </a:r>
                    </a:p>
                  </a:txBody>
                  <a:tcPr marL="45011" marR="45011" marT="22506" marB="22506" anchor="ctr"/>
                </a:tc>
                <a:extLst>
                  <a:ext uri="{0D108BD9-81ED-4DB2-BD59-A6C34878D82A}">
                    <a16:rowId xmlns:a16="http://schemas.microsoft.com/office/drawing/2014/main" val="1853889965"/>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sleep_hours_cycle</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1.592</a:t>
                      </a:r>
                    </a:p>
                  </a:txBody>
                  <a:tcPr marL="45011" marR="45011" marT="22506" marB="22506" anchor="ctr"/>
                </a:tc>
                <a:extLst>
                  <a:ext uri="{0D108BD9-81ED-4DB2-BD59-A6C34878D82A}">
                    <a16:rowId xmlns:a16="http://schemas.microsoft.com/office/drawing/2014/main" val="1933148712"/>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pcos_diagnosed</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1.411</a:t>
                      </a:r>
                    </a:p>
                  </a:txBody>
                  <a:tcPr marL="45011" marR="45011" marT="22506" marB="22506" anchor="ctr"/>
                </a:tc>
                <a:extLst>
                  <a:ext uri="{0D108BD9-81ED-4DB2-BD59-A6C34878D82A}">
                    <a16:rowId xmlns:a16="http://schemas.microsoft.com/office/drawing/2014/main" val="952111792"/>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ovulation_result_Positive</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1.382</a:t>
                      </a:r>
                    </a:p>
                  </a:txBody>
                  <a:tcPr marL="45011" marR="45011" marT="22506" marB="22506" anchor="ctr"/>
                </a:tc>
                <a:extLst>
                  <a:ext uri="{0D108BD9-81ED-4DB2-BD59-A6C34878D82A}">
                    <a16:rowId xmlns:a16="http://schemas.microsoft.com/office/drawing/2014/main" val="2540948342"/>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cycle_length_days</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1.179</a:t>
                      </a:r>
                    </a:p>
                  </a:txBody>
                  <a:tcPr marL="45011" marR="45011" marT="22506" marB="22506" anchor="ctr"/>
                </a:tc>
                <a:extLst>
                  <a:ext uri="{0D108BD9-81ED-4DB2-BD59-A6C34878D82A}">
                    <a16:rowId xmlns:a16="http://schemas.microsoft.com/office/drawing/2014/main" val="1821014798"/>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prepared_before_period</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1.141</a:t>
                      </a:r>
                    </a:p>
                  </a:txBody>
                  <a:tcPr marL="45011" marR="45011" marT="22506" marB="22506" anchor="ctr"/>
                </a:tc>
                <a:extLst>
                  <a:ext uri="{0D108BD9-81ED-4DB2-BD59-A6C34878D82A}">
                    <a16:rowId xmlns:a16="http://schemas.microsoft.com/office/drawing/2014/main" val="3490848595"/>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bmi</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1.094</a:t>
                      </a:r>
                    </a:p>
                  </a:txBody>
                  <a:tcPr marL="45011" marR="45011" marT="22506" marB="22506" anchor="ctr"/>
                </a:tc>
                <a:extLst>
                  <a:ext uri="{0D108BD9-81ED-4DB2-BD59-A6C34878D82A}">
                    <a16:rowId xmlns:a16="http://schemas.microsoft.com/office/drawing/2014/main" val="1275447731"/>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pms_symptoms_Yes</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1.029</a:t>
                      </a:r>
                    </a:p>
                  </a:txBody>
                  <a:tcPr marL="45011" marR="45011" marT="22506" marB="22506" anchor="ctr"/>
                </a:tc>
                <a:extLst>
                  <a:ext uri="{0D108BD9-81ED-4DB2-BD59-A6C34878D82A}">
                    <a16:rowId xmlns:a16="http://schemas.microsoft.com/office/drawing/2014/main" val="3738698948"/>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alcohol_consumption</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1.014</a:t>
                      </a:r>
                    </a:p>
                  </a:txBody>
                  <a:tcPr marL="45011" marR="45011" marT="22506" marB="22506" anchor="ctr"/>
                </a:tc>
                <a:extLst>
                  <a:ext uri="{0D108BD9-81ED-4DB2-BD59-A6C34878D82A}">
                    <a16:rowId xmlns:a16="http://schemas.microsoft.com/office/drawing/2014/main" val="848661725"/>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smoking_status</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1.011</a:t>
                      </a:r>
                    </a:p>
                  </a:txBody>
                  <a:tcPr marL="45011" marR="45011" marT="22506" marB="22506" anchor="ctr"/>
                </a:tc>
                <a:extLst>
                  <a:ext uri="{0D108BD9-81ED-4DB2-BD59-A6C34878D82A}">
                    <a16:rowId xmlns:a16="http://schemas.microsoft.com/office/drawing/2014/main" val="2089346309"/>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age</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1.011</a:t>
                      </a:r>
                    </a:p>
                  </a:txBody>
                  <a:tcPr marL="45011" marR="45011" marT="22506" marB="22506" anchor="ctr"/>
                </a:tc>
                <a:extLst>
                  <a:ext uri="{0D108BD9-81ED-4DB2-BD59-A6C34878D82A}">
                    <a16:rowId xmlns:a16="http://schemas.microsoft.com/office/drawing/2014/main" val="4085818238"/>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diet_quality</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1.010</a:t>
                      </a:r>
                    </a:p>
                  </a:txBody>
                  <a:tcPr marL="45011" marR="45011" marT="22506" marB="22506" anchor="ctr"/>
                </a:tc>
                <a:extLst>
                  <a:ext uri="{0D108BD9-81ED-4DB2-BD59-A6C34878D82A}">
                    <a16:rowId xmlns:a16="http://schemas.microsoft.com/office/drawing/2014/main" val="546264924"/>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caffeine_intake</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1.009</a:t>
                      </a:r>
                    </a:p>
                  </a:txBody>
                  <a:tcPr marL="45011" marR="45011" marT="22506" marB="22506" anchor="ctr"/>
                </a:tc>
                <a:extLst>
                  <a:ext uri="{0D108BD9-81ED-4DB2-BD59-A6C34878D82A}">
                    <a16:rowId xmlns:a16="http://schemas.microsoft.com/office/drawing/2014/main" val="3317672424"/>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exercise_frequency</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1.006</a:t>
                      </a:r>
                    </a:p>
                  </a:txBody>
                  <a:tcPr marL="45011" marR="45011" marT="22506" marB="22506" anchor="ctr"/>
                </a:tc>
                <a:extLst>
                  <a:ext uri="{0D108BD9-81ED-4DB2-BD59-A6C34878D82A}">
                    <a16:rowId xmlns:a16="http://schemas.microsoft.com/office/drawing/2014/main" val="2093963609"/>
                  </a:ext>
                </a:extLst>
              </a:tr>
              <a:tr h="273822">
                <a:tc>
                  <a:txBody>
                    <a:bodyPr/>
                    <a:lstStyle/>
                    <a:p>
                      <a:pPr algn="ctr">
                        <a:buNone/>
                      </a:pPr>
                      <a:r>
                        <a:rPr lang="en-IN" sz="1400" b="1">
                          <a:solidFill>
                            <a:schemeClr val="tx2">
                              <a:lumMod val="20000"/>
                              <a:lumOff val="80000"/>
                            </a:schemeClr>
                          </a:solidFill>
                          <a:latin typeface="Times New Roman" panose="02020603050405020304" pitchFamily="18" charset="0"/>
                          <a:cs typeface="Times New Roman" panose="02020603050405020304" pitchFamily="18" charset="0"/>
                        </a:rPr>
                        <a:t>water_intake_liters</a:t>
                      </a:r>
                    </a:p>
                  </a:txBody>
                  <a:tcPr marL="45011" marR="45011" marT="22506" marB="22506" anchor="ctr"/>
                </a:tc>
                <a:tc>
                  <a:txBody>
                    <a:bodyPr/>
                    <a:lstStyle/>
                    <a:p>
                      <a:pPr algn="ctr">
                        <a:buNone/>
                      </a:pPr>
                      <a:r>
                        <a:rPr lang="en-IN" sz="1400" b="1" dirty="0">
                          <a:solidFill>
                            <a:schemeClr val="tx2">
                              <a:lumMod val="20000"/>
                              <a:lumOff val="80000"/>
                            </a:schemeClr>
                          </a:solidFill>
                          <a:latin typeface="Times New Roman" panose="02020603050405020304" pitchFamily="18" charset="0"/>
                          <a:cs typeface="Times New Roman" panose="02020603050405020304" pitchFamily="18" charset="0"/>
                        </a:rPr>
                        <a:t>1.005</a:t>
                      </a:r>
                    </a:p>
                  </a:txBody>
                  <a:tcPr marL="45011" marR="45011" marT="22506" marB="22506" anchor="ctr"/>
                </a:tc>
                <a:extLst>
                  <a:ext uri="{0D108BD9-81ED-4DB2-BD59-A6C34878D82A}">
                    <a16:rowId xmlns:a16="http://schemas.microsoft.com/office/drawing/2014/main" val="1838360326"/>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6" name="TextBox 5">
            <a:extLst>
              <a:ext uri="{FF2B5EF4-FFF2-40B4-BE49-F238E27FC236}">
                <a16:creationId xmlns:a16="http://schemas.microsoft.com/office/drawing/2014/main" id="{9E8205B6-BE81-26A0-EAF0-A3C58AA22641}"/>
              </a:ext>
            </a:extLst>
          </p:cNvPr>
          <p:cNvSpPr txBox="1"/>
          <p:nvPr/>
        </p:nvSpPr>
        <p:spPr>
          <a:xfrm>
            <a:off x="177627" y="471955"/>
            <a:ext cx="7431040" cy="830997"/>
          </a:xfrm>
          <a:prstGeom prst="rect">
            <a:avLst/>
          </a:prstGeom>
          <a:noFill/>
        </p:spPr>
        <p:txBody>
          <a:bodyPr wrap="square">
            <a:spAutoFit/>
          </a:bodyPr>
          <a:lstStyle/>
          <a:p>
            <a:r>
              <a:rPr lang="en-IN" sz="2400" b="1" dirty="0">
                <a:solidFill>
                  <a:schemeClr val="bg1"/>
                </a:solidFill>
                <a:latin typeface="Algerian" panose="04020705040A02060702" pitchFamily="82" charset="0"/>
                <a:cs typeface="Times New Roman" panose="02020603050405020304" pitchFamily="18" charset="0"/>
              </a:rPr>
              <a:t>VIF (AFTER REMOVING</a:t>
            </a:r>
          </a:p>
          <a:p>
            <a:r>
              <a:rPr lang="en-IN" sz="2400" b="1" dirty="0">
                <a:solidFill>
                  <a:schemeClr val="bg1"/>
                </a:solidFill>
                <a:latin typeface="Algerian" panose="04020705040A02060702" pitchFamily="82" charset="0"/>
                <a:cs typeface="Times New Roman" panose="02020603050405020304" pitchFamily="18" charset="0"/>
              </a:rPr>
              <a:t> </a:t>
            </a:r>
            <a:r>
              <a:rPr lang="en-IN" sz="2400" b="1" dirty="0" err="1">
                <a:solidFill>
                  <a:schemeClr val="bg1"/>
                </a:solidFill>
                <a:latin typeface="Algerian" panose="04020705040A02060702" pitchFamily="82" charset="0"/>
                <a:cs typeface="Times New Roman" panose="02020603050405020304" pitchFamily="18" charset="0"/>
              </a:rPr>
              <a:t>overall_health_score</a:t>
            </a:r>
            <a:r>
              <a:rPr lang="en-IN" sz="2400" b="1" dirty="0">
                <a:solidFill>
                  <a:schemeClr val="bg1"/>
                </a:solidFill>
                <a:latin typeface="Algerian" panose="04020705040A02060702" pitchFamily="82" charset="0"/>
                <a:cs typeface="Times New Roman" panose="02020603050405020304" pitchFamily="18" charset="0"/>
              </a:rPr>
              <a:t>)</a:t>
            </a:r>
          </a:p>
        </p:txBody>
      </p:sp>
      <p:graphicFrame>
        <p:nvGraphicFramePr>
          <p:cNvPr id="5" name="Table 4">
            <a:extLst>
              <a:ext uri="{FF2B5EF4-FFF2-40B4-BE49-F238E27FC236}">
                <a16:creationId xmlns:a16="http://schemas.microsoft.com/office/drawing/2014/main" id="{8CCC4358-9901-F7FE-E839-2D3E1F7FE026}"/>
              </a:ext>
            </a:extLst>
          </p:cNvPr>
          <p:cNvGraphicFramePr>
            <a:graphicFrameLocks noGrp="1"/>
          </p:cNvGraphicFramePr>
          <p:nvPr>
            <p:extLst>
              <p:ext uri="{D42A27DB-BD31-4B8C-83A1-F6EECF244321}">
                <p14:modId xmlns:p14="http://schemas.microsoft.com/office/powerpoint/2010/main" val="3241889859"/>
              </p:ext>
            </p:extLst>
          </p:nvPr>
        </p:nvGraphicFramePr>
        <p:xfrm>
          <a:off x="5534526" y="216568"/>
          <a:ext cx="8590548" cy="7908016"/>
        </p:xfrm>
        <a:graphic>
          <a:graphicData uri="http://schemas.openxmlformats.org/drawingml/2006/table">
            <a:tbl>
              <a:tblPr firstRow="1" bandRow="1">
                <a:tableStyleId>{616DA210-FB5B-4158-B5E0-FEB733F419BA}</a:tableStyleId>
              </a:tblPr>
              <a:tblGrid>
                <a:gridCol w="4295274">
                  <a:extLst>
                    <a:ext uri="{9D8B030D-6E8A-4147-A177-3AD203B41FA5}">
                      <a16:colId xmlns:a16="http://schemas.microsoft.com/office/drawing/2014/main" val="2329181612"/>
                    </a:ext>
                  </a:extLst>
                </a:gridCol>
                <a:gridCol w="4295274">
                  <a:extLst>
                    <a:ext uri="{9D8B030D-6E8A-4147-A177-3AD203B41FA5}">
                      <a16:colId xmlns:a16="http://schemas.microsoft.com/office/drawing/2014/main" val="1797494386"/>
                    </a:ext>
                  </a:extLst>
                </a:gridCol>
              </a:tblGrid>
              <a:tr h="226158">
                <a:tc>
                  <a:txBody>
                    <a:bodyPr/>
                    <a:lstStyle/>
                    <a:p>
                      <a:pPr algn="ctr">
                        <a:buNone/>
                      </a:pPr>
                      <a:r>
                        <a:rPr lang="en-IN" sz="1600" b="1" dirty="0">
                          <a:solidFill>
                            <a:schemeClr val="tx2">
                              <a:lumMod val="20000"/>
                              <a:lumOff val="80000"/>
                            </a:schemeClr>
                          </a:solidFill>
                          <a:latin typeface="Times New Roman" panose="02020603050405020304" pitchFamily="18" charset="0"/>
                          <a:cs typeface="Times New Roman" panose="02020603050405020304" pitchFamily="18" charset="0"/>
                        </a:rPr>
                        <a:t>VARIABLE</a:t>
                      </a:r>
                    </a:p>
                  </a:txBody>
                  <a:tcPr marL="45011" marR="45011" marT="22506" marB="22506" anchor="ctr"/>
                </a:tc>
                <a:tc>
                  <a:txBody>
                    <a:bodyPr/>
                    <a:lstStyle/>
                    <a:p>
                      <a:pPr algn="ctr">
                        <a:buNone/>
                      </a:pPr>
                      <a:r>
                        <a:rPr lang="en-IN" sz="1600" b="1" dirty="0">
                          <a:solidFill>
                            <a:schemeClr val="tx2">
                              <a:lumMod val="20000"/>
                              <a:lumOff val="80000"/>
                            </a:schemeClr>
                          </a:solidFill>
                        </a:rPr>
                        <a:t>VIF</a:t>
                      </a:r>
                      <a:endParaRPr lang="en-IN" sz="16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3760343405"/>
                  </a:ext>
                </a:extLst>
              </a:tr>
              <a:tr h="272113">
                <a:tc>
                  <a:txBody>
                    <a:bodyPr/>
                    <a:lstStyle/>
                    <a:p>
                      <a:pPr algn="ctr">
                        <a:buNone/>
                      </a:pPr>
                      <a:r>
                        <a:rPr lang="en-IN" sz="1200" b="1" dirty="0" err="1">
                          <a:solidFill>
                            <a:schemeClr val="tx2">
                              <a:lumMod val="20000"/>
                              <a:lumOff val="80000"/>
                            </a:schemeClr>
                          </a:solidFill>
                        </a:rPr>
                        <a:t>log_consistency_score</a:t>
                      </a:r>
                      <a:endParaRPr lang="en-IN" sz="12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628.353</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587199056"/>
                  </a:ext>
                </a:extLst>
              </a:tr>
              <a:tr h="272113">
                <a:tc>
                  <a:txBody>
                    <a:bodyPr/>
                    <a:lstStyle/>
                    <a:p>
                      <a:pPr algn="ctr">
                        <a:buNone/>
                      </a:pPr>
                      <a:r>
                        <a:rPr lang="en-IN" sz="1200" b="1" dirty="0" err="1">
                          <a:solidFill>
                            <a:schemeClr val="tx2">
                              <a:lumMod val="20000"/>
                              <a:lumOff val="80000"/>
                            </a:schemeClr>
                          </a:solidFill>
                        </a:rPr>
                        <a:t>sleep_hours_cycle</a:t>
                      </a:r>
                      <a:endParaRPr lang="en-IN" sz="12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175.782</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655680822"/>
                  </a:ext>
                </a:extLst>
              </a:tr>
              <a:tr h="272113">
                <a:tc>
                  <a:txBody>
                    <a:bodyPr/>
                    <a:lstStyle/>
                    <a:p>
                      <a:pPr algn="ctr">
                        <a:buNone/>
                      </a:pPr>
                      <a:r>
                        <a:rPr lang="en-IN" sz="1200" b="1">
                          <a:solidFill>
                            <a:schemeClr val="tx2">
                              <a:lumMod val="20000"/>
                              <a:lumOff val="80000"/>
                            </a:schemeClr>
                          </a:solidFill>
                        </a:rPr>
                        <a:t>cycle_length_days</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166.905</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510244821"/>
                  </a:ext>
                </a:extLst>
              </a:tr>
              <a:tr h="272113">
                <a:tc>
                  <a:txBody>
                    <a:bodyPr/>
                    <a:lstStyle/>
                    <a:p>
                      <a:pPr algn="ctr">
                        <a:buNone/>
                      </a:pPr>
                      <a:r>
                        <a:rPr lang="en-IN" sz="1200" b="1">
                          <a:solidFill>
                            <a:schemeClr val="tx2">
                              <a:lumMod val="20000"/>
                              <a:lumOff val="80000"/>
                            </a:schemeClr>
                          </a:solidFill>
                        </a:rPr>
                        <a:t>prev_cycle_length</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166.520</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600882801"/>
                  </a:ext>
                </a:extLst>
              </a:tr>
              <a:tr h="272113">
                <a:tc>
                  <a:txBody>
                    <a:bodyPr/>
                    <a:lstStyle/>
                    <a:p>
                      <a:pPr algn="ctr">
                        <a:buNone/>
                      </a:pPr>
                      <a:r>
                        <a:rPr lang="en-IN" sz="1200" b="1">
                          <a:solidFill>
                            <a:schemeClr val="tx2">
                              <a:lumMod val="20000"/>
                              <a:lumOff val="80000"/>
                            </a:schemeClr>
                          </a:solidFill>
                        </a:rPr>
                        <a:t>stress_score_cycle</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64.560</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2196021327"/>
                  </a:ext>
                </a:extLst>
              </a:tr>
              <a:tr h="272113">
                <a:tc>
                  <a:txBody>
                    <a:bodyPr/>
                    <a:lstStyle/>
                    <a:p>
                      <a:pPr algn="ctr">
                        <a:buNone/>
                      </a:pPr>
                      <a:r>
                        <a:rPr lang="en-IN" sz="1200" b="1">
                          <a:solidFill>
                            <a:schemeClr val="tx2">
                              <a:lumMod val="20000"/>
                              <a:lumOff val="80000"/>
                            </a:schemeClr>
                          </a:solidFill>
                        </a:rPr>
                        <a:t>concentration_score</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58.784</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1070824873"/>
                  </a:ext>
                </a:extLst>
              </a:tr>
              <a:tr h="272113">
                <a:tc>
                  <a:txBody>
                    <a:bodyPr/>
                    <a:lstStyle/>
                    <a:p>
                      <a:pPr algn="ctr">
                        <a:buNone/>
                      </a:pPr>
                      <a:r>
                        <a:rPr lang="en-IN" sz="1200" b="1" dirty="0" err="1">
                          <a:solidFill>
                            <a:schemeClr val="tx2">
                              <a:lumMod val="20000"/>
                              <a:lumOff val="80000"/>
                            </a:schemeClr>
                          </a:solidFill>
                        </a:rPr>
                        <a:t>stress_score_baseline</a:t>
                      </a:r>
                      <a:endParaRPr lang="en-IN" sz="12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49.051</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761027857"/>
                  </a:ext>
                </a:extLst>
              </a:tr>
              <a:tr h="272113">
                <a:tc>
                  <a:txBody>
                    <a:bodyPr/>
                    <a:lstStyle/>
                    <a:p>
                      <a:pPr algn="ctr">
                        <a:buNone/>
                      </a:pPr>
                      <a:r>
                        <a:rPr lang="en-IN" sz="1200" b="1">
                          <a:solidFill>
                            <a:schemeClr val="tx2">
                              <a:lumMod val="20000"/>
                              <a:lumOff val="80000"/>
                            </a:schemeClr>
                          </a:solidFill>
                        </a:rPr>
                        <a:t>mood_score</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38.692</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554619792"/>
                  </a:ext>
                </a:extLst>
              </a:tr>
              <a:tr h="272113">
                <a:tc>
                  <a:txBody>
                    <a:bodyPr/>
                    <a:lstStyle/>
                    <a:p>
                      <a:pPr algn="ctr">
                        <a:buNone/>
                      </a:pPr>
                      <a:r>
                        <a:rPr lang="en-IN" sz="1200" b="1">
                          <a:solidFill>
                            <a:schemeClr val="tx2">
                              <a:lumMod val="20000"/>
                              <a:lumOff val="80000"/>
                            </a:schemeClr>
                          </a:solidFill>
                        </a:rPr>
                        <a:t>energy_level</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36.116</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4119463338"/>
                  </a:ext>
                </a:extLst>
              </a:tr>
              <a:tr h="272113">
                <a:tc>
                  <a:txBody>
                    <a:bodyPr/>
                    <a:lstStyle/>
                    <a:p>
                      <a:pPr algn="ctr">
                        <a:buNone/>
                      </a:pPr>
                      <a:r>
                        <a:rPr lang="en-IN" sz="1200" b="1">
                          <a:solidFill>
                            <a:schemeClr val="tx2">
                              <a:lumMod val="20000"/>
                              <a:lumOff val="80000"/>
                            </a:schemeClr>
                          </a:solidFill>
                        </a:rPr>
                        <a:t>bmi</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32.349</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3385110761"/>
                  </a:ext>
                </a:extLst>
              </a:tr>
              <a:tr h="272113">
                <a:tc>
                  <a:txBody>
                    <a:bodyPr/>
                    <a:lstStyle/>
                    <a:p>
                      <a:pPr algn="ctr">
                        <a:buNone/>
                      </a:pPr>
                      <a:r>
                        <a:rPr lang="en-IN" sz="1200" b="1">
                          <a:solidFill>
                            <a:schemeClr val="tx2">
                              <a:lumMod val="20000"/>
                              <a:lumOff val="80000"/>
                            </a:schemeClr>
                          </a:solidFill>
                        </a:rPr>
                        <a:t>age</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28.771</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2571862164"/>
                  </a:ext>
                </a:extLst>
              </a:tr>
              <a:tr h="272113">
                <a:tc>
                  <a:txBody>
                    <a:bodyPr/>
                    <a:lstStyle/>
                    <a:p>
                      <a:pPr algn="ctr">
                        <a:buNone/>
                      </a:pPr>
                      <a:r>
                        <a:rPr lang="en-IN" sz="1200" b="1">
                          <a:solidFill>
                            <a:schemeClr val="tx2">
                              <a:lumMod val="20000"/>
                              <a:lumOff val="80000"/>
                            </a:schemeClr>
                          </a:solidFill>
                        </a:rPr>
                        <a:t>work_hours_lost</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27.253</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3094476160"/>
                  </a:ext>
                </a:extLst>
              </a:tr>
              <a:tr h="272113">
                <a:tc>
                  <a:txBody>
                    <a:bodyPr/>
                    <a:lstStyle/>
                    <a:p>
                      <a:pPr algn="ctr">
                        <a:buNone/>
                      </a:pPr>
                      <a:r>
                        <a:rPr lang="en-IN" sz="1200" b="1">
                          <a:solidFill>
                            <a:schemeClr val="tx2">
                              <a:lumMod val="20000"/>
                              <a:lumOff val="80000"/>
                            </a:schemeClr>
                          </a:solidFill>
                        </a:rPr>
                        <a:t>estrogen_pgml</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22.580</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308570972"/>
                  </a:ext>
                </a:extLst>
              </a:tr>
              <a:tr h="272113">
                <a:tc>
                  <a:txBody>
                    <a:bodyPr/>
                    <a:lstStyle/>
                    <a:p>
                      <a:pPr algn="ctr">
                        <a:buNone/>
                      </a:pPr>
                      <a:r>
                        <a:rPr lang="en-IN" sz="1200" b="1">
                          <a:solidFill>
                            <a:schemeClr val="tx2">
                              <a:lumMod val="20000"/>
                              <a:lumOff val="80000"/>
                            </a:schemeClr>
                          </a:solidFill>
                        </a:rPr>
                        <a:t>progesterone_ngml</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14.326</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3967754907"/>
                  </a:ext>
                </a:extLst>
              </a:tr>
              <a:tr h="272113">
                <a:tc>
                  <a:txBody>
                    <a:bodyPr/>
                    <a:lstStyle/>
                    <a:p>
                      <a:pPr algn="ctr">
                        <a:buNone/>
                      </a:pPr>
                      <a:r>
                        <a:rPr lang="en-IN" sz="1200" b="1">
                          <a:solidFill>
                            <a:schemeClr val="tx2">
                              <a:lumMod val="20000"/>
                              <a:lumOff val="80000"/>
                            </a:schemeClr>
                          </a:solidFill>
                        </a:rPr>
                        <a:t>water_intake_liters</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12.122</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2843102863"/>
                  </a:ext>
                </a:extLst>
              </a:tr>
              <a:tr h="272113">
                <a:tc>
                  <a:txBody>
                    <a:bodyPr/>
                    <a:lstStyle/>
                    <a:p>
                      <a:pPr algn="ctr">
                        <a:buNone/>
                      </a:pPr>
                      <a:r>
                        <a:rPr lang="en-IN" sz="1200" b="1">
                          <a:solidFill>
                            <a:schemeClr val="tx2">
                              <a:lumMod val="20000"/>
                              <a:lumOff val="80000"/>
                            </a:schemeClr>
                          </a:solidFill>
                        </a:rPr>
                        <a:t>cycle_phase_Luteal</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8.691</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158023307"/>
                  </a:ext>
                </a:extLst>
              </a:tr>
              <a:tr h="272113">
                <a:tc>
                  <a:txBody>
                    <a:bodyPr/>
                    <a:lstStyle/>
                    <a:p>
                      <a:pPr algn="ctr">
                        <a:buNone/>
                      </a:pPr>
                      <a:r>
                        <a:rPr lang="en-IN" sz="1200" b="1">
                          <a:solidFill>
                            <a:schemeClr val="tx2">
                              <a:lumMod val="20000"/>
                              <a:lumOff val="80000"/>
                            </a:schemeClr>
                          </a:solidFill>
                        </a:rPr>
                        <a:t>diet_quality</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4.883</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3766009574"/>
                  </a:ext>
                </a:extLst>
              </a:tr>
              <a:tr h="272113">
                <a:tc>
                  <a:txBody>
                    <a:bodyPr/>
                    <a:lstStyle/>
                    <a:p>
                      <a:pPr algn="ctr">
                        <a:buNone/>
                      </a:pPr>
                      <a:r>
                        <a:rPr lang="en-IN" sz="1200" b="1">
                          <a:solidFill>
                            <a:schemeClr val="tx2">
                              <a:lumMod val="20000"/>
                              <a:lumOff val="80000"/>
                            </a:schemeClr>
                          </a:solidFill>
                        </a:rPr>
                        <a:t>caffeine_intake</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3.958</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1106895226"/>
                  </a:ext>
                </a:extLst>
              </a:tr>
              <a:tr h="272113">
                <a:tc>
                  <a:txBody>
                    <a:bodyPr/>
                    <a:lstStyle/>
                    <a:p>
                      <a:pPr algn="ctr">
                        <a:buNone/>
                      </a:pPr>
                      <a:r>
                        <a:rPr lang="en-IN" sz="1200" b="1">
                          <a:solidFill>
                            <a:schemeClr val="tx2">
                              <a:lumMod val="20000"/>
                              <a:lumOff val="80000"/>
                            </a:schemeClr>
                          </a:solidFill>
                        </a:rPr>
                        <a:t>flow_level</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3.886</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1202477682"/>
                  </a:ext>
                </a:extLst>
              </a:tr>
              <a:tr h="272113">
                <a:tc>
                  <a:txBody>
                    <a:bodyPr/>
                    <a:lstStyle/>
                    <a:p>
                      <a:pPr algn="ctr">
                        <a:buNone/>
                      </a:pPr>
                      <a:r>
                        <a:rPr lang="en-IN" sz="1200" b="1">
                          <a:solidFill>
                            <a:schemeClr val="tx2">
                              <a:lumMod val="20000"/>
                              <a:lumOff val="80000"/>
                            </a:schemeClr>
                          </a:solidFill>
                        </a:rPr>
                        <a:t>birth_control_use</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3.147</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3500918375"/>
                  </a:ext>
                </a:extLst>
              </a:tr>
              <a:tr h="272113">
                <a:tc>
                  <a:txBody>
                    <a:bodyPr/>
                    <a:lstStyle/>
                    <a:p>
                      <a:pPr algn="ctr">
                        <a:buNone/>
                      </a:pPr>
                      <a:r>
                        <a:rPr lang="en-IN" sz="1200" b="1">
                          <a:solidFill>
                            <a:schemeClr val="tx2">
                              <a:lumMod val="20000"/>
                              <a:lumOff val="80000"/>
                            </a:schemeClr>
                          </a:solidFill>
                        </a:rPr>
                        <a:t>prepared_before_period</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3.014</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2293446619"/>
                  </a:ext>
                </a:extLst>
              </a:tr>
              <a:tr h="272113">
                <a:tc>
                  <a:txBody>
                    <a:bodyPr/>
                    <a:lstStyle/>
                    <a:p>
                      <a:pPr algn="ctr">
                        <a:buNone/>
                      </a:pPr>
                      <a:r>
                        <a:rPr lang="en-IN" sz="1200" b="1">
                          <a:solidFill>
                            <a:schemeClr val="tx2">
                              <a:lumMod val="20000"/>
                              <a:lumOff val="80000"/>
                            </a:schemeClr>
                          </a:solidFill>
                        </a:rPr>
                        <a:t>ovulation_result_Positive</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2.975</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733578716"/>
                  </a:ext>
                </a:extLst>
              </a:tr>
              <a:tr h="272113">
                <a:tc>
                  <a:txBody>
                    <a:bodyPr/>
                    <a:lstStyle/>
                    <a:p>
                      <a:pPr algn="ctr">
                        <a:buNone/>
                      </a:pPr>
                      <a:r>
                        <a:rPr lang="en-IN" sz="1200" b="1" dirty="0" err="1">
                          <a:solidFill>
                            <a:schemeClr val="tx2">
                              <a:lumMod val="20000"/>
                              <a:lumOff val="80000"/>
                            </a:schemeClr>
                          </a:solidFill>
                        </a:rPr>
                        <a:t>exercise_frequency</a:t>
                      </a:r>
                      <a:endParaRPr lang="en-IN" sz="12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2.302</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3064277592"/>
                  </a:ext>
                </a:extLst>
              </a:tr>
              <a:tr h="272113">
                <a:tc>
                  <a:txBody>
                    <a:bodyPr/>
                    <a:lstStyle/>
                    <a:p>
                      <a:pPr algn="ctr">
                        <a:buNone/>
                      </a:pPr>
                      <a:r>
                        <a:rPr lang="en-IN" sz="1200" b="1">
                          <a:solidFill>
                            <a:schemeClr val="tx2">
                              <a:lumMod val="20000"/>
                              <a:lumOff val="80000"/>
                            </a:schemeClr>
                          </a:solidFill>
                        </a:rPr>
                        <a:t>alcohol_consumption</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1.945</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1144446027"/>
                  </a:ext>
                </a:extLst>
              </a:tr>
              <a:tr h="272113">
                <a:tc>
                  <a:txBody>
                    <a:bodyPr/>
                    <a:lstStyle/>
                    <a:p>
                      <a:pPr algn="ctr">
                        <a:buNone/>
                      </a:pPr>
                      <a:r>
                        <a:rPr lang="en-IN" sz="1200" b="1">
                          <a:solidFill>
                            <a:schemeClr val="tx2">
                              <a:lumMod val="20000"/>
                              <a:lumOff val="80000"/>
                            </a:schemeClr>
                          </a:solidFill>
                        </a:rPr>
                        <a:t>cycle_phase_Menstrual</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1.799</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3294112583"/>
                  </a:ext>
                </a:extLst>
              </a:tr>
              <a:tr h="272113">
                <a:tc>
                  <a:txBody>
                    <a:bodyPr/>
                    <a:lstStyle/>
                    <a:p>
                      <a:pPr algn="ctr">
                        <a:buNone/>
                      </a:pPr>
                      <a:r>
                        <a:rPr lang="en-IN" sz="1200" b="1">
                          <a:solidFill>
                            <a:schemeClr val="tx2">
                              <a:lumMod val="20000"/>
                              <a:lumOff val="80000"/>
                            </a:schemeClr>
                          </a:solidFill>
                        </a:rPr>
                        <a:t>pcos_diagnosed</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1.489</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2443213678"/>
                  </a:ext>
                </a:extLst>
              </a:tr>
              <a:tr h="272113">
                <a:tc>
                  <a:txBody>
                    <a:bodyPr/>
                    <a:lstStyle/>
                    <a:p>
                      <a:pPr algn="ctr">
                        <a:buNone/>
                      </a:pPr>
                      <a:r>
                        <a:rPr lang="en-IN" sz="1200" b="1">
                          <a:solidFill>
                            <a:schemeClr val="tx2">
                              <a:lumMod val="20000"/>
                              <a:lumOff val="80000"/>
                            </a:schemeClr>
                          </a:solidFill>
                        </a:rPr>
                        <a:t>pms_symptoms_Yes</a:t>
                      </a:r>
                      <a:endParaRPr lang="en-IN" sz="1200" b="1">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1.460</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2607280168"/>
                  </a:ext>
                </a:extLst>
              </a:tr>
              <a:tr h="272113">
                <a:tc>
                  <a:txBody>
                    <a:bodyPr/>
                    <a:lstStyle/>
                    <a:p>
                      <a:pPr algn="ctr">
                        <a:buNone/>
                      </a:pPr>
                      <a:r>
                        <a:rPr lang="en-IN" sz="1200" b="1" dirty="0" err="1">
                          <a:solidFill>
                            <a:schemeClr val="tx2">
                              <a:lumMod val="20000"/>
                              <a:lumOff val="80000"/>
                            </a:schemeClr>
                          </a:solidFill>
                        </a:rPr>
                        <a:t>smoking_status</a:t>
                      </a:r>
                      <a:endParaRPr lang="en-IN" sz="12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tc>
                  <a:txBody>
                    <a:bodyPr/>
                    <a:lstStyle/>
                    <a:p>
                      <a:pPr algn="ctr">
                        <a:buNone/>
                      </a:pPr>
                      <a:r>
                        <a:rPr lang="en-IN" sz="1400" b="1" dirty="0">
                          <a:solidFill>
                            <a:schemeClr val="tx2">
                              <a:lumMod val="20000"/>
                              <a:lumOff val="80000"/>
                            </a:schemeClr>
                          </a:solidFill>
                        </a:rPr>
                        <a:t>1.130</a:t>
                      </a:r>
                      <a:endParaRPr lang="en-IN" sz="1400" b="1" dirty="0">
                        <a:solidFill>
                          <a:schemeClr val="tx2">
                            <a:lumMod val="20000"/>
                            <a:lumOff val="80000"/>
                          </a:schemeClr>
                        </a:solidFill>
                        <a:latin typeface="Times New Roman" panose="02020603050405020304" pitchFamily="18" charset="0"/>
                        <a:cs typeface="Times New Roman" panose="02020603050405020304" pitchFamily="18" charset="0"/>
                      </a:endParaRPr>
                    </a:p>
                  </a:txBody>
                  <a:tcPr marL="45011" marR="45011" marT="22506" marB="22506" anchor="ctr"/>
                </a:tc>
                <a:extLst>
                  <a:ext uri="{0D108BD9-81ED-4DB2-BD59-A6C34878D82A}">
                    <a16:rowId xmlns:a16="http://schemas.microsoft.com/office/drawing/2014/main" val="1063853861"/>
                  </a:ext>
                </a:extLst>
              </a:tr>
            </a:tbl>
          </a:graphicData>
        </a:graphic>
      </p:graphicFrame>
      <p:sp>
        <p:nvSpPr>
          <p:cNvPr id="7" name="Shape 1">
            <a:extLst>
              <a:ext uri="{FF2B5EF4-FFF2-40B4-BE49-F238E27FC236}">
                <a16:creationId xmlns:a16="http://schemas.microsoft.com/office/drawing/2014/main" id="{B5DCF115-99FE-350B-D66B-8976293CBD85}"/>
              </a:ext>
            </a:extLst>
          </p:cNvPr>
          <p:cNvSpPr/>
          <p:nvPr/>
        </p:nvSpPr>
        <p:spPr>
          <a:xfrm>
            <a:off x="420811" y="1756611"/>
            <a:ext cx="4488073" cy="5654842"/>
          </a:xfrm>
          <a:prstGeom prst="roundRect">
            <a:avLst>
              <a:gd name="adj" fmla="val 2117"/>
            </a:avLst>
          </a:prstGeom>
          <a:solidFill>
            <a:srgbClr val="5F5153"/>
          </a:solidFill>
          <a:ln/>
        </p:spPr>
        <p:txBody>
          <a:bodyPr/>
          <a:lstStyle/>
          <a:p>
            <a:pPr lvl="0" eaLnBrk="0" fontAlgn="base" hangingPunct="0">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Removing </a:t>
            </a:r>
            <a:r>
              <a:rPr lang="en-US" altLang="en-US" sz="2400" dirty="0" err="1">
                <a:solidFill>
                  <a:schemeClr val="bg1"/>
                </a:solidFill>
                <a:latin typeface="Times New Roman" panose="02020603050405020304" pitchFamily="18" charset="0"/>
                <a:cs typeface="Times New Roman" panose="02020603050405020304" pitchFamily="18" charset="0"/>
              </a:rPr>
              <a:t>overall_health_score</a:t>
            </a:r>
            <a:r>
              <a:rPr lang="en-US" altLang="en-US" sz="2400" dirty="0">
                <a:solidFill>
                  <a:schemeClr val="bg1"/>
                </a:solidFill>
                <a:latin typeface="Times New Roman" panose="02020603050405020304" pitchFamily="18" charset="0"/>
                <a:cs typeface="Times New Roman" panose="02020603050405020304" pitchFamily="18" charset="0"/>
              </a:rPr>
              <a:t> worsened multicollinearity.</a:t>
            </a:r>
          </a:p>
          <a:p>
            <a:pPr lvl="0" eaLnBrk="0" fontAlgn="base" hangingPunct="0">
              <a:spcBef>
                <a:spcPct val="0"/>
              </a:spcBef>
              <a:spcAft>
                <a:spcPct val="0"/>
              </a:spcAft>
            </a:pPr>
            <a:endParaRPr lang="en-US" altLang="en-US" sz="2400"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Several variables now show extremely high VIFs (&gt;50, even &gt;100), indicating severe multicollinearity and unstable estimates. </a:t>
            </a:r>
          </a:p>
          <a:p>
            <a:pPr lvl="0" eaLnBrk="0" fontAlgn="base" hangingPunct="0">
              <a:spcBef>
                <a:spcPct val="0"/>
              </a:spcBef>
              <a:spcAft>
                <a:spcPct val="0"/>
              </a:spcAft>
            </a:pPr>
            <a:endParaRPr lang="en-US" altLang="en-US" sz="2400"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buFontTx/>
              <a:buChar char="•"/>
            </a:pPr>
            <a:r>
              <a:rPr lang="en-US" altLang="en-US" sz="2400" dirty="0">
                <a:solidFill>
                  <a:schemeClr val="bg1"/>
                </a:solidFill>
                <a:latin typeface="Times New Roman" panose="02020603050405020304" pitchFamily="18" charset="0"/>
                <a:cs typeface="Times New Roman" panose="02020603050405020304" pitchFamily="18" charset="0"/>
              </a:rPr>
              <a:t> This suggests </a:t>
            </a:r>
            <a:r>
              <a:rPr lang="en-US" altLang="en-US" sz="2400" dirty="0" err="1">
                <a:solidFill>
                  <a:schemeClr val="bg1"/>
                </a:solidFill>
                <a:latin typeface="Times New Roman" panose="02020603050405020304" pitchFamily="18" charset="0"/>
                <a:cs typeface="Times New Roman" panose="02020603050405020304" pitchFamily="18" charset="0"/>
              </a:rPr>
              <a:t>overall_health_score</a:t>
            </a:r>
            <a:r>
              <a:rPr lang="en-US" altLang="en-US" sz="2400" dirty="0">
                <a:solidFill>
                  <a:schemeClr val="bg1"/>
                </a:solidFill>
                <a:latin typeface="Times New Roman" panose="02020603050405020304" pitchFamily="18" charset="0"/>
                <a:cs typeface="Times New Roman" panose="02020603050405020304" pitchFamily="18" charset="0"/>
              </a:rPr>
              <a:t> was absorbing shared variance, and its removal exposed strong underlying correlations among predictors.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513160-CFF4-79B6-C247-1E04B624ACB3}"/>
              </a:ext>
            </a:extLst>
          </p:cNvPr>
          <p:cNvSpPr txBox="1"/>
          <p:nvPr/>
        </p:nvSpPr>
        <p:spPr>
          <a:xfrm>
            <a:off x="2455524" y="647272"/>
            <a:ext cx="8917969" cy="646331"/>
          </a:xfrm>
          <a:prstGeom prst="rect">
            <a:avLst/>
          </a:prstGeom>
          <a:noFill/>
        </p:spPr>
        <p:txBody>
          <a:bodyPr wrap="square" rtlCol="0">
            <a:spAutoFit/>
          </a:bodyPr>
          <a:lstStyle/>
          <a:p>
            <a:pPr algn="ctr"/>
            <a:r>
              <a:rPr lang="en-IN" sz="3600" b="1" u="sng" dirty="0">
                <a:solidFill>
                  <a:schemeClr val="bg1"/>
                </a:solidFill>
                <a:latin typeface="Algerian" panose="04020705040A02060702" pitchFamily="82" charset="0"/>
              </a:rPr>
              <a:t>MIXED EFFECT MODEL</a:t>
            </a:r>
          </a:p>
        </p:txBody>
      </p:sp>
      <mc:AlternateContent xmlns:mc="http://schemas.openxmlformats.org/markup-compatibility/2006" xmlns:a14="http://schemas.microsoft.com/office/drawing/2010/main">
        <mc:Choice Requires="a14">
          <p:sp>
            <p:nvSpPr>
              <p:cNvPr id="3" name="Shape 1">
                <a:extLst>
                  <a:ext uri="{FF2B5EF4-FFF2-40B4-BE49-F238E27FC236}">
                    <a16:creationId xmlns:a16="http://schemas.microsoft.com/office/drawing/2014/main" id="{C709CE58-8BC7-EFE1-4472-E7F3C938BD42}"/>
                  </a:ext>
                </a:extLst>
              </p:cNvPr>
              <p:cNvSpPr/>
              <p:nvPr/>
            </p:nvSpPr>
            <p:spPr>
              <a:xfrm>
                <a:off x="832208" y="1551398"/>
                <a:ext cx="13007082" cy="6226139"/>
              </a:xfrm>
              <a:prstGeom prst="roundRect">
                <a:avLst>
                  <a:gd name="adj" fmla="val 2117"/>
                </a:avLst>
              </a:prstGeom>
              <a:solidFill>
                <a:srgbClr val="5F5153"/>
              </a:solidFill>
              <a:ln/>
            </p:spPr>
            <p:txBody>
              <a:bodyPr/>
              <a:lstStyle/>
              <a:p>
                <a:r>
                  <a:rPr lang="en-IN" sz="2000" dirty="0">
                    <a:solidFill>
                      <a:schemeClr val="bg1"/>
                    </a:solidFill>
                    <a:latin typeface="Times New Roman" panose="02020603050405020304" pitchFamily="18" charset="0"/>
                    <a:cs typeface="Times New Roman" panose="02020603050405020304" pitchFamily="18" charset="0"/>
                  </a:rPr>
                  <a:t>A </a:t>
                </a:r>
                <a:r>
                  <a:rPr lang="en-IN" sz="2000" b="1" dirty="0">
                    <a:solidFill>
                      <a:schemeClr val="bg1"/>
                    </a:solidFill>
                    <a:latin typeface="Times New Roman" panose="02020603050405020304" pitchFamily="18" charset="0"/>
                    <a:cs typeface="Times New Roman" panose="02020603050405020304" pitchFamily="18" charset="0"/>
                  </a:rPr>
                  <a:t>mixed-effects model</a:t>
                </a:r>
                <a:r>
                  <a:rPr lang="en-IN" sz="2000" dirty="0">
                    <a:solidFill>
                      <a:schemeClr val="bg1"/>
                    </a:solidFill>
                    <a:latin typeface="Times New Roman" panose="02020603050405020304" pitchFamily="18" charset="0"/>
                    <a:cs typeface="Times New Roman" panose="02020603050405020304" pitchFamily="18" charset="0"/>
                  </a:rPr>
                  <a:t> (also called a </a:t>
                </a:r>
                <a:r>
                  <a:rPr lang="en-IN" sz="2000" b="1" dirty="0">
                    <a:solidFill>
                      <a:schemeClr val="bg1"/>
                    </a:solidFill>
                    <a:latin typeface="Times New Roman" panose="02020603050405020304" pitchFamily="18" charset="0"/>
                    <a:cs typeface="Times New Roman" panose="02020603050405020304" pitchFamily="18" charset="0"/>
                  </a:rPr>
                  <a:t>multilevel model</a:t>
                </a:r>
                <a:r>
                  <a:rPr lang="en-IN" sz="2000" dirty="0">
                    <a:solidFill>
                      <a:schemeClr val="bg1"/>
                    </a:solidFill>
                    <a:latin typeface="Times New Roman" panose="02020603050405020304" pitchFamily="18" charset="0"/>
                    <a:cs typeface="Times New Roman" panose="02020603050405020304" pitchFamily="18" charset="0"/>
                  </a:rPr>
                  <a:t> or </a:t>
                </a:r>
                <a:r>
                  <a:rPr lang="en-IN" sz="2000" b="1" dirty="0">
                    <a:solidFill>
                      <a:schemeClr val="bg1"/>
                    </a:solidFill>
                    <a:latin typeface="Times New Roman" panose="02020603050405020304" pitchFamily="18" charset="0"/>
                    <a:cs typeface="Times New Roman" panose="02020603050405020304" pitchFamily="18" charset="0"/>
                  </a:rPr>
                  <a:t>hierarchical linear model</a:t>
                </a:r>
                <a:r>
                  <a:rPr lang="en-IN" sz="2000" dirty="0">
                    <a:solidFill>
                      <a:schemeClr val="bg1"/>
                    </a:solidFill>
                    <a:latin typeface="Times New Roman" panose="02020603050405020304" pitchFamily="18" charset="0"/>
                    <a:cs typeface="Times New Roman" panose="02020603050405020304" pitchFamily="18" charset="0"/>
                  </a:rPr>
                  <a:t>) is used for data that has a </a:t>
                </a:r>
                <a:r>
                  <a:rPr lang="en-IN" sz="2000" b="1" dirty="0">
                    <a:solidFill>
                      <a:schemeClr val="bg1"/>
                    </a:solidFill>
                    <a:latin typeface="Times New Roman" panose="02020603050405020304" pitchFamily="18" charset="0"/>
                    <a:cs typeface="Times New Roman" panose="02020603050405020304" pitchFamily="18" charset="0"/>
                  </a:rPr>
                  <a:t>nested or grouped structure</a:t>
                </a:r>
                <a:r>
                  <a:rPr lang="en-IN" sz="2000" dirty="0">
                    <a:solidFill>
                      <a:schemeClr val="bg1"/>
                    </a:solidFill>
                    <a:latin typeface="Times New Roman" panose="02020603050405020304" pitchFamily="18" charset="0"/>
                    <a:cs typeface="Times New Roman" panose="02020603050405020304" pitchFamily="18" charset="0"/>
                  </a:rPr>
                  <a:t>, where observations are not independent.</a:t>
                </a:r>
              </a:p>
              <a:p>
                <a:r>
                  <a:rPr lang="en-IN" sz="2000" dirty="0">
                    <a:solidFill>
                      <a:schemeClr val="bg1"/>
                    </a:solidFill>
                    <a:latin typeface="Times New Roman" panose="02020603050405020304" pitchFamily="18" charset="0"/>
                    <a:cs typeface="Times New Roman" panose="02020603050405020304" pitchFamily="18" charset="0"/>
                  </a:rPr>
                  <a:t>In our case, </a:t>
                </a:r>
                <a:r>
                  <a:rPr lang="en-IN" sz="2000" b="1" dirty="0">
                    <a:solidFill>
                      <a:schemeClr val="bg1"/>
                    </a:solidFill>
                    <a:latin typeface="Times New Roman" panose="02020603050405020304" pitchFamily="18" charset="0"/>
                    <a:cs typeface="Times New Roman" panose="02020603050405020304" pitchFamily="18" charset="0"/>
                  </a:rPr>
                  <a:t>multiple pain measurements (cycles) are recorded for each user</a:t>
                </a:r>
                <a:r>
                  <a:rPr lang="en-IN" sz="2000" dirty="0">
                    <a:solidFill>
                      <a:schemeClr val="bg1"/>
                    </a:solidFill>
                    <a:latin typeface="Times New Roman" panose="02020603050405020304" pitchFamily="18" charset="0"/>
                    <a:cs typeface="Times New Roman" panose="02020603050405020304" pitchFamily="18" charset="0"/>
                  </a:rPr>
                  <a:t>, </a:t>
                </a:r>
                <a:r>
                  <a:rPr lang="en-IN" sz="2000" dirty="0" err="1">
                    <a:solidFill>
                      <a:schemeClr val="bg1"/>
                    </a:solidFill>
                    <a:latin typeface="Times New Roman" panose="02020603050405020304" pitchFamily="18" charset="0"/>
                    <a:cs typeface="Times New Roman" panose="02020603050405020304" pitchFamily="18" charset="0"/>
                  </a:rPr>
                  <a:t>meaning:Cycles</a:t>
                </a:r>
                <a:r>
                  <a:rPr lang="en-IN" sz="2000" dirty="0">
                    <a:solidFill>
                      <a:schemeClr val="bg1"/>
                    </a:solidFill>
                    <a:latin typeface="Times New Roman" panose="02020603050405020304" pitchFamily="18" charset="0"/>
                    <a:cs typeface="Times New Roman" panose="02020603050405020304" pitchFamily="18" charset="0"/>
                  </a:rPr>
                  <a:t> (level 1) are nested within users (level 2) </a:t>
                </a:r>
              </a:p>
              <a:p>
                <a:r>
                  <a:rPr lang="en-IN" sz="2000" dirty="0">
                    <a:solidFill>
                      <a:schemeClr val="bg1"/>
                    </a:solidFill>
                    <a:latin typeface="Times New Roman" panose="02020603050405020304" pitchFamily="18" charset="0"/>
                    <a:cs typeface="Times New Roman" panose="02020603050405020304" pitchFamily="18" charset="0"/>
                  </a:rPr>
                  <a:t>Thus, observations from the same user are correlated.</a:t>
                </a:r>
              </a:p>
              <a:p>
                <a:r>
                  <a:rPr lang="en-IN" sz="2000" dirty="0">
                    <a:solidFill>
                      <a:schemeClr val="bg1"/>
                    </a:solidFill>
                    <a:latin typeface="Times New Roman" panose="02020603050405020304" pitchFamily="18" charset="0"/>
                    <a:cs typeface="Times New Roman" panose="02020603050405020304" pitchFamily="18" charset="0"/>
                  </a:rPr>
                  <a:t>A mixed-effects model addresses this by combining:</a:t>
                </a:r>
              </a:p>
              <a:p>
                <a:r>
                  <a:rPr lang="en-IN" sz="2000" b="1" dirty="0">
                    <a:solidFill>
                      <a:schemeClr val="bg1"/>
                    </a:solidFill>
                    <a:latin typeface="Times New Roman" panose="02020603050405020304" pitchFamily="18" charset="0"/>
                    <a:cs typeface="Times New Roman" panose="02020603050405020304" pitchFamily="18" charset="0"/>
                  </a:rPr>
                  <a:t>Fixed effects</a:t>
                </a:r>
                <a:r>
                  <a:rPr lang="en-IN" sz="2000" dirty="0">
                    <a:solidFill>
                      <a:schemeClr val="bg1"/>
                    </a:solidFill>
                    <a:latin typeface="Times New Roman" panose="02020603050405020304" pitchFamily="18" charset="0"/>
                    <a:cs typeface="Times New Roman" panose="02020603050405020304" pitchFamily="18" charset="0"/>
                  </a:rPr>
                  <a:t> : population-level effects (shared across all users) </a:t>
                </a:r>
              </a:p>
              <a:p>
                <a:pPr lvl="0"/>
                <a:r>
                  <a:rPr lang="en-IN" sz="2000" b="1" dirty="0">
                    <a:solidFill>
                      <a:schemeClr val="bg1"/>
                    </a:solidFill>
                    <a:latin typeface="Times New Roman" panose="02020603050405020304" pitchFamily="18" charset="0"/>
                    <a:cs typeface="Times New Roman" panose="02020603050405020304" pitchFamily="18" charset="0"/>
                  </a:rPr>
                  <a:t>Random effects</a:t>
                </a:r>
                <a:r>
                  <a:rPr lang="en-IN" sz="2000" dirty="0">
                    <a:solidFill>
                      <a:schemeClr val="bg1"/>
                    </a:solidFill>
                    <a:latin typeface="Times New Roman" panose="02020603050405020304" pitchFamily="18" charset="0"/>
                    <a:cs typeface="Times New Roman" panose="02020603050405020304" pitchFamily="18" charset="0"/>
                  </a:rPr>
                  <a:t> → subject-specific deviations (user-specific variation)</a:t>
                </a:r>
              </a:p>
              <a:p>
                <a:pPr lvl="0"/>
                <a:endParaRPr lang="en-IN" sz="2000" u="sng" dirty="0">
                  <a:solidFill>
                    <a:schemeClr val="bg1"/>
                  </a:solidFill>
                  <a:latin typeface="Times New Roman" panose="02020603050405020304" pitchFamily="18" charset="0"/>
                  <a:cs typeface="Times New Roman" panose="02020603050405020304" pitchFamily="18" charset="0"/>
                </a:endParaRPr>
              </a:p>
              <a:p>
                <a:r>
                  <a:rPr lang="en-IN" sz="2000" b="1" u="sng" dirty="0">
                    <a:solidFill>
                      <a:schemeClr val="bg1"/>
                    </a:solidFill>
                    <a:latin typeface="Times New Roman" panose="02020603050405020304" pitchFamily="18" charset="0"/>
                    <a:cs typeface="Times New Roman" panose="02020603050405020304" pitchFamily="18" charset="0"/>
                  </a:rPr>
                  <a:t>Model Assumptions</a:t>
                </a:r>
              </a:p>
              <a:p>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A linear mixed-effects model assumes:</a:t>
                </a:r>
              </a:p>
              <a:p>
                <a:r>
                  <a:rPr lang="en-IN" sz="2000" b="1" dirty="0">
                    <a:solidFill>
                      <a:schemeClr val="bg1"/>
                    </a:solidFill>
                    <a:latin typeface="Times New Roman" panose="02020603050405020304" pitchFamily="18" charset="0"/>
                    <a:cs typeface="Times New Roman" panose="02020603050405020304" pitchFamily="18" charset="0"/>
                  </a:rPr>
                  <a:t>(1) </a:t>
                </a:r>
                <a:r>
                  <a:rPr lang="en-IN" sz="2000" b="1" dirty="0" err="1">
                    <a:solidFill>
                      <a:schemeClr val="bg1"/>
                    </a:solidFill>
                    <a:latin typeface="Times New Roman" panose="02020603050405020304" pitchFamily="18" charset="0"/>
                    <a:cs typeface="Times New Roman" panose="02020603050405020304" pitchFamily="18" charset="0"/>
                  </a:rPr>
                  <a:t>Linearity:</a:t>
                </a:r>
                <a:r>
                  <a:rPr lang="en-IN" sz="2000" dirty="0" err="1">
                    <a:solidFill>
                      <a:schemeClr val="bg1"/>
                    </a:solidFill>
                    <a:latin typeface="Times New Roman" panose="02020603050405020304" pitchFamily="18" charset="0"/>
                    <a:cs typeface="Times New Roman" panose="02020603050405020304" pitchFamily="18" charset="0"/>
                  </a:rPr>
                  <a:t>The</a:t>
                </a:r>
                <a:r>
                  <a:rPr lang="en-IN" sz="2000" dirty="0">
                    <a:solidFill>
                      <a:schemeClr val="bg1"/>
                    </a:solidFill>
                    <a:latin typeface="Times New Roman" panose="02020603050405020304" pitchFamily="18" charset="0"/>
                    <a:cs typeface="Times New Roman" panose="02020603050405020304" pitchFamily="18" charset="0"/>
                  </a:rPr>
                  <a:t> relationship between predictors and outcome is linear in parameters.</a:t>
                </a:r>
              </a:p>
              <a:p>
                <a:r>
                  <a:rPr lang="en-IN" sz="2000" b="1" dirty="0">
                    <a:solidFill>
                      <a:schemeClr val="bg1"/>
                    </a:solidFill>
                    <a:latin typeface="Times New Roman" panose="02020603050405020304" pitchFamily="18" charset="0"/>
                    <a:cs typeface="Times New Roman" panose="02020603050405020304" pitchFamily="18" charset="0"/>
                  </a:rPr>
                  <a:t>(2) Normality of random effects:</a:t>
                </a:r>
                <a14:m>
                  <m:oMath xmlns:m="http://schemas.openxmlformats.org/officeDocument/2006/math">
                    <m:r>
                      <a:rPr lang="en-IN" sz="2000" b="1" i="0" smtClean="0">
                        <a:solidFill>
                          <a:schemeClr val="bg1"/>
                        </a:solidFill>
                        <a:latin typeface="Cambria Math" panose="02040503050406030204" pitchFamily="18" charset="0"/>
                      </a:rPr>
                      <m:t> </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𝑢</m:t>
                        </m:r>
                      </m:e>
                      <m:sub>
                        <m:r>
                          <a:rPr lang="en-IN" sz="2000" i="1">
                            <a:solidFill>
                              <a:schemeClr val="bg1"/>
                            </a:solidFill>
                            <a:latin typeface="Cambria Math" panose="02040503050406030204" pitchFamily="18" charset="0"/>
                          </a:rPr>
                          <m:t>𝑗</m:t>
                        </m:r>
                      </m:sub>
                    </m:sSub>
                    <m: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𝑁</m:t>
                    </m:r>
                    <m:r>
                      <a:rPr lang="en-IN" sz="2000" i="1">
                        <a:solidFill>
                          <a:schemeClr val="bg1"/>
                        </a:solidFill>
                        <a:latin typeface="Cambria Math" panose="02040503050406030204" pitchFamily="18" charset="0"/>
                      </a:rPr>
                      <m:t>(0,</m:t>
                    </m:r>
                    <m:sSubSup>
                      <m:sSubSupPr>
                        <m:ctrlPr>
                          <a:rPr lang="en-IN" sz="2000" i="1">
                            <a:solidFill>
                              <a:schemeClr val="bg1"/>
                            </a:solidFill>
                            <a:latin typeface="Cambria Math" panose="02040503050406030204" pitchFamily="18" charset="0"/>
                          </a:rPr>
                        </m:ctrlPr>
                      </m:sSubSupPr>
                      <m:e>
                        <m:r>
                          <a:rPr lang="en-IN" sz="2000" i="1">
                            <a:solidFill>
                              <a:schemeClr val="bg1"/>
                            </a:solidFill>
                            <a:latin typeface="Cambria Math" panose="02040503050406030204" pitchFamily="18" charset="0"/>
                          </a:rPr>
                          <m:t>𝜎</m:t>
                        </m:r>
                      </m:e>
                      <m:sub>
                        <m:r>
                          <a:rPr lang="en-IN" sz="2000" i="1">
                            <a:solidFill>
                              <a:schemeClr val="bg1"/>
                            </a:solidFill>
                            <a:latin typeface="Cambria Math" panose="02040503050406030204" pitchFamily="18" charset="0"/>
                          </a:rPr>
                          <m:t>𝑢</m:t>
                        </m:r>
                      </m:sub>
                      <m:sup>
                        <m:r>
                          <a:rPr lang="en-IN" sz="2000" i="1">
                            <a:solidFill>
                              <a:schemeClr val="bg1"/>
                            </a:solidFill>
                            <a:latin typeface="Cambria Math" panose="02040503050406030204" pitchFamily="18" charset="0"/>
                          </a:rPr>
                          <m:t>2</m:t>
                        </m:r>
                      </m:sup>
                    </m:sSubSup>
                    <m:r>
                      <a:rPr lang="en-IN" sz="2000" i="1">
                        <a:solidFill>
                          <a:schemeClr val="bg1"/>
                        </a:solidFill>
                        <a:latin typeface="Cambria Math" panose="02040503050406030204" pitchFamily="18" charset="0"/>
                      </a:rPr>
                      <m:t>)</m:t>
                    </m:r>
                  </m:oMath>
                </a14:m>
                <a:r>
                  <a:rPr lang="en-IN" sz="2000" dirty="0">
                    <a:solidFill>
                      <a:schemeClr val="bg1"/>
                    </a:solidFill>
                    <a:latin typeface="Times New Roman" panose="02020603050405020304" pitchFamily="18" charset="0"/>
                    <a:cs typeface="Times New Roman" panose="02020603050405020304" pitchFamily="18" charset="0"/>
                  </a:rPr>
                  <a:t>.User-specific deviations are normally distributed.</a:t>
                </a:r>
              </a:p>
              <a:p>
                <a:r>
                  <a:rPr lang="en-IN" sz="2000" b="1" dirty="0">
                    <a:solidFill>
                      <a:schemeClr val="bg1"/>
                    </a:solidFill>
                    <a:latin typeface="Times New Roman" panose="02020603050405020304" pitchFamily="18" charset="0"/>
                    <a:cs typeface="Times New Roman" panose="02020603050405020304" pitchFamily="18" charset="0"/>
                  </a:rPr>
                  <a:t>(3) Normality of residuals:</a:t>
                </a:r>
                <a14:m>
                  <m:oMath xmlns:m="http://schemas.openxmlformats.org/officeDocument/2006/math">
                    <m:r>
                      <a:rPr lang="en-IN" sz="2000" b="1" i="0" smtClean="0">
                        <a:solidFill>
                          <a:schemeClr val="bg1"/>
                        </a:solidFill>
                        <a:latin typeface="Cambria Math" panose="02040503050406030204" pitchFamily="18" charset="0"/>
                      </a:rPr>
                      <m:t> </m:t>
                    </m:r>
                    <m:sSub>
                      <m:sSubPr>
                        <m:ctrlPr>
                          <a:rPr lang="en-IN" sz="2000" i="1">
                            <a:solidFill>
                              <a:schemeClr val="bg1"/>
                            </a:solidFill>
                            <a:latin typeface="Cambria Math" panose="02040503050406030204" pitchFamily="18" charset="0"/>
                          </a:rPr>
                        </m:ctrlPr>
                      </m:sSubPr>
                      <m:e>
                        <m:r>
                          <a:rPr lang="en-IN" sz="2000" i="1">
                            <a:solidFill>
                              <a:schemeClr val="bg1"/>
                            </a:solidFill>
                            <a:latin typeface="Cambria Math" panose="02040503050406030204" pitchFamily="18" charset="0"/>
                          </a:rPr>
                          <m:t>𝜖</m:t>
                        </m:r>
                      </m:e>
                      <m:sub>
                        <m:r>
                          <a:rPr lang="en-IN" sz="2000" i="1">
                            <a:solidFill>
                              <a:schemeClr val="bg1"/>
                            </a:solidFill>
                            <a:latin typeface="Cambria Math" panose="02040503050406030204" pitchFamily="18" charset="0"/>
                          </a:rPr>
                          <m:t>𝑖𝑗</m:t>
                        </m:r>
                      </m:sub>
                    </m:sSub>
                    <m:r>
                      <a:rPr lang="en-IN" sz="2000" i="1">
                        <a:solidFill>
                          <a:schemeClr val="bg1"/>
                        </a:solidFill>
                        <a:latin typeface="Cambria Math" panose="02040503050406030204" pitchFamily="18" charset="0"/>
                      </a:rPr>
                      <m:t>∼</m:t>
                    </m:r>
                    <m:r>
                      <a:rPr lang="en-IN" sz="2000" i="1">
                        <a:solidFill>
                          <a:schemeClr val="bg1"/>
                        </a:solidFill>
                        <a:latin typeface="Cambria Math" panose="02040503050406030204" pitchFamily="18" charset="0"/>
                      </a:rPr>
                      <m:t>𝑁</m:t>
                    </m:r>
                    <m:r>
                      <a:rPr lang="en-IN" sz="2000" i="1">
                        <a:solidFill>
                          <a:schemeClr val="bg1"/>
                        </a:solidFill>
                        <a:latin typeface="Cambria Math" panose="02040503050406030204" pitchFamily="18" charset="0"/>
                      </a:rPr>
                      <m:t>(0,</m:t>
                    </m:r>
                    <m:sSup>
                      <m:sSupPr>
                        <m:ctrlPr>
                          <a:rPr lang="en-IN" sz="2000" i="1">
                            <a:solidFill>
                              <a:schemeClr val="bg1"/>
                            </a:solidFill>
                            <a:latin typeface="Cambria Math" panose="02040503050406030204" pitchFamily="18" charset="0"/>
                          </a:rPr>
                        </m:ctrlPr>
                      </m:sSupPr>
                      <m:e>
                        <m:r>
                          <a:rPr lang="en-IN" sz="2000" i="1">
                            <a:solidFill>
                              <a:schemeClr val="bg1"/>
                            </a:solidFill>
                            <a:latin typeface="Cambria Math" panose="02040503050406030204" pitchFamily="18" charset="0"/>
                          </a:rPr>
                          <m:t>𝜎</m:t>
                        </m:r>
                      </m:e>
                      <m:sup>
                        <m:r>
                          <a:rPr lang="en-IN" sz="2000" i="1">
                            <a:solidFill>
                              <a:schemeClr val="bg1"/>
                            </a:solidFill>
                            <a:latin typeface="Cambria Math" panose="02040503050406030204" pitchFamily="18" charset="0"/>
                          </a:rPr>
                          <m:t>2</m:t>
                        </m:r>
                      </m:sup>
                    </m:sSup>
                    <m:r>
                      <a:rPr lang="en-IN" sz="2000" i="1">
                        <a:solidFill>
                          <a:schemeClr val="bg1"/>
                        </a:solidFill>
                        <a:latin typeface="Cambria Math" panose="02040503050406030204" pitchFamily="18" charset="0"/>
                      </a:rPr>
                      <m:t>)</m:t>
                    </m:r>
                  </m:oMath>
                </a14:m>
                <a:endParaRPr lang="en-IN" sz="2000" dirty="0">
                  <a:solidFill>
                    <a:schemeClr val="bg1"/>
                  </a:solidFill>
                  <a:latin typeface="Times New Roman" panose="02020603050405020304" pitchFamily="18" charset="0"/>
                  <a:cs typeface="Times New Roman" panose="02020603050405020304" pitchFamily="18" charset="0"/>
                </a:endParaRPr>
              </a:p>
              <a:p>
                <a:r>
                  <a:rPr lang="en-IN" sz="2000" b="1" dirty="0">
                    <a:solidFill>
                      <a:schemeClr val="bg1"/>
                    </a:solidFill>
                    <a:latin typeface="Times New Roman" panose="02020603050405020304" pitchFamily="18" charset="0"/>
                    <a:cs typeface="Times New Roman" panose="02020603050405020304" pitchFamily="18" charset="0"/>
                  </a:rPr>
                  <a:t>(4) Independence across </a:t>
                </a:r>
                <a:r>
                  <a:rPr lang="en-IN" sz="2000" b="1" dirty="0" err="1">
                    <a:solidFill>
                      <a:schemeClr val="bg1"/>
                    </a:solidFill>
                    <a:latin typeface="Times New Roman" panose="02020603050405020304" pitchFamily="18" charset="0"/>
                    <a:cs typeface="Times New Roman" panose="02020603050405020304" pitchFamily="18" charset="0"/>
                  </a:rPr>
                  <a:t>clusters:</a:t>
                </a:r>
                <a:r>
                  <a:rPr lang="en-IN" sz="2000" dirty="0" err="1">
                    <a:solidFill>
                      <a:schemeClr val="bg1"/>
                    </a:solidFill>
                    <a:latin typeface="Times New Roman" panose="02020603050405020304" pitchFamily="18" charset="0"/>
                    <a:cs typeface="Times New Roman" panose="02020603050405020304" pitchFamily="18" charset="0"/>
                  </a:rPr>
                  <a:t>Observations</a:t>
                </a:r>
                <a:r>
                  <a:rPr lang="en-IN" sz="2000" dirty="0">
                    <a:solidFill>
                      <a:schemeClr val="bg1"/>
                    </a:solidFill>
                    <a:latin typeface="Times New Roman" panose="02020603050405020304" pitchFamily="18" charset="0"/>
                    <a:cs typeface="Times New Roman" panose="02020603050405020304" pitchFamily="18" charset="0"/>
                  </a:rPr>
                  <a:t> are independent </a:t>
                </a:r>
                <a:r>
                  <a:rPr lang="en-IN" sz="2000" b="1" dirty="0">
                    <a:solidFill>
                      <a:schemeClr val="bg1"/>
                    </a:solidFill>
                    <a:latin typeface="Times New Roman" panose="02020603050405020304" pitchFamily="18" charset="0"/>
                    <a:cs typeface="Times New Roman" panose="02020603050405020304" pitchFamily="18" charset="0"/>
                  </a:rPr>
                  <a:t>between users</a:t>
                </a:r>
                <a:r>
                  <a:rPr lang="en-IN" sz="2000" dirty="0">
                    <a:solidFill>
                      <a:schemeClr val="bg1"/>
                    </a:solidFill>
                    <a:latin typeface="Times New Roman" panose="02020603050405020304" pitchFamily="18" charset="0"/>
                    <a:cs typeface="Times New Roman" panose="02020603050405020304" pitchFamily="18" charset="0"/>
                  </a:rPr>
                  <a:t>, but not within users.</a:t>
                </a:r>
              </a:p>
              <a:p>
                <a:r>
                  <a:rPr lang="en-IN" sz="2000" b="1" dirty="0">
                    <a:solidFill>
                      <a:schemeClr val="bg1"/>
                    </a:solidFill>
                    <a:latin typeface="Times New Roman" panose="02020603050405020304" pitchFamily="18" charset="0"/>
                    <a:cs typeface="Times New Roman" panose="02020603050405020304" pitchFamily="18" charset="0"/>
                  </a:rPr>
                  <a:t>(5) </a:t>
                </a:r>
                <a:r>
                  <a:rPr lang="en-IN" sz="2000" b="1" dirty="0" err="1">
                    <a:solidFill>
                      <a:schemeClr val="bg1"/>
                    </a:solidFill>
                    <a:latin typeface="Times New Roman" panose="02020603050405020304" pitchFamily="18" charset="0"/>
                    <a:cs typeface="Times New Roman" panose="02020603050405020304" pitchFamily="18" charset="0"/>
                  </a:rPr>
                  <a:t>Homoscedasticity:</a:t>
                </a:r>
                <a:r>
                  <a:rPr lang="en-IN" sz="2000" dirty="0" err="1">
                    <a:solidFill>
                      <a:schemeClr val="bg1"/>
                    </a:solidFill>
                    <a:latin typeface="Times New Roman" panose="02020603050405020304" pitchFamily="18" charset="0"/>
                    <a:cs typeface="Times New Roman" panose="02020603050405020304" pitchFamily="18" charset="0"/>
                  </a:rPr>
                  <a:t>Constant</a:t>
                </a:r>
                <a:r>
                  <a:rPr lang="en-IN" sz="2000" dirty="0">
                    <a:solidFill>
                      <a:schemeClr val="bg1"/>
                    </a:solidFill>
                    <a:latin typeface="Times New Roman" panose="02020603050405020304" pitchFamily="18" charset="0"/>
                    <a:cs typeface="Times New Roman" panose="02020603050405020304" pitchFamily="18" charset="0"/>
                  </a:rPr>
                  <a:t> variance of residuals across predictors (unless </a:t>
                </a:r>
                <a:r>
                  <a:rPr lang="en-IN" sz="2000" dirty="0" err="1">
                    <a:solidFill>
                      <a:schemeClr val="bg1"/>
                    </a:solidFill>
                    <a:latin typeface="Times New Roman" panose="02020603050405020304" pitchFamily="18" charset="0"/>
                    <a:cs typeface="Times New Roman" panose="02020603050405020304" pitchFamily="18" charset="0"/>
                  </a:rPr>
                  <a:t>modeled</a:t>
                </a:r>
                <a:r>
                  <a:rPr lang="en-IN" sz="2000" dirty="0">
                    <a:solidFill>
                      <a:schemeClr val="bg1"/>
                    </a:solidFill>
                    <a:latin typeface="Times New Roman" panose="02020603050405020304" pitchFamily="18" charset="0"/>
                    <a:cs typeface="Times New Roman" panose="02020603050405020304" pitchFamily="18" charset="0"/>
                  </a:rPr>
                  <a:t> otherwise).</a:t>
                </a:r>
              </a:p>
              <a:p>
                <a:r>
                  <a:rPr lang="en-IN" sz="2000" b="1" dirty="0">
                    <a:solidFill>
                      <a:schemeClr val="bg1"/>
                    </a:solidFill>
                    <a:latin typeface="Times New Roman" panose="02020603050405020304" pitchFamily="18" charset="0"/>
                    <a:cs typeface="Times New Roman" panose="02020603050405020304" pitchFamily="18" charset="0"/>
                  </a:rPr>
                  <a:t>(6) Random effects are independent of predictors</a:t>
                </a:r>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Random intercepts are assumed uncorrelated with covariates.</a:t>
                </a:r>
              </a:p>
              <a:p>
                <a:endParaRPr lang="en-IN" dirty="0"/>
              </a:p>
            </p:txBody>
          </p:sp>
        </mc:Choice>
        <mc:Fallback xmlns="">
          <p:sp>
            <p:nvSpPr>
              <p:cNvPr id="3" name="Shape 1">
                <a:extLst>
                  <a:ext uri="{FF2B5EF4-FFF2-40B4-BE49-F238E27FC236}">
                    <a16:creationId xmlns:a16="http://schemas.microsoft.com/office/drawing/2014/main" id="{C709CE58-8BC7-EFE1-4472-E7F3C938BD42}"/>
                  </a:ext>
                </a:extLst>
              </p:cNvPr>
              <p:cNvSpPr>
                <a:spLocks noRot="1" noChangeAspect="1" noMove="1" noResize="1" noEditPoints="1" noAdjustHandles="1" noChangeArrowheads="1" noChangeShapeType="1" noTextEdit="1"/>
              </p:cNvSpPr>
              <p:nvPr/>
            </p:nvSpPr>
            <p:spPr>
              <a:xfrm>
                <a:off x="832208" y="1551398"/>
                <a:ext cx="13007082" cy="6226139"/>
              </a:xfrm>
              <a:prstGeom prst="roundRect">
                <a:avLst>
                  <a:gd name="adj" fmla="val 2117"/>
                </a:avLst>
              </a:prstGeom>
              <a:blipFill>
                <a:blip r:embed="rId2"/>
                <a:stretch>
                  <a:fillRect l="-234"/>
                </a:stretch>
              </a:blipFill>
              <a:ln/>
            </p:spPr>
            <p:txBody>
              <a:bodyPr/>
              <a:lstStyle/>
              <a:p>
                <a:r>
                  <a:rPr lang="en-IN">
                    <a:noFill/>
                  </a:rPr>
                  <a:t> </a:t>
                </a:r>
              </a:p>
            </p:txBody>
          </p:sp>
        </mc:Fallback>
      </mc:AlternateContent>
    </p:spTree>
    <p:extLst>
      <p:ext uri="{BB962C8B-B14F-4D97-AF65-F5344CB8AC3E}">
        <p14:creationId xmlns:p14="http://schemas.microsoft.com/office/powerpoint/2010/main" val="6545626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2CF0B5-026F-369E-F3B9-A01846D13926}"/>
              </a:ext>
            </a:extLst>
          </p:cNvPr>
          <p:cNvSpPr txBox="1"/>
          <p:nvPr/>
        </p:nvSpPr>
        <p:spPr>
          <a:xfrm>
            <a:off x="2193533" y="226569"/>
            <a:ext cx="9852917" cy="1200329"/>
          </a:xfrm>
          <a:prstGeom prst="rect">
            <a:avLst/>
          </a:prstGeom>
          <a:noFill/>
        </p:spPr>
        <p:txBody>
          <a:bodyPr wrap="square" rtlCol="0">
            <a:spAutoFit/>
          </a:bodyPr>
          <a:lstStyle/>
          <a:p>
            <a:pPr algn="ctr"/>
            <a:r>
              <a:rPr lang="en-IN" sz="3600" b="1" u="sng" dirty="0">
                <a:solidFill>
                  <a:schemeClr val="bg1"/>
                </a:solidFill>
                <a:latin typeface="Algerian" panose="04020705040A02060702" pitchFamily="82" charset="0"/>
              </a:rPr>
              <a:t>WHY MIXED EFFECT MODEL IS APPROPRIATE FOR OUR </a:t>
            </a:r>
            <a:r>
              <a:rPr lang="en-IN" sz="3600" b="1" u="sng" dirty="0" err="1">
                <a:solidFill>
                  <a:schemeClr val="bg1"/>
                </a:solidFill>
                <a:latin typeface="Algerian" panose="04020705040A02060702" pitchFamily="82" charset="0"/>
              </a:rPr>
              <a:t>DATa</a:t>
            </a:r>
            <a:endParaRPr lang="en-IN" sz="3600" b="1" u="sng" dirty="0">
              <a:solidFill>
                <a:schemeClr val="bg1"/>
              </a:solidFill>
              <a:latin typeface="Algerian" panose="04020705040A02060702" pitchFamily="82" charset="0"/>
            </a:endParaRPr>
          </a:p>
        </p:txBody>
      </p:sp>
      <p:sp>
        <p:nvSpPr>
          <p:cNvPr id="4" name="Shape 1">
            <a:extLst>
              <a:ext uri="{FF2B5EF4-FFF2-40B4-BE49-F238E27FC236}">
                <a16:creationId xmlns:a16="http://schemas.microsoft.com/office/drawing/2014/main" id="{61C83764-443D-18ED-C34B-0E857A9207E7}"/>
              </a:ext>
            </a:extLst>
          </p:cNvPr>
          <p:cNvSpPr/>
          <p:nvPr/>
        </p:nvSpPr>
        <p:spPr>
          <a:xfrm>
            <a:off x="832208" y="2190818"/>
            <a:ext cx="5363109" cy="5516012"/>
          </a:xfrm>
          <a:prstGeom prst="roundRect">
            <a:avLst>
              <a:gd name="adj" fmla="val 2117"/>
            </a:avLst>
          </a:prstGeom>
          <a:solidFill>
            <a:srgbClr val="5F5153"/>
          </a:solidFill>
          <a:ln/>
        </p:spPr>
        <p:txBody>
          <a:bodyPr/>
          <a:lstStyle/>
          <a:p>
            <a:r>
              <a:rPr lang="en-IN" b="1" u="sng" dirty="0"/>
              <a:t> </a:t>
            </a:r>
            <a:r>
              <a:rPr lang="en-IN" sz="2000" b="1" u="sng" dirty="0">
                <a:solidFill>
                  <a:schemeClr val="bg1"/>
                </a:solidFill>
                <a:latin typeface="Times New Roman" panose="02020603050405020304" pitchFamily="18" charset="0"/>
                <a:cs typeface="Times New Roman" panose="02020603050405020304" pitchFamily="18" charset="0"/>
              </a:rPr>
              <a:t>Level 1 (Within-user / cycle-level variation):</a:t>
            </a:r>
            <a:endParaRPr lang="en-IN" sz="2000" u="sng" dirty="0">
              <a:solidFill>
                <a:schemeClr val="bg1"/>
              </a:solidFill>
              <a:latin typeface="Times New Roman" panose="02020603050405020304" pitchFamily="18" charset="0"/>
              <a:cs typeface="Times New Roman" panose="02020603050405020304" pitchFamily="18" charset="0"/>
            </a:endParaRPr>
          </a:p>
          <a:p>
            <a:r>
              <a:rPr lang="en-IN" dirty="0">
                <a:solidFill>
                  <a:schemeClr val="bg1"/>
                </a:solidFill>
                <a:latin typeface="Times New Roman" panose="02020603050405020304" pitchFamily="18" charset="0"/>
                <a:cs typeface="Times New Roman" panose="02020603050405020304" pitchFamily="18" charset="0"/>
              </a:rPr>
              <a:t>Variables that change across cycles for the same user:</a:t>
            </a:r>
          </a:p>
          <a:p>
            <a:pPr lvl="0"/>
            <a:r>
              <a:rPr lang="en-IN" dirty="0" err="1">
                <a:solidFill>
                  <a:schemeClr val="bg1"/>
                </a:solidFill>
                <a:latin typeface="Times New Roman" panose="02020603050405020304" pitchFamily="18" charset="0"/>
                <a:cs typeface="Times New Roman" panose="02020603050405020304" pitchFamily="18" charset="0"/>
              </a:rPr>
              <a:t>cycle_length_days</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cycle_phase</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flow_level</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pms_symptoms</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mood_score</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stress_score_cycle</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sleep_hours_cycle</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energy_level</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concentration_score</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work_hours_lost</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estrogen_pgml</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progesterone_ngml</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ovulation_result</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overall_health_score</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log_consistency_score</a:t>
            </a:r>
            <a:r>
              <a:rPr lang="en-IN" dirty="0">
                <a:solidFill>
                  <a:schemeClr val="bg1"/>
                </a:solidFill>
                <a:latin typeface="Times New Roman" panose="02020603050405020304" pitchFamily="18" charset="0"/>
                <a:cs typeface="Times New Roman" panose="02020603050405020304" pitchFamily="18" charset="0"/>
              </a:rPr>
              <a:t> </a:t>
            </a:r>
          </a:p>
          <a:p>
            <a:pPr lvl="0"/>
            <a:r>
              <a:rPr lang="en-IN" dirty="0" err="1">
                <a:solidFill>
                  <a:schemeClr val="bg1"/>
                </a:solidFill>
                <a:latin typeface="Times New Roman" panose="02020603050405020304" pitchFamily="18" charset="0"/>
                <a:cs typeface="Times New Roman" panose="02020603050405020304" pitchFamily="18" charset="0"/>
              </a:rPr>
              <a:t>prepared_before_period</a:t>
            </a:r>
            <a:r>
              <a:rPr lang="en-IN" dirty="0">
                <a:solidFill>
                  <a:schemeClr val="bg1"/>
                </a:solidFill>
                <a:latin typeface="Times New Roman" panose="02020603050405020304" pitchFamily="18" charset="0"/>
                <a:cs typeface="Times New Roman" panose="02020603050405020304" pitchFamily="18" charset="0"/>
              </a:rPr>
              <a:t> </a:t>
            </a:r>
          </a:p>
          <a:p>
            <a:r>
              <a:rPr lang="en-IN" dirty="0" err="1">
                <a:solidFill>
                  <a:schemeClr val="bg1"/>
                </a:solidFill>
                <a:latin typeface="Times New Roman" panose="02020603050405020304" pitchFamily="18" charset="0"/>
                <a:cs typeface="Times New Roman" panose="02020603050405020304" pitchFamily="18" charset="0"/>
              </a:rPr>
              <a:t>cycle_number</a:t>
            </a:r>
            <a:r>
              <a:rPr lang="en-IN" dirty="0">
                <a:solidFill>
                  <a:schemeClr val="bg1"/>
                </a:solidFill>
                <a:latin typeface="Times New Roman" panose="02020603050405020304" pitchFamily="18" charset="0"/>
                <a:cs typeface="Times New Roman" panose="02020603050405020304" pitchFamily="18" charset="0"/>
              </a:rPr>
              <a:t> </a:t>
            </a:r>
          </a:p>
        </p:txBody>
      </p:sp>
      <p:sp>
        <p:nvSpPr>
          <p:cNvPr id="5" name="Shape 1">
            <a:extLst>
              <a:ext uri="{FF2B5EF4-FFF2-40B4-BE49-F238E27FC236}">
                <a16:creationId xmlns:a16="http://schemas.microsoft.com/office/drawing/2014/main" id="{A5D3876F-F5FA-DCB1-637C-E2B66E3DDFE0}"/>
              </a:ext>
            </a:extLst>
          </p:cNvPr>
          <p:cNvSpPr/>
          <p:nvPr/>
        </p:nvSpPr>
        <p:spPr>
          <a:xfrm>
            <a:off x="7827196" y="2194744"/>
            <a:ext cx="5363109" cy="4391117"/>
          </a:xfrm>
          <a:prstGeom prst="roundRect">
            <a:avLst>
              <a:gd name="adj" fmla="val 2117"/>
            </a:avLst>
          </a:prstGeom>
          <a:solidFill>
            <a:srgbClr val="5F5153"/>
          </a:solidFill>
          <a:ln/>
        </p:spPr>
        <p:txBody>
          <a:bodyPr/>
          <a:lstStyle/>
          <a:p>
            <a:r>
              <a:rPr lang="en-IN" b="1" u="sng" dirty="0"/>
              <a:t> </a:t>
            </a:r>
            <a:r>
              <a:rPr lang="en-IN" sz="2000" b="1" u="sng" dirty="0">
                <a:solidFill>
                  <a:schemeClr val="bg1"/>
                </a:solidFill>
                <a:latin typeface="Times New Roman" panose="02020603050405020304" pitchFamily="18" charset="0"/>
                <a:cs typeface="Times New Roman" panose="02020603050405020304" pitchFamily="18" charset="0"/>
              </a:rPr>
              <a:t>Level 2 (Between-user variation):</a:t>
            </a:r>
            <a:endParaRPr lang="en-IN" sz="2000" u="sng"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Variables that are constant for each user:</a:t>
            </a:r>
          </a:p>
          <a:p>
            <a:pPr lvl="0"/>
            <a:r>
              <a:rPr lang="en-IN" sz="2000" dirty="0">
                <a:solidFill>
                  <a:schemeClr val="bg1"/>
                </a:solidFill>
                <a:latin typeface="Times New Roman" panose="02020603050405020304" pitchFamily="18" charset="0"/>
                <a:cs typeface="Times New Roman" panose="02020603050405020304" pitchFamily="18" charset="0"/>
              </a:rPr>
              <a:t>age </a:t>
            </a:r>
          </a:p>
          <a:p>
            <a:pPr lvl="0"/>
            <a:r>
              <a:rPr lang="en-IN" sz="2000" dirty="0" err="1">
                <a:solidFill>
                  <a:schemeClr val="bg1"/>
                </a:solidFill>
                <a:latin typeface="Times New Roman" panose="02020603050405020304" pitchFamily="18" charset="0"/>
                <a:cs typeface="Times New Roman" panose="02020603050405020304" pitchFamily="18" charset="0"/>
              </a:rPr>
              <a:t>bmi</a:t>
            </a:r>
            <a:r>
              <a:rPr lang="en-IN" sz="2000" dirty="0">
                <a:solidFill>
                  <a:schemeClr val="bg1"/>
                </a:solidFill>
                <a:latin typeface="Times New Roman" panose="02020603050405020304" pitchFamily="18" charset="0"/>
                <a:cs typeface="Times New Roman" panose="02020603050405020304" pitchFamily="18" charset="0"/>
              </a:rPr>
              <a:t> </a:t>
            </a:r>
          </a:p>
          <a:p>
            <a:pPr lvl="0"/>
            <a:r>
              <a:rPr lang="en-IN" sz="2000" dirty="0" err="1">
                <a:solidFill>
                  <a:schemeClr val="bg1"/>
                </a:solidFill>
                <a:latin typeface="Times New Roman" panose="02020603050405020304" pitchFamily="18" charset="0"/>
                <a:cs typeface="Times New Roman" panose="02020603050405020304" pitchFamily="18" charset="0"/>
              </a:rPr>
              <a:t>diet_quality</a:t>
            </a:r>
            <a:r>
              <a:rPr lang="en-IN" sz="2000" dirty="0">
                <a:solidFill>
                  <a:schemeClr val="bg1"/>
                </a:solidFill>
                <a:latin typeface="Times New Roman" panose="02020603050405020304" pitchFamily="18" charset="0"/>
                <a:cs typeface="Times New Roman" panose="02020603050405020304" pitchFamily="18" charset="0"/>
              </a:rPr>
              <a:t> </a:t>
            </a:r>
          </a:p>
          <a:p>
            <a:pPr lvl="0"/>
            <a:r>
              <a:rPr lang="en-IN" sz="2000" dirty="0" err="1">
                <a:solidFill>
                  <a:schemeClr val="bg1"/>
                </a:solidFill>
                <a:latin typeface="Times New Roman" panose="02020603050405020304" pitchFamily="18" charset="0"/>
                <a:cs typeface="Times New Roman" panose="02020603050405020304" pitchFamily="18" charset="0"/>
              </a:rPr>
              <a:t>exercise_frequency</a:t>
            </a:r>
            <a:r>
              <a:rPr lang="en-IN" sz="2000" dirty="0">
                <a:solidFill>
                  <a:schemeClr val="bg1"/>
                </a:solidFill>
                <a:latin typeface="Times New Roman" panose="02020603050405020304" pitchFamily="18" charset="0"/>
                <a:cs typeface="Times New Roman" panose="02020603050405020304" pitchFamily="18" charset="0"/>
              </a:rPr>
              <a:t> </a:t>
            </a:r>
          </a:p>
          <a:p>
            <a:pPr lvl="0"/>
            <a:r>
              <a:rPr lang="en-IN" sz="2000" dirty="0" err="1">
                <a:solidFill>
                  <a:schemeClr val="bg1"/>
                </a:solidFill>
                <a:latin typeface="Times New Roman" panose="02020603050405020304" pitchFamily="18" charset="0"/>
                <a:cs typeface="Times New Roman" panose="02020603050405020304" pitchFamily="18" charset="0"/>
              </a:rPr>
              <a:t>caffeine_intake</a:t>
            </a:r>
            <a:r>
              <a:rPr lang="en-IN" sz="2000" dirty="0">
                <a:solidFill>
                  <a:schemeClr val="bg1"/>
                </a:solidFill>
                <a:latin typeface="Times New Roman" panose="02020603050405020304" pitchFamily="18" charset="0"/>
                <a:cs typeface="Times New Roman" panose="02020603050405020304" pitchFamily="18" charset="0"/>
              </a:rPr>
              <a:t> </a:t>
            </a:r>
          </a:p>
          <a:p>
            <a:pPr lvl="0"/>
            <a:r>
              <a:rPr lang="en-IN" sz="2000" dirty="0" err="1">
                <a:solidFill>
                  <a:schemeClr val="bg1"/>
                </a:solidFill>
                <a:latin typeface="Times New Roman" panose="02020603050405020304" pitchFamily="18" charset="0"/>
                <a:cs typeface="Times New Roman" panose="02020603050405020304" pitchFamily="18" charset="0"/>
              </a:rPr>
              <a:t>water_intake_liters</a:t>
            </a:r>
            <a:r>
              <a:rPr lang="en-IN" sz="2000" dirty="0">
                <a:solidFill>
                  <a:schemeClr val="bg1"/>
                </a:solidFill>
                <a:latin typeface="Times New Roman" panose="02020603050405020304" pitchFamily="18" charset="0"/>
                <a:cs typeface="Times New Roman" panose="02020603050405020304" pitchFamily="18" charset="0"/>
              </a:rPr>
              <a:t> </a:t>
            </a:r>
          </a:p>
          <a:p>
            <a:pPr lvl="0"/>
            <a:r>
              <a:rPr lang="en-IN" sz="2000" dirty="0" err="1">
                <a:solidFill>
                  <a:schemeClr val="bg1"/>
                </a:solidFill>
                <a:latin typeface="Times New Roman" panose="02020603050405020304" pitchFamily="18" charset="0"/>
                <a:cs typeface="Times New Roman" panose="02020603050405020304" pitchFamily="18" charset="0"/>
              </a:rPr>
              <a:t>alcohol_consumption</a:t>
            </a:r>
            <a:r>
              <a:rPr lang="en-IN" sz="2000" dirty="0">
                <a:solidFill>
                  <a:schemeClr val="bg1"/>
                </a:solidFill>
                <a:latin typeface="Times New Roman" panose="02020603050405020304" pitchFamily="18" charset="0"/>
                <a:cs typeface="Times New Roman" panose="02020603050405020304" pitchFamily="18" charset="0"/>
              </a:rPr>
              <a:t> </a:t>
            </a:r>
          </a:p>
          <a:p>
            <a:pPr lvl="0"/>
            <a:r>
              <a:rPr lang="en-IN" sz="2000" dirty="0" err="1">
                <a:solidFill>
                  <a:schemeClr val="bg1"/>
                </a:solidFill>
                <a:latin typeface="Times New Roman" panose="02020603050405020304" pitchFamily="18" charset="0"/>
                <a:cs typeface="Times New Roman" panose="02020603050405020304" pitchFamily="18" charset="0"/>
              </a:rPr>
              <a:t>smoking_status</a:t>
            </a:r>
            <a:r>
              <a:rPr lang="en-IN" sz="2000" dirty="0">
                <a:solidFill>
                  <a:schemeClr val="bg1"/>
                </a:solidFill>
                <a:latin typeface="Times New Roman" panose="02020603050405020304" pitchFamily="18" charset="0"/>
                <a:cs typeface="Times New Roman" panose="02020603050405020304" pitchFamily="18" charset="0"/>
              </a:rPr>
              <a:t> </a:t>
            </a:r>
          </a:p>
          <a:p>
            <a:pPr lvl="0"/>
            <a:r>
              <a:rPr lang="en-IN" sz="2000" dirty="0" err="1">
                <a:solidFill>
                  <a:schemeClr val="bg1"/>
                </a:solidFill>
                <a:latin typeface="Times New Roman" panose="02020603050405020304" pitchFamily="18" charset="0"/>
                <a:cs typeface="Times New Roman" panose="02020603050405020304" pitchFamily="18" charset="0"/>
              </a:rPr>
              <a:t>birth_control_use</a:t>
            </a:r>
            <a:r>
              <a:rPr lang="en-IN" sz="2000" dirty="0">
                <a:solidFill>
                  <a:schemeClr val="bg1"/>
                </a:solidFill>
                <a:latin typeface="Times New Roman" panose="02020603050405020304" pitchFamily="18" charset="0"/>
                <a:cs typeface="Times New Roman" panose="02020603050405020304" pitchFamily="18" charset="0"/>
              </a:rPr>
              <a:t> </a:t>
            </a:r>
          </a:p>
          <a:p>
            <a:pPr lvl="0"/>
            <a:r>
              <a:rPr lang="en-IN" sz="2000" dirty="0" err="1">
                <a:solidFill>
                  <a:schemeClr val="bg1"/>
                </a:solidFill>
                <a:latin typeface="Times New Roman" panose="02020603050405020304" pitchFamily="18" charset="0"/>
                <a:cs typeface="Times New Roman" panose="02020603050405020304" pitchFamily="18" charset="0"/>
              </a:rPr>
              <a:t>pcos_diagnosed</a:t>
            </a:r>
            <a:r>
              <a:rPr lang="en-IN" sz="2000" dirty="0">
                <a:solidFill>
                  <a:schemeClr val="bg1"/>
                </a:solidFill>
                <a:latin typeface="Times New Roman" panose="02020603050405020304" pitchFamily="18" charset="0"/>
                <a:cs typeface="Times New Roman" panose="02020603050405020304" pitchFamily="18" charset="0"/>
              </a:rPr>
              <a:t> </a:t>
            </a:r>
          </a:p>
          <a:p>
            <a:pPr lvl="0"/>
            <a:r>
              <a:rPr lang="en-IN" sz="2000" dirty="0" err="1">
                <a:solidFill>
                  <a:schemeClr val="bg1"/>
                </a:solidFill>
                <a:latin typeface="Times New Roman" panose="02020603050405020304" pitchFamily="18" charset="0"/>
                <a:cs typeface="Times New Roman" panose="02020603050405020304" pitchFamily="18" charset="0"/>
              </a:rPr>
              <a:t>stress_score_baseline</a:t>
            </a:r>
            <a:r>
              <a:rPr lang="en-IN" sz="2000" dirty="0">
                <a:solidFill>
                  <a:schemeClr val="bg1"/>
                </a:solidFill>
                <a:latin typeface="Times New Roman" panose="02020603050405020304" pitchFamily="18" charset="0"/>
                <a:cs typeface="Times New Roman" panose="02020603050405020304" pitchFamily="18" charset="0"/>
              </a:rPr>
              <a:t> </a:t>
            </a:r>
          </a:p>
          <a:p>
            <a:endParaRPr lang="en-IN" dirty="0">
              <a:solidFill>
                <a:schemeClr val="bg1"/>
              </a:solidFill>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C43B4712-EA35-FAAF-6BDC-32C82EB2163C}"/>
              </a:ext>
            </a:extLst>
          </p:cNvPr>
          <p:cNvSpPr txBox="1"/>
          <p:nvPr/>
        </p:nvSpPr>
        <p:spPr>
          <a:xfrm>
            <a:off x="832208" y="1617929"/>
            <a:ext cx="6092575" cy="400110"/>
          </a:xfrm>
          <a:prstGeom prst="rect">
            <a:avLst/>
          </a:prstGeom>
          <a:noFill/>
        </p:spPr>
        <p:txBody>
          <a:bodyPr wrap="square" rtlCol="0">
            <a:spAutoFit/>
          </a:bodyPr>
          <a:lstStyle/>
          <a:p>
            <a:r>
              <a:rPr lang="en-IN" sz="2000" dirty="0">
                <a:solidFill>
                  <a:schemeClr val="bg1"/>
                </a:solidFill>
                <a:latin typeface="Times New Roman" panose="02020603050405020304" pitchFamily="18" charset="0"/>
                <a:cs typeface="Times New Roman" panose="02020603050405020304" pitchFamily="18" charset="0"/>
              </a:rPr>
              <a:t>Our dataset has</a:t>
            </a:r>
            <a:r>
              <a:rPr lang="en-IN" sz="2000" dirty="0">
                <a:solidFill>
                  <a:schemeClr val="bg1"/>
                </a:solidFill>
              </a:rPr>
              <a:t>:</a:t>
            </a:r>
          </a:p>
        </p:txBody>
      </p:sp>
      <p:sp>
        <p:nvSpPr>
          <p:cNvPr id="7" name="Shape 1">
            <a:extLst>
              <a:ext uri="{FF2B5EF4-FFF2-40B4-BE49-F238E27FC236}">
                <a16:creationId xmlns:a16="http://schemas.microsoft.com/office/drawing/2014/main" id="{A5ACC50A-B49E-33BB-FB8D-C95D85335862}"/>
              </a:ext>
            </a:extLst>
          </p:cNvPr>
          <p:cNvSpPr/>
          <p:nvPr/>
        </p:nvSpPr>
        <p:spPr>
          <a:xfrm>
            <a:off x="7827197" y="6671353"/>
            <a:ext cx="5363109" cy="1053729"/>
          </a:xfrm>
          <a:prstGeom prst="roundRect">
            <a:avLst>
              <a:gd name="adj" fmla="val 2117"/>
            </a:avLst>
          </a:prstGeom>
          <a:solidFill>
            <a:srgbClr val="5F5153"/>
          </a:solidFill>
          <a:ln/>
        </p:spPr>
        <p:txBody>
          <a:bodyPr/>
          <a:lstStyle/>
          <a:p>
            <a:r>
              <a:rPr lang="en-IN" sz="2000" dirty="0">
                <a:solidFill>
                  <a:schemeClr val="bg1"/>
                </a:solidFill>
                <a:latin typeface="Times New Roman" panose="02020603050405020304" pitchFamily="18" charset="0"/>
                <a:cs typeface="Times New Roman" panose="02020603050405020304" pitchFamily="18" charset="0"/>
              </a:rPr>
              <a:t>Since cycle observations are repeated within users, independence is violated, making mixed </a:t>
            </a:r>
            <a:r>
              <a:rPr lang="en-IN" sz="2000" dirty="0" err="1">
                <a:solidFill>
                  <a:schemeClr val="bg1"/>
                </a:solidFill>
                <a:latin typeface="Times New Roman" panose="02020603050405020304" pitchFamily="18" charset="0"/>
                <a:cs typeface="Times New Roman" panose="02020603050405020304" pitchFamily="18" charset="0"/>
              </a:rPr>
              <a:t>modeling</a:t>
            </a:r>
            <a:r>
              <a:rPr lang="en-IN" sz="2000" dirty="0">
                <a:solidFill>
                  <a:schemeClr val="bg1"/>
                </a:solidFill>
                <a:latin typeface="Times New Roman" panose="02020603050405020304" pitchFamily="18" charset="0"/>
                <a:cs typeface="Times New Roman" panose="02020603050405020304" pitchFamily="18" charset="0"/>
              </a:rPr>
              <a:t> necessary.</a:t>
            </a:r>
          </a:p>
        </p:txBody>
      </p:sp>
    </p:spTree>
    <p:extLst>
      <p:ext uri="{BB962C8B-B14F-4D97-AF65-F5344CB8AC3E}">
        <p14:creationId xmlns:p14="http://schemas.microsoft.com/office/powerpoint/2010/main" val="23804787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2646" y="372083"/>
            <a:ext cx="7684175" cy="553760"/>
          </a:xfrm>
          <a:prstGeom prst="rect">
            <a:avLst/>
          </a:prstGeom>
          <a:noFill/>
          <a:ln/>
        </p:spPr>
        <p:txBody>
          <a:bodyPr wrap="none" lIns="0" tIns="0" rIns="0" bIns="0" rtlCol="0" anchor="t"/>
          <a:lstStyle/>
          <a:p>
            <a:pPr marL="0" indent="0" algn="l">
              <a:lnSpc>
                <a:spcPts val="4350"/>
              </a:lnSpc>
              <a:buNone/>
            </a:pPr>
            <a:r>
              <a:rPr lang="en-US" sz="3450" b="1" u="sng" dirty="0">
                <a:solidFill>
                  <a:srgbClr val="FFF8F5"/>
                </a:solidFill>
                <a:latin typeface="Algerian" panose="04020705040A02060702" pitchFamily="82" charset="0"/>
                <a:ea typeface="Noto Serif HK Bold" pitchFamily="34" charset="-122"/>
                <a:cs typeface="Noto Serif HK Bold" pitchFamily="34" charset="-120"/>
              </a:rPr>
              <a:t>Model 1: Biological Variables Only</a:t>
            </a:r>
            <a:endParaRPr lang="en-US" sz="3450" u="sng" dirty="0">
              <a:latin typeface="Algerian" panose="04020705040A02060702" pitchFamily="82" charset="0"/>
            </a:endParaRPr>
          </a:p>
        </p:txBody>
      </p:sp>
      <p:sp>
        <p:nvSpPr>
          <p:cNvPr id="5" name="Text 3"/>
          <p:cNvSpPr/>
          <p:nvPr/>
        </p:nvSpPr>
        <p:spPr>
          <a:xfrm>
            <a:off x="7680966" y="1747341"/>
            <a:ext cx="2215039" cy="276820"/>
          </a:xfrm>
          <a:prstGeom prst="rect">
            <a:avLst/>
          </a:prstGeom>
          <a:noFill/>
          <a:ln/>
        </p:spPr>
        <p:txBody>
          <a:bodyPr wrap="none" lIns="0" tIns="0" rIns="0" bIns="0" rtlCol="0" anchor="t"/>
          <a:lstStyle/>
          <a:p>
            <a:pPr marL="0" indent="0" algn="l">
              <a:lnSpc>
                <a:spcPts val="2150"/>
              </a:lnSpc>
              <a:buNone/>
            </a:pPr>
            <a:endParaRPr lang="en-US" sz="2400" dirty="0">
              <a:latin typeface="Arial Rounded MT Bold" panose="020F0704030504030204" pitchFamily="34" charset="0"/>
            </a:endParaRPr>
          </a:p>
        </p:txBody>
      </p:sp>
      <p:sp>
        <p:nvSpPr>
          <p:cNvPr id="6" name="Text 4"/>
          <p:cNvSpPr/>
          <p:nvPr/>
        </p:nvSpPr>
        <p:spPr>
          <a:xfrm>
            <a:off x="5518060" y="4029105"/>
            <a:ext cx="5897523" cy="1756172"/>
          </a:xfrm>
          <a:prstGeom prst="rect">
            <a:avLst/>
          </a:prstGeom>
          <a:noFill/>
          <a:ln/>
        </p:spPr>
        <p:txBody>
          <a:bodyPr wrap="square" lIns="0" tIns="0" rIns="0" bIns="0" rtlCol="0" anchor="t"/>
          <a:lstStyle/>
          <a:p>
            <a:pPr>
              <a:lnSpc>
                <a:spcPts val="1950"/>
              </a:lnSpc>
            </a:pPr>
            <a:endParaRPr lang="en-US" sz="2000" b="1" dirty="0">
              <a:solidFill>
                <a:schemeClr val="bg2"/>
              </a:solidFill>
              <a:latin typeface="Arial Rounded MT Bold" panose="020F0704030504030204" pitchFamily="34" charset="0"/>
            </a:endParaRPr>
          </a:p>
        </p:txBody>
      </p:sp>
      <p:pic>
        <p:nvPicPr>
          <p:cNvPr id="8" name="Image 0" descr="preencoded.png"/>
          <p:cNvPicPr>
            <a:picLocks noChangeAspect="1"/>
          </p:cNvPicPr>
          <p:nvPr/>
        </p:nvPicPr>
        <p:blipFill>
          <a:blip r:embed="rId3"/>
          <a:stretch>
            <a:fillRect/>
          </a:stretch>
        </p:blipFill>
        <p:spPr>
          <a:xfrm>
            <a:off x="596858" y="1586882"/>
            <a:ext cx="2215039" cy="2215040"/>
          </a:xfrm>
          <a:prstGeom prst="rect">
            <a:avLst/>
          </a:prstGeom>
        </p:spPr>
      </p:pic>
      <p:sp>
        <p:nvSpPr>
          <p:cNvPr id="10" name="Text 7"/>
          <p:cNvSpPr/>
          <p:nvPr/>
        </p:nvSpPr>
        <p:spPr>
          <a:xfrm>
            <a:off x="3868823" y="6436829"/>
            <a:ext cx="6027182" cy="252413"/>
          </a:xfrm>
          <a:prstGeom prst="rect">
            <a:avLst/>
          </a:prstGeom>
          <a:noFill/>
          <a:ln/>
        </p:spPr>
        <p:txBody>
          <a:bodyPr wrap="none" lIns="0" tIns="0" rIns="0" bIns="0" rtlCol="0" anchor="t"/>
          <a:lstStyle/>
          <a:p>
            <a:pPr marL="0" indent="0" algn="ctr">
              <a:lnSpc>
                <a:spcPts val="1950"/>
              </a:lnSpc>
              <a:buNone/>
            </a:pPr>
            <a:endParaRPr lang="en-US" sz="1350" dirty="0"/>
          </a:p>
        </p:txBody>
      </p:sp>
      <p:sp>
        <p:nvSpPr>
          <p:cNvPr id="11" name="Text 8"/>
          <p:cNvSpPr/>
          <p:nvPr/>
        </p:nvSpPr>
        <p:spPr>
          <a:xfrm>
            <a:off x="9608701" y="4684990"/>
            <a:ext cx="1612821" cy="327779"/>
          </a:xfrm>
          <a:prstGeom prst="rect">
            <a:avLst/>
          </a:prstGeom>
          <a:noFill/>
          <a:ln/>
        </p:spPr>
        <p:txBody>
          <a:bodyPr wrap="none" lIns="0" tIns="0" rIns="0" bIns="0" rtlCol="0" anchor="t"/>
          <a:lstStyle/>
          <a:p>
            <a:pPr marL="0" indent="0" algn="ctr">
              <a:lnSpc>
                <a:spcPts val="2550"/>
              </a:lnSpc>
              <a:buNone/>
            </a:pPr>
            <a:endParaRPr lang="en-US" sz="2550" dirty="0"/>
          </a:p>
        </p:txBody>
      </p:sp>
      <p:sp>
        <p:nvSpPr>
          <p:cNvPr id="13" name="Text 9"/>
          <p:cNvSpPr/>
          <p:nvPr/>
        </p:nvSpPr>
        <p:spPr>
          <a:xfrm>
            <a:off x="9307711" y="6015037"/>
            <a:ext cx="2215039" cy="276820"/>
          </a:xfrm>
          <a:prstGeom prst="rect">
            <a:avLst/>
          </a:prstGeom>
          <a:noFill/>
          <a:ln/>
        </p:spPr>
        <p:txBody>
          <a:bodyPr wrap="none" lIns="0" tIns="0" rIns="0" bIns="0" rtlCol="0" anchor="t"/>
          <a:lstStyle/>
          <a:p>
            <a:pPr marL="0" indent="0" algn="ctr">
              <a:lnSpc>
                <a:spcPts val="2150"/>
              </a:lnSpc>
              <a:buNone/>
            </a:pPr>
            <a:endParaRPr lang="en-US" sz="1700" dirty="0"/>
          </a:p>
        </p:txBody>
      </p:sp>
      <p:sp>
        <p:nvSpPr>
          <p:cNvPr id="14" name="Text 10"/>
          <p:cNvSpPr/>
          <p:nvPr/>
        </p:nvSpPr>
        <p:spPr>
          <a:xfrm>
            <a:off x="4429393" y="6351934"/>
            <a:ext cx="8433849" cy="197171"/>
          </a:xfrm>
          <a:prstGeom prst="rect">
            <a:avLst/>
          </a:prstGeom>
          <a:noFill/>
          <a:ln/>
        </p:spPr>
        <p:txBody>
          <a:bodyPr wrap="none" lIns="0" tIns="0" rIns="0" bIns="0" rtlCol="0" anchor="t"/>
          <a:lstStyle/>
          <a:p>
            <a:pPr marL="0" indent="0" algn="ctr">
              <a:lnSpc>
                <a:spcPts val="1950"/>
              </a:lnSpc>
              <a:buNone/>
            </a:pPr>
            <a:endParaRPr lang="en-US" sz="1350" dirty="0"/>
          </a:p>
        </p:txBody>
      </p:sp>
      <p:sp>
        <p:nvSpPr>
          <p:cNvPr id="17" name="Text 12"/>
          <p:cNvSpPr/>
          <p:nvPr/>
        </p:nvSpPr>
        <p:spPr>
          <a:xfrm>
            <a:off x="1777246" y="6965633"/>
            <a:ext cx="11474410" cy="504825"/>
          </a:xfrm>
          <a:prstGeom prst="rect">
            <a:avLst/>
          </a:prstGeom>
          <a:noFill/>
          <a:ln/>
        </p:spPr>
        <p:txBody>
          <a:bodyPr wrap="square" lIns="0" tIns="0" rIns="0" bIns="0" rtlCol="0" anchor="t"/>
          <a:lstStyle/>
          <a:p>
            <a:pPr marL="0" indent="0" algn="l">
              <a:lnSpc>
                <a:spcPts val="1950"/>
              </a:lnSpc>
              <a:buNone/>
            </a:pPr>
            <a:endParaRPr lang="en-US" sz="1350" dirty="0"/>
          </a:p>
        </p:txBody>
      </p:sp>
      <p:pic>
        <p:nvPicPr>
          <p:cNvPr id="22" name="Image 0" descr="preencoded.png">
            <a:extLst>
              <a:ext uri="{FF2B5EF4-FFF2-40B4-BE49-F238E27FC236}">
                <a16:creationId xmlns:a16="http://schemas.microsoft.com/office/drawing/2014/main" id="{F6B7A981-460D-4FCF-4251-AEABEAB09857}"/>
              </a:ext>
            </a:extLst>
          </p:cNvPr>
          <p:cNvPicPr>
            <a:picLocks noChangeAspect="1"/>
          </p:cNvPicPr>
          <p:nvPr/>
        </p:nvPicPr>
        <p:blipFill>
          <a:blip r:embed="rId3"/>
          <a:stretch>
            <a:fillRect/>
          </a:stretch>
        </p:blipFill>
        <p:spPr>
          <a:xfrm>
            <a:off x="4920968" y="1605868"/>
            <a:ext cx="2228214" cy="2228215"/>
          </a:xfrm>
          <a:prstGeom prst="rect">
            <a:avLst/>
          </a:prstGeom>
        </p:spPr>
      </p:pic>
      <p:sp>
        <p:nvSpPr>
          <p:cNvPr id="7" name="Shape 1">
            <a:extLst>
              <a:ext uri="{FF2B5EF4-FFF2-40B4-BE49-F238E27FC236}">
                <a16:creationId xmlns:a16="http://schemas.microsoft.com/office/drawing/2014/main" id="{DB627611-D76E-D32B-E930-F1B9DB2A19B0}"/>
              </a:ext>
            </a:extLst>
          </p:cNvPr>
          <p:cNvSpPr/>
          <p:nvPr/>
        </p:nvSpPr>
        <p:spPr>
          <a:xfrm>
            <a:off x="7759115" y="1212277"/>
            <a:ext cx="6359703" cy="3981164"/>
          </a:xfrm>
          <a:prstGeom prst="roundRect">
            <a:avLst>
              <a:gd name="adj" fmla="val 2117"/>
            </a:avLst>
          </a:prstGeom>
          <a:solidFill>
            <a:srgbClr val="5F5153"/>
          </a:solidFill>
          <a:ln/>
        </p:spPr>
        <p:txBody>
          <a:bodyPr/>
          <a:lstStyle/>
          <a:p>
            <a:pPr eaLnBrk="0" fontAlgn="base" hangingPunct="0">
              <a:spcBef>
                <a:spcPct val="0"/>
              </a:spcBef>
              <a:spcAft>
                <a:spcPct val="0"/>
              </a:spcAft>
            </a:pPr>
            <a:r>
              <a:rPr lang="en-IN" sz="2000" dirty="0">
                <a:solidFill>
                  <a:schemeClr val="bg1"/>
                </a:solidFill>
                <a:latin typeface="Times New Roman" panose="02020603050405020304" pitchFamily="18" charset="0"/>
                <a:cs typeface="Times New Roman" panose="02020603050405020304" pitchFamily="18" charset="0"/>
              </a:rPr>
              <a:t>The model </a:t>
            </a:r>
            <a:r>
              <a:rPr lang="en-IN" sz="2000" b="1" dirty="0">
                <a:solidFill>
                  <a:schemeClr val="bg1"/>
                </a:solidFill>
                <a:latin typeface="Times New Roman" panose="02020603050405020304" pitchFamily="18" charset="0"/>
                <a:cs typeface="Times New Roman" panose="02020603050405020304" pitchFamily="18" charset="0"/>
              </a:rPr>
              <a:t>converged successfully</a:t>
            </a:r>
            <a:r>
              <a:rPr lang="en-IN" sz="2000" dirty="0">
                <a:solidFill>
                  <a:schemeClr val="bg1"/>
                </a:solidFill>
                <a:latin typeface="Times New Roman" panose="02020603050405020304" pitchFamily="18" charset="0"/>
                <a:cs typeface="Times New Roman" panose="02020603050405020304" pitchFamily="18" charset="0"/>
              </a:rPr>
              <a:t>, so estimates are reliable. </a:t>
            </a:r>
          </a:p>
          <a:p>
            <a:pPr eaLnBrk="0" fontAlgn="base" hangingPunct="0">
              <a:spcBef>
                <a:spcPct val="0"/>
              </a:spcBef>
              <a:spcAft>
                <a:spcPct val="0"/>
              </a:spcAft>
            </a:pPr>
            <a:endParaRPr lang="en-IN" sz="2000" dirty="0">
              <a:solidFill>
                <a:schemeClr val="bg1"/>
              </a:solidFill>
              <a:latin typeface="Times New Roman" panose="02020603050405020304" pitchFamily="18" charset="0"/>
              <a:cs typeface="Times New Roman" panose="02020603050405020304" pitchFamily="18" charset="0"/>
            </a:endParaRPr>
          </a:p>
          <a:p>
            <a:r>
              <a:rPr lang="en-IN" sz="2000" b="1" dirty="0">
                <a:solidFill>
                  <a:schemeClr val="bg1"/>
                </a:solidFill>
                <a:latin typeface="Times New Roman" panose="02020603050405020304" pitchFamily="18" charset="0"/>
                <a:cs typeface="Times New Roman" panose="02020603050405020304" pitchFamily="18" charset="0"/>
              </a:rPr>
              <a:t>Statistically Significant Variables (p &lt; 0.05)</a:t>
            </a:r>
          </a:p>
          <a:p>
            <a:r>
              <a:rPr lang="en-IN" sz="2000" dirty="0">
                <a:solidFill>
                  <a:schemeClr val="bg1"/>
                </a:solidFill>
                <a:latin typeface="Times New Roman" panose="02020603050405020304" pitchFamily="18" charset="0"/>
                <a:cs typeface="Times New Roman" panose="02020603050405020304" pitchFamily="18" charset="0"/>
              </a:rPr>
              <a:t> Cycle Phase (Luteal)  Flow Level  PMS Symptoms</a:t>
            </a:r>
          </a:p>
          <a:p>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 </a:t>
            </a:r>
            <a:r>
              <a:rPr lang="en-IN" sz="2000" b="1" dirty="0">
                <a:solidFill>
                  <a:schemeClr val="bg1"/>
                </a:solidFill>
                <a:latin typeface="Times New Roman" panose="02020603050405020304" pitchFamily="18" charset="0"/>
                <a:cs typeface="Times New Roman" panose="02020603050405020304" pitchFamily="18" charset="0"/>
              </a:rPr>
              <a:t>Not Statistically Significant Variables (p &gt; 0.05):</a:t>
            </a:r>
            <a:endParaRPr lang="en-IN" sz="2000" dirty="0">
              <a:solidFill>
                <a:schemeClr val="bg1"/>
              </a:solidFill>
              <a:latin typeface="Times New Roman" panose="02020603050405020304" pitchFamily="18" charset="0"/>
              <a:cs typeface="Times New Roman" panose="02020603050405020304" pitchFamily="18" charset="0"/>
            </a:endParaRPr>
          </a:p>
          <a:p>
            <a:r>
              <a:rPr lang="en-IN" sz="2000" b="1" dirty="0">
                <a:solidFill>
                  <a:schemeClr val="bg1"/>
                </a:solidFill>
                <a:latin typeface="Times New Roman" panose="02020603050405020304" pitchFamily="18" charset="0"/>
                <a:cs typeface="Times New Roman" panose="02020603050405020304" pitchFamily="18" charset="0"/>
              </a:rPr>
              <a:t>These variables do not show strong evidence of impact on pain:</a:t>
            </a:r>
            <a:endParaRPr lang="en-IN" sz="2000" dirty="0">
              <a:solidFill>
                <a:schemeClr val="bg1"/>
              </a:solidFill>
              <a:latin typeface="Times New Roman" panose="02020603050405020304" pitchFamily="18" charset="0"/>
              <a:cs typeface="Times New Roman" panose="02020603050405020304" pitchFamily="18" charset="0"/>
            </a:endParaRPr>
          </a:p>
          <a:p>
            <a:pPr lvl="0"/>
            <a:r>
              <a:rPr lang="en-IN" sz="2000" dirty="0">
                <a:solidFill>
                  <a:schemeClr val="bg1"/>
                </a:solidFill>
                <a:latin typeface="Times New Roman" panose="02020603050405020304" pitchFamily="18" charset="0"/>
                <a:cs typeface="Times New Roman" panose="02020603050405020304" pitchFamily="18" charset="0"/>
              </a:rPr>
              <a:t> Cycle Length Days Menstrual Phase</a:t>
            </a:r>
          </a:p>
          <a:p>
            <a:pPr lvl="0"/>
            <a:r>
              <a:rPr lang="en-IN" sz="2000" dirty="0">
                <a:solidFill>
                  <a:schemeClr val="bg1"/>
                </a:solidFill>
                <a:latin typeface="Times New Roman" panose="02020603050405020304" pitchFamily="18" charset="0"/>
                <a:cs typeface="Times New Roman" panose="02020603050405020304" pitchFamily="18" charset="0"/>
              </a:rPr>
              <a:t> </a:t>
            </a:r>
            <a:r>
              <a:rPr lang="en-IN" sz="2000" dirty="0" err="1">
                <a:solidFill>
                  <a:schemeClr val="bg1"/>
                </a:solidFill>
                <a:latin typeface="Times New Roman" panose="02020603050405020304" pitchFamily="18" charset="0"/>
                <a:cs typeface="Times New Roman" panose="02020603050405020304" pitchFamily="18" charset="0"/>
              </a:rPr>
              <a:t>Estrogen</a:t>
            </a:r>
            <a:r>
              <a:rPr lang="en-IN" sz="2000" dirty="0">
                <a:solidFill>
                  <a:schemeClr val="bg1"/>
                </a:solidFill>
                <a:latin typeface="Times New Roman" panose="02020603050405020304" pitchFamily="18" charset="0"/>
                <a:cs typeface="Times New Roman" panose="02020603050405020304" pitchFamily="18" charset="0"/>
              </a:rPr>
              <a:t> Level  Progesterone Level </a:t>
            </a:r>
          </a:p>
          <a:p>
            <a:pPr lvl="0"/>
            <a:r>
              <a:rPr lang="en-IN" sz="2000" dirty="0">
                <a:solidFill>
                  <a:schemeClr val="bg1"/>
                </a:solidFill>
                <a:latin typeface="Times New Roman" panose="02020603050405020304" pitchFamily="18" charset="0"/>
                <a:cs typeface="Times New Roman" panose="02020603050405020304" pitchFamily="18" charset="0"/>
              </a:rPr>
              <a:t> Ovulation result(positive)</a:t>
            </a:r>
            <a:endParaRPr lang="en-US" sz="2000" dirty="0">
              <a:solidFill>
                <a:schemeClr val="bg1"/>
              </a:solidFill>
            </a:endParaRPr>
          </a:p>
        </p:txBody>
      </p:sp>
      <p:pic>
        <p:nvPicPr>
          <p:cNvPr id="12" name="Image 0" descr="preencoded.png">
            <a:extLst>
              <a:ext uri="{FF2B5EF4-FFF2-40B4-BE49-F238E27FC236}">
                <a16:creationId xmlns:a16="http://schemas.microsoft.com/office/drawing/2014/main" id="{79D2B346-DE4A-F812-5FF3-123D55BCEE78}"/>
              </a:ext>
            </a:extLst>
          </p:cNvPr>
          <p:cNvPicPr>
            <a:picLocks noChangeAspect="1"/>
          </p:cNvPicPr>
          <p:nvPr/>
        </p:nvPicPr>
        <p:blipFill>
          <a:blip r:embed="rId3"/>
          <a:stretch>
            <a:fillRect/>
          </a:stretch>
        </p:blipFill>
        <p:spPr>
          <a:xfrm>
            <a:off x="2761303" y="4637053"/>
            <a:ext cx="2215039" cy="2215040"/>
          </a:xfrm>
          <a:prstGeom prst="rect">
            <a:avLst/>
          </a:prstGeom>
        </p:spPr>
      </p:pic>
      <p:sp>
        <p:nvSpPr>
          <p:cNvPr id="16" name="Shape 1">
            <a:extLst>
              <a:ext uri="{FF2B5EF4-FFF2-40B4-BE49-F238E27FC236}">
                <a16:creationId xmlns:a16="http://schemas.microsoft.com/office/drawing/2014/main" id="{BF5DB927-3A59-0D5D-6333-50830CD6DA6D}"/>
              </a:ext>
            </a:extLst>
          </p:cNvPr>
          <p:cNvSpPr/>
          <p:nvPr/>
        </p:nvSpPr>
        <p:spPr>
          <a:xfrm>
            <a:off x="631766" y="3933072"/>
            <a:ext cx="2290960" cy="487836"/>
          </a:xfrm>
          <a:prstGeom prst="roundRect">
            <a:avLst>
              <a:gd name="adj" fmla="val 2117"/>
            </a:avLst>
          </a:prstGeom>
          <a:solidFill>
            <a:srgbClr val="5F5153"/>
          </a:solidFill>
          <a:ln/>
        </p:spPr>
        <p:txBody>
          <a:bodyPr/>
          <a:lstStyle/>
          <a:p>
            <a:pPr algn="ctr"/>
            <a:r>
              <a:rPr lang="en-IN" b="1" dirty="0">
                <a:solidFill>
                  <a:schemeClr val="bg2"/>
                </a:solidFill>
                <a:latin typeface="Times New Roman" panose="02020603050405020304" pitchFamily="18" charset="0"/>
                <a:cs typeface="Times New Roman" panose="02020603050405020304" pitchFamily="18" charset="0"/>
              </a:rPr>
              <a:t>Marginal R² </a:t>
            </a:r>
          </a:p>
        </p:txBody>
      </p:sp>
      <p:sp>
        <p:nvSpPr>
          <p:cNvPr id="18" name="Shape 1">
            <a:extLst>
              <a:ext uri="{FF2B5EF4-FFF2-40B4-BE49-F238E27FC236}">
                <a16:creationId xmlns:a16="http://schemas.microsoft.com/office/drawing/2014/main" id="{5369F4D8-D5DB-D8B4-E18F-006BEF85EFD3}"/>
              </a:ext>
            </a:extLst>
          </p:cNvPr>
          <p:cNvSpPr/>
          <p:nvPr/>
        </p:nvSpPr>
        <p:spPr>
          <a:xfrm>
            <a:off x="4920968" y="3935137"/>
            <a:ext cx="2290960" cy="440440"/>
          </a:xfrm>
          <a:prstGeom prst="roundRect">
            <a:avLst>
              <a:gd name="adj" fmla="val 2117"/>
            </a:avLst>
          </a:prstGeom>
          <a:solidFill>
            <a:srgbClr val="5F5153"/>
          </a:solidFill>
          <a:ln/>
        </p:spPr>
        <p:txBody>
          <a:bodyPr/>
          <a:lstStyle/>
          <a:p>
            <a:pPr algn="ctr"/>
            <a:r>
              <a:rPr lang="en-IN" b="1" dirty="0">
                <a:solidFill>
                  <a:schemeClr val="bg2"/>
                </a:solidFill>
                <a:latin typeface="Times New Roman" panose="02020603050405020304" pitchFamily="18" charset="0"/>
                <a:cs typeface="Times New Roman" panose="02020603050405020304" pitchFamily="18" charset="0"/>
              </a:rPr>
              <a:t>Adjusted R² </a:t>
            </a:r>
          </a:p>
        </p:txBody>
      </p:sp>
      <p:sp>
        <p:nvSpPr>
          <p:cNvPr id="19" name="Shape 1">
            <a:extLst>
              <a:ext uri="{FF2B5EF4-FFF2-40B4-BE49-F238E27FC236}">
                <a16:creationId xmlns:a16="http://schemas.microsoft.com/office/drawing/2014/main" id="{0C20F870-D357-1A15-6FFB-7444CAEE2779}"/>
              </a:ext>
            </a:extLst>
          </p:cNvPr>
          <p:cNvSpPr/>
          <p:nvPr/>
        </p:nvSpPr>
        <p:spPr>
          <a:xfrm>
            <a:off x="2838185" y="6936050"/>
            <a:ext cx="2290960" cy="440440"/>
          </a:xfrm>
          <a:prstGeom prst="roundRect">
            <a:avLst>
              <a:gd name="adj" fmla="val 2117"/>
            </a:avLst>
          </a:prstGeom>
          <a:solidFill>
            <a:srgbClr val="5F5153"/>
          </a:solidFill>
          <a:ln/>
        </p:spPr>
        <p:txBody>
          <a:bodyPr/>
          <a:lstStyle/>
          <a:p>
            <a:pPr algn="ctr"/>
            <a:r>
              <a:rPr lang="en-IN" b="1" dirty="0">
                <a:solidFill>
                  <a:schemeClr val="bg2"/>
                </a:solidFill>
                <a:latin typeface="Times New Roman" panose="02020603050405020304" pitchFamily="18" charset="0"/>
                <a:cs typeface="Times New Roman" panose="02020603050405020304" pitchFamily="18" charset="0"/>
              </a:rPr>
              <a:t>Conditional R² </a:t>
            </a:r>
          </a:p>
        </p:txBody>
      </p:sp>
      <p:sp>
        <p:nvSpPr>
          <p:cNvPr id="20" name="Shape 1">
            <a:extLst>
              <a:ext uri="{FF2B5EF4-FFF2-40B4-BE49-F238E27FC236}">
                <a16:creationId xmlns:a16="http://schemas.microsoft.com/office/drawing/2014/main" id="{61575D36-6ADA-0677-AB4E-C51F28C14C0B}"/>
              </a:ext>
            </a:extLst>
          </p:cNvPr>
          <p:cNvSpPr/>
          <p:nvPr/>
        </p:nvSpPr>
        <p:spPr>
          <a:xfrm>
            <a:off x="7759114" y="5553798"/>
            <a:ext cx="6359703" cy="1970012"/>
          </a:xfrm>
          <a:prstGeom prst="roundRect">
            <a:avLst>
              <a:gd name="adj" fmla="val 2117"/>
            </a:avLst>
          </a:prstGeom>
          <a:solidFill>
            <a:srgbClr val="5F5153"/>
          </a:solidFill>
          <a:ln/>
        </p:spPr>
        <p:txBody>
          <a:bodyPr/>
          <a:lstStyle/>
          <a:p>
            <a:r>
              <a:rPr lang="en-IN" sz="2000" dirty="0">
                <a:solidFill>
                  <a:schemeClr val="bg1"/>
                </a:solidFill>
                <a:latin typeface="Times New Roman" panose="02020603050405020304" pitchFamily="18" charset="0"/>
                <a:cs typeface="Times New Roman" panose="02020603050405020304" pitchFamily="18" charset="0"/>
              </a:rPr>
              <a:t>The model explains about </a:t>
            </a:r>
            <a:r>
              <a:rPr lang="en-IN" sz="2000" b="1" dirty="0">
                <a:solidFill>
                  <a:schemeClr val="bg1"/>
                </a:solidFill>
                <a:latin typeface="Times New Roman" panose="02020603050405020304" pitchFamily="18" charset="0"/>
                <a:cs typeface="Times New Roman" panose="02020603050405020304" pitchFamily="18" charset="0"/>
              </a:rPr>
              <a:t>48.5% of the variation in pain levels through fixed effects (Marginal R² ≈ Adjusted R²)</a:t>
            </a:r>
            <a:r>
              <a:rPr lang="en-IN" sz="2000" dirty="0">
                <a:solidFill>
                  <a:schemeClr val="bg1"/>
                </a:solidFill>
                <a:latin typeface="Times New Roman" panose="02020603050405020304" pitchFamily="18" charset="0"/>
                <a:cs typeface="Times New Roman" panose="02020603050405020304" pitchFamily="18" charset="0"/>
              </a:rPr>
              <a:t>, indicating a stable and well-specified model. When accounting for both fixed and group-level random effects, the explained variation increases to </a:t>
            </a:r>
            <a:r>
              <a:rPr lang="en-IN" sz="2000" b="1" dirty="0">
                <a:solidFill>
                  <a:schemeClr val="bg1"/>
                </a:solidFill>
                <a:latin typeface="Times New Roman" panose="02020603050405020304" pitchFamily="18" charset="0"/>
                <a:cs typeface="Times New Roman" panose="02020603050405020304" pitchFamily="18" charset="0"/>
              </a:rPr>
              <a:t>69.5% (Conditional R²)</a:t>
            </a:r>
            <a:r>
              <a:rPr lang="en-IN" sz="2000" dirty="0">
                <a:solidFill>
                  <a:schemeClr val="bg1"/>
                </a:solidFill>
                <a:latin typeface="Times New Roman" panose="02020603050405020304" pitchFamily="18" charset="0"/>
                <a:cs typeface="Times New Roman" panose="02020603050405020304" pitchFamily="18" charset="0"/>
              </a:rPr>
              <a:t>, highlighting the importance of individual differences</a:t>
            </a:r>
            <a:r>
              <a:rPr lang="en-IN" dirty="0">
                <a:solidFill>
                  <a:schemeClr val="bg1"/>
                </a:solidFill>
              </a:rPr>
              <a:t>.</a:t>
            </a:r>
          </a:p>
        </p:txBody>
      </p:sp>
      <p:sp>
        <p:nvSpPr>
          <p:cNvPr id="23" name="TextBox 22">
            <a:extLst>
              <a:ext uri="{FF2B5EF4-FFF2-40B4-BE49-F238E27FC236}">
                <a16:creationId xmlns:a16="http://schemas.microsoft.com/office/drawing/2014/main" id="{EF5205AA-D970-D074-9068-C2AFFBD23BAB}"/>
              </a:ext>
            </a:extLst>
          </p:cNvPr>
          <p:cNvSpPr txBox="1"/>
          <p:nvPr/>
        </p:nvSpPr>
        <p:spPr>
          <a:xfrm>
            <a:off x="1286087" y="2527215"/>
            <a:ext cx="836579" cy="369332"/>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48.5%</a:t>
            </a:r>
          </a:p>
        </p:txBody>
      </p:sp>
      <p:sp>
        <p:nvSpPr>
          <p:cNvPr id="25" name="TextBox 24">
            <a:extLst>
              <a:ext uri="{FF2B5EF4-FFF2-40B4-BE49-F238E27FC236}">
                <a16:creationId xmlns:a16="http://schemas.microsoft.com/office/drawing/2014/main" id="{6C956245-0169-EC99-EEBB-69B00566681F}"/>
              </a:ext>
            </a:extLst>
          </p:cNvPr>
          <p:cNvSpPr txBox="1"/>
          <p:nvPr/>
        </p:nvSpPr>
        <p:spPr>
          <a:xfrm>
            <a:off x="5586167" y="2509736"/>
            <a:ext cx="960561" cy="369332"/>
          </a:xfrm>
          <a:prstGeom prst="rect">
            <a:avLst/>
          </a:prstGeom>
          <a:noFill/>
        </p:spPr>
        <p:txBody>
          <a:bodyPr wrap="square" rtlCol="0">
            <a:spAutoFit/>
          </a:bodyPr>
          <a:lstStyle/>
          <a:p>
            <a:pPr algn="ctr"/>
            <a:r>
              <a:rPr lang="en-IN" dirty="0">
                <a:solidFill>
                  <a:schemeClr val="bg1"/>
                </a:solidFill>
                <a:latin typeface="Times New Roman" panose="02020603050405020304" pitchFamily="18" charset="0"/>
                <a:cs typeface="Times New Roman" panose="02020603050405020304" pitchFamily="18" charset="0"/>
              </a:rPr>
              <a:t>48.5%</a:t>
            </a:r>
          </a:p>
        </p:txBody>
      </p:sp>
      <p:sp>
        <p:nvSpPr>
          <p:cNvPr id="28" name="TextBox 27">
            <a:extLst>
              <a:ext uri="{FF2B5EF4-FFF2-40B4-BE49-F238E27FC236}">
                <a16:creationId xmlns:a16="http://schemas.microsoft.com/office/drawing/2014/main" id="{37CB25DC-71AD-BFBF-8D94-E2C45D7E3502}"/>
              </a:ext>
            </a:extLst>
          </p:cNvPr>
          <p:cNvSpPr txBox="1"/>
          <p:nvPr/>
        </p:nvSpPr>
        <p:spPr>
          <a:xfrm>
            <a:off x="3493759" y="5597100"/>
            <a:ext cx="849614" cy="376354"/>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69.5%</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E42470B-E18A-E7A0-0F34-AFE756270F63}"/>
              </a:ext>
            </a:extLst>
          </p:cNvPr>
          <p:cNvGraphicFramePr>
            <a:graphicFrameLocks noGrp="1"/>
          </p:cNvGraphicFramePr>
          <p:nvPr>
            <p:extLst>
              <p:ext uri="{D42A27DB-BD31-4B8C-83A1-F6EECF244321}">
                <p14:modId xmlns:p14="http://schemas.microsoft.com/office/powerpoint/2010/main" val="3807896381"/>
              </p:ext>
            </p:extLst>
          </p:nvPr>
        </p:nvGraphicFramePr>
        <p:xfrm>
          <a:off x="1155032" y="863599"/>
          <a:ext cx="11646565" cy="6756200"/>
        </p:xfrm>
        <a:graphic>
          <a:graphicData uri="http://schemas.openxmlformats.org/drawingml/2006/table">
            <a:tbl>
              <a:tblPr firstRow="1" bandRow="1">
                <a:tableStyleId>{616DA210-FB5B-4158-B5E0-FEB733F419BA}</a:tableStyleId>
              </a:tblPr>
              <a:tblGrid>
                <a:gridCol w="1663795">
                  <a:extLst>
                    <a:ext uri="{9D8B030D-6E8A-4147-A177-3AD203B41FA5}">
                      <a16:colId xmlns:a16="http://schemas.microsoft.com/office/drawing/2014/main" val="3878295649"/>
                    </a:ext>
                  </a:extLst>
                </a:gridCol>
                <a:gridCol w="1663795">
                  <a:extLst>
                    <a:ext uri="{9D8B030D-6E8A-4147-A177-3AD203B41FA5}">
                      <a16:colId xmlns:a16="http://schemas.microsoft.com/office/drawing/2014/main" val="1586531570"/>
                    </a:ext>
                  </a:extLst>
                </a:gridCol>
                <a:gridCol w="1663795">
                  <a:extLst>
                    <a:ext uri="{9D8B030D-6E8A-4147-A177-3AD203B41FA5}">
                      <a16:colId xmlns:a16="http://schemas.microsoft.com/office/drawing/2014/main" val="3378022205"/>
                    </a:ext>
                  </a:extLst>
                </a:gridCol>
                <a:gridCol w="1663795">
                  <a:extLst>
                    <a:ext uri="{9D8B030D-6E8A-4147-A177-3AD203B41FA5}">
                      <a16:colId xmlns:a16="http://schemas.microsoft.com/office/drawing/2014/main" val="2813499256"/>
                    </a:ext>
                  </a:extLst>
                </a:gridCol>
                <a:gridCol w="1663795">
                  <a:extLst>
                    <a:ext uri="{9D8B030D-6E8A-4147-A177-3AD203B41FA5}">
                      <a16:colId xmlns:a16="http://schemas.microsoft.com/office/drawing/2014/main" val="2689970155"/>
                    </a:ext>
                  </a:extLst>
                </a:gridCol>
                <a:gridCol w="1663795">
                  <a:extLst>
                    <a:ext uri="{9D8B030D-6E8A-4147-A177-3AD203B41FA5}">
                      <a16:colId xmlns:a16="http://schemas.microsoft.com/office/drawing/2014/main" val="3021193938"/>
                    </a:ext>
                  </a:extLst>
                </a:gridCol>
                <a:gridCol w="1663795">
                  <a:extLst>
                    <a:ext uri="{9D8B030D-6E8A-4147-A177-3AD203B41FA5}">
                      <a16:colId xmlns:a16="http://schemas.microsoft.com/office/drawing/2014/main" val="1016280911"/>
                    </a:ext>
                  </a:extLst>
                </a:gridCol>
              </a:tblGrid>
              <a:tr h="441922">
                <a:tc>
                  <a:txBody>
                    <a:bodyPr/>
                    <a:lstStyle/>
                    <a:p>
                      <a:pPr>
                        <a:buNone/>
                      </a:pPr>
                      <a:r>
                        <a:rPr lang="en-IN" sz="1800" dirty="0">
                          <a:solidFill>
                            <a:schemeClr val="bg1"/>
                          </a:solidFill>
                          <a:latin typeface="Times New Roman" panose="02020603050405020304" pitchFamily="18" charset="0"/>
                          <a:cs typeface="Times New Roman" panose="02020603050405020304" pitchFamily="18" charset="0"/>
                        </a:rPr>
                        <a:t>Variable</a:t>
                      </a:r>
                    </a:p>
                  </a:txBody>
                  <a:tcPr marL="38965" marR="38965" marT="19482" marB="19482" anchor="ctr"/>
                </a:tc>
                <a:tc>
                  <a:txBody>
                    <a:bodyPr/>
                    <a:lstStyle/>
                    <a:p>
                      <a:pPr>
                        <a:buNone/>
                      </a:pPr>
                      <a:r>
                        <a:rPr lang="en-IN" sz="1800" dirty="0">
                          <a:solidFill>
                            <a:schemeClr val="bg1"/>
                          </a:solidFill>
                          <a:latin typeface="Times New Roman" panose="02020603050405020304" pitchFamily="18" charset="0"/>
                          <a:cs typeface="Times New Roman" panose="02020603050405020304" pitchFamily="18" charset="0"/>
                        </a:rPr>
                        <a:t>Coefficient</a:t>
                      </a:r>
                    </a:p>
                  </a:txBody>
                  <a:tcPr marL="38965" marR="38965" marT="19482" marB="19482" anchor="ctr"/>
                </a:tc>
                <a:tc>
                  <a:txBody>
                    <a:bodyPr/>
                    <a:lstStyle/>
                    <a:p>
                      <a:pPr>
                        <a:buNone/>
                      </a:pPr>
                      <a:r>
                        <a:rPr lang="en-IN" sz="1800" dirty="0">
                          <a:solidFill>
                            <a:schemeClr val="bg1"/>
                          </a:solidFill>
                          <a:latin typeface="Times New Roman" panose="02020603050405020304" pitchFamily="18" charset="0"/>
                          <a:cs typeface="Times New Roman" panose="02020603050405020304" pitchFamily="18" charset="0"/>
                        </a:rPr>
                        <a:t>Std. Error</a:t>
                      </a:r>
                    </a:p>
                  </a:txBody>
                  <a:tcPr marL="38965" marR="38965" marT="19482" marB="19482" anchor="ctr"/>
                </a:tc>
                <a:tc>
                  <a:txBody>
                    <a:bodyPr/>
                    <a:lstStyle/>
                    <a:p>
                      <a:pPr>
                        <a:buNone/>
                      </a:pPr>
                      <a:r>
                        <a:rPr lang="en-IN" sz="1800" dirty="0">
                          <a:solidFill>
                            <a:schemeClr val="bg1"/>
                          </a:solidFill>
                          <a:latin typeface="Times New Roman" panose="02020603050405020304" pitchFamily="18" charset="0"/>
                          <a:cs typeface="Times New Roman" panose="02020603050405020304" pitchFamily="18" charset="0"/>
                        </a:rPr>
                        <a:t>z-value</a:t>
                      </a:r>
                    </a:p>
                  </a:txBody>
                  <a:tcPr marL="38965" marR="38965" marT="19482" marB="19482" anchor="ctr"/>
                </a:tc>
                <a:tc>
                  <a:txBody>
                    <a:bodyPr/>
                    <a:lstStyle/>
                    <a:p>
                      <a:pPr>
                        <a:buNone/>
                      </a:pPr>
                      <a:r>
                        <a:rPr lang="en-IN" sz="1800" dirty="0">
                          <a:solidFill>
                            <a:schemeClr val="bg1"/>
                          </a:solidFill>
                          <a:latin typeface="Times New Roman" panose="02020603050405020304" pitchFamily="18" charset="0"/>
                          <a:cs typeface="Times New Roman" panose="02020603050405020304" pitchFamily="18" charset="0"/>
                        </a:rPr>
                        <a:t>p-value</a:t>
                      </a:r>
                    </a:p>
                  </a:txBody>
                  <a:tcPr marL="38965" marR="38965" marT="19482" marB="19482" anchor="ctr"/>
                </a:tc>
                <a:tc>
                  <a:txBody>
                    <a:bodyPr/>
                    <a:lstStyle/>
                    <a:p>
                      <a:pPr>
                        <a:buNone/>
                      </a:pPr>
                      <a:r>
                        <a:rPr lang="en-IN" sz="1800" dirty="0">
                          <a:solidFill>
                            <a:schemeClr val="bg1"/>
                          </a:solidFill>
                          <a:latin typeface="Times New Roman" panose="02020603050405020304" pitchFamily="18" charset="0"/>
                          <a:cs typeface="Times New Roman" panose="02020603050405020304" pitchFamily="18" charset="0"/>
                        </a:rPr>
                        <a:t>95% CI (Lower)</a:t>
                      </a:r>
                    </a:p>
                  </a:txBody>
                  <a:tcPr marL="38965" marR="38965" marT="19482" marB="19482" anchor="ctr"/>
                </a:tc>
                <a:tc>
                  <a:txBody>
                    <a:bodyPr/>
                    <a:lstStyle/>
                    <a:p>
                      <a:pPr>
                        <a:buNone/>
                      </a:pPr>
                      <a:r>
                        <a:rPr lang="en-IN" sz="1800" dirty="0">
                          <a:solidFill>
                            <a:schemeClr val="bg1"/>
                          </a:solidFill>
                          <a:latin typeface="Times New Roman" panose="02020603050405020304" pitchFamily="18" charset="0"/>
                          <a:cs typeface="Times New Roman" panose="02020603050405020304" pitchFamily="18" charset="0"/>
                        </a:rPr>
                        <a:t>95% CI (Upper)</a:t>
                      </a:r>
                    </a:p>
                  </a:txBody>
                  <a:tcPr marL="38965" marR="38965" marT="19482" marB="19482" anchor="ctr"/>
                </a:tc>
                <a:extLst>
                  <a:ext uri="{0D108BD9-81ED-4DB2-BD59-A6C34878D82A}">
                    <a16:rowId xmlns:a16="http://schemas.microsoft.com/office/drawing/2014/main" val="2007637024"/>
                  </a:ext>
                </a:extLst>
              </a:tr>
              <a:tr h="441922">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Intercept</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20.742</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0.543</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38.233</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0.000</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19.678</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21.805</a:t>
                      </a:r>
                    </a:p>
                  </a:txBody>
                  <a:tcPr marL="38965" marR="38965" marT="19482" marB="19482" anchor="ctr"/>
                </a:tc>
                <a:extLst>
                  <a:ext uri="{0D108BD9-81ED-4DB2-BD59-A6C34878D82A}">
                    <a16:rowId xmlns:a16="http://schemas.microsoft.com/office/drawing/2014/main" val="1628057668"/>
                  </a:ext>
                </a:extLst>
              </a:tr>
              <a:tr h="441922">
                <a:tc>
                  <a:txBody>
                    <a:bodyPr/>
                    <a:lstStyle/>
                    <a:p>
                      <a:pPr>
                        <a:buNone/>
                      </a:pPr>
                      <a:r>
                        <a:rPr lang="en-IN" sz="1600" dirty="0" err="1">
                          <a:solidFill>
                            <a:schemeClr val="bg1"/>
                          </a:solidFill>
                          <a:latin typeface="Times New Roman" panose="02020603050405020304" pitchFamily="18" charset="0"/>
                          <a:cs typeface="Times New Roman" panose="02020603050405020304" pitchFamily="18" charset="0"/>
                        </a:rPr>
                        <a:t>cycle_length_days</a:t>
                      </a:r>
                      <a:endParaRPr lang="en-IN" sz="1600" dirty="0">
                        <a:solidFill>
                          <a:schemeClr val="bg1"/>
                        </a:solidFill>
                        <a:latin typeface="Times New Roman" panose="02020603050405020304" pitchFamily="18" charset="0"/>
                        <a:cs typeface="Times New Roman" panose="02020603050405020304" pitchFamily="18" charset="0"/>
                      </a:endParaRP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-0.008</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0.002</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-3.909</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0.000</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-0.012</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-0.004</a:t>
                      </a:r>
                    </a:p>
                  </a:txBody>
                  <a:tcPr marL="38965" marR="38965" marT="19482" marB="19482" anchor="ctr"/>
                </a:tc>
                <a:extLst>
                  <a:ext uri="{0D108BD9-81ED-4DB2-BD59-A6C34878D82A}">
                    <a16:rowId xmlns:a16="http://schemas.microsoft.com/office/drawing/2014/main" val="1110898467"/>
                  </a:ext>
                </a:extLst>
              </a:tr>
              <a:tr h="441922">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cycle_phase_Luteal</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-0.029</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0.019</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-1.527</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0.127</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-0.066</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0.008</a:t>
                      </a:r>
                    </a:p>
                  </a:txBody>
                  <a:tcPr marL="38965" marR="38965" marT="19482" marB="19482" anchor="ctr"/>
                </a:tc>
                <a:extLst>
                  <a:ext uri="{0D108BD9-81ED-4DB2-BD59-A6C34878D82A}">
                    <a16:rowId xmlns:a16="http://schemas.microsoft.com/office/drawing/2014/main" val="1312333412"/>
                  </a:ext>
                </a:extLst>
              </a:tr>
              <a:tr h="441922">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cycle_phase_Menstrual</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-0.006</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0.018</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-0.328</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0.743</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-0.041</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0.029</a:t>
                      </a:r>
                    </a:p>
                  </a:txBody>
                  <a:tcPr marL="38965" marR="38965" marT="19482" marB="19482" anchor="ctr"/>
                </a:tc>
                <a:extLst>
                  <a:ext uri="{0D108BD9-81ED-4DB2-BD59-A6C34878D82A}">
                    <a16:rowId xmlns:a16="http://schemas.microsoft.com/office/drawing/2014/main" val="2456651818"/>
                  </a:ext>
                </a:extLst>
              </a:tr>
              <a:tr h="441922">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flow_level</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0.292</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0.010</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29.873</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0.000</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0.273</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0.311</a:t>
                      </a:r>
                    </a:p>
                  </a:txBody>
                  <a:tcPr marL="38965" marR="38965" marT="19482" marB="19482" anchor="ctr"/>
                </a:tc>
                <a:extLst>
                  <a:ext uri="{0D108BD9-81ED-4DB2-BD59-A6C34878D82A}">
                    <a16:rowId xmlns:a16="http://schemas.microsoft.com/office/drawing/2014/main" val="1161102462"/>
                  </a:ext>
                </a:extLst>
              </a:tr>
              <a:tr h="441922">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pms_symptoms_Yes</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-0.017</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0.010</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-1.809</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0.070</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-0.036</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0.001</a:t>
                      </a:r>
                    </a:p>
                  </a:txBody>
                  <a:tcPr marL="38965" marR="38965" marT="19482" marB="19482" anchor="ctr"/>
                </a:tc>
                <a:extLst>
                  <a:ext uri="{0D108BD9-81ED-4DB2-BD59-A6C34878D82A}">
                    <a16:rowId xmlns:a16="http://schemas.microsoft.com/office/drawing/2014/main" val="3698827660"/>
                  </a:ext>
                </a:extLst>
              </a:tr>
              <a:tr h="441922">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estrogen_pgml</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-0.000</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0.000</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-0.119</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0.906</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-0.000</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0.000</a:t>
                      </a:r>
                    </a:p>
                  </a:txBody>
                  <a:tcPr marL="38965" marR="38965" marT="19482" marB="19482" anchor="ctr"/>
                </a:tc>
                <a:extLst>
                  <a:ext uri="{0D108BD9-81ED-4DB2-BD59-A6C34878D82A}">
                    <a16:rowId xmlns:a16="http://schemas.microsoft.com/office/drawing/2014/main" val="2105892114"/>
                  </a:ext>
                </a:extLst>
              </a:tr>
              <a:tr h="441922">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progesterone_ngml</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0.003</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0.002</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1.382</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0.167</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-0.001</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0.008</a:t>
                      </a:r>
                    </a:p>
                  </a:txBody>
                  <a:tcPr marL="38965" marR="38965" marT="19482" marB="19482" anchor="ctr"/>
                </a:tc>
                <a:extLst>
                  <a:ext uri="{0D108BD9-81ED-4DB2-BD59-A6C34878D82A}">
                    <a16:rowId xmlns:a16="http://schemas.microsoft.com/office/drawing/2014/main" val="3199515068"/>
                  </a:ext>
                </a:extLst>
              </a:tr>
              <a:tr h="441922">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ovulation_result_Positive</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0.019</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0.010</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1.927</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0.054</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-0.000</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0.038</a:t>
                      </a:r>
                    </a:p>
                  </a:txBody>
                  <a:tcPr marL="38965" marR="38965" marT="19482" marB="19482" anchor="ctr"/>
                </a:tc>
                <a:extLst>
                  <a:ext uri="{0D108BD9-81ED-4DB2-BD59-A6C34878D82A}">
                    <a16:rowId xmlns:a16="http://schemas.microsoft.com/office/drawing/2014/main" val="2864345498"/>
                  </a:ext>
                </a:extLst>
              </a:tr>
              <a:tr h="441922">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mood_score</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-0.057</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0.004</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-14.984</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0.000</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-0.064</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-0.049</a:t>
                      </a:r>
                    </a:p>
                  </a:txBody>
                  <a:tcPr marL="38965" marR="38965" marT="19482" marB="19482" anchor="ctr"/>
                </a:tc>
                <a:extLst>
                  <a:ext uri="{0D108BD9-81ED-4DB2-BD59-A6C34878D82A}">
                    <a16:rowId xmlns:a16="http://schemas.microsoft.com/office/drawing/2014/main" val="2864780828"/>
                  </a:ext>
                </a:extLst>
              </a:tr>
              <a:tr h="441922">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stress_score_cycle</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-0.372</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0.006</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-57.437</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0.000</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-0.385</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-0.359</a:t>
                      </a:r>
                    </a:p>
                  </a:txBody>
                  <a:tcPr marL="38965" marR="38965" marT="19482" marB="19482" anchor="ctr"/>
                </a:tc>
                <a:extLst>
                  <a:ext uri="{0D108BD9-81ED-4DB2-BD59-A6C34878D82A}">
                    <a16:rowId xmlns:a16="http://schemas.microsoft.com/office/drawing/2014/main" val="1302656301"/>
                  </a:ext>
                </a:extLst>
              </a:tr>
              <a:tr h="441922">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stress_score_baseline</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0.005</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0.009</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0.598</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0.550</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-0.012</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0.022</a:t>
                      </a:r>
                    </a:p>
                  </a:txBody>
                  <a:tcPr marL="38965" marR="38965" marT="19482" marB="19482" anchor="ctr"/>
                </a:tc>
                <a:extLst>
                  <a:ext uri="{0D108BD9-81ED-4DB2-BD59-A6C34878D82A}">
                    <a16:rowId xmlns:a16="http://schemas.microsoft.com/office/drawing/2014/main" val="1283735454"/>
                  </a:ext>
                </a:extLst>
              </a:tr>
              <a:tr h="441922">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energy_level</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-0.059</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0.004</a:t>
                      </a:r>
                    </a:p>
                  </a:txBody>
                  <a:tcPr marL="38965" marR="38965" marT="19482" marB="19482" anchor="ctr"/>
                </a:tc>
                <a:tc>
                  <a:txBody>
                    <a:bodyPr/>
                    <a:lstStyle/>
                    <a:p>
                      <a:pPr>
                        <a:buNone/>
                      </a:pPr>
                      <a:r>
                        <a:rPr lang="en-IN" sz="1600">
                          <a:solidFill>
                            <a:schemeClr val="bg1"/>
                          </a:solidFill>
                          <a:latin typeface="Times New Roman" panose="02020603050405020304" pitchFamily="18" charset="0"/>
                          <a:cs typeface="Times New Roman" panose="02020603050405020304" pitchFamily="18" charset="0"/>
                        </a:rPr>
                        <a:t>-15.703</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0.000</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-0.067</a:t>
                      </a:r>
                    </a:p>
                  </a:txBody>
                  <a:tcPr marL="38965" marR="38965" marT="19482" marB="19482" anchor="ctr"/>
                </a:tc>
                <a:tc>
                  <a:txBody>
                    <a:bodyPr/>
                    <a:lstStyle/>
                    <a:p>
                      <a:pPr>
                        <a:buNone/>
                      </a:pPr>
                      <a:r>
                        <a:rPr lang="en-IN" sz="1600" dirty="0">
                          <a:solidFill>
                            <a:schemeClr val="bg1"/>
                          </a:solidFill>
                          <a:latin typeface="Times New Roman" panose="02020603050405020304" pitchFamily="18" charset="0"/>
                          <a:cs typeface="Times New Roman" panose="02020603050405020304" pitchFamily="18" charset="0"/>
                        </a:rPr>
                        <a:t>-0.052</a:t>
                      </a:r>
                    </a:p>
                  </a:txBody>
                  <a:tcPr marL="38965" marR="38965" marT="19482" marB="19482" anchor="ctr"/>
                </a:tc>
                <a:extLst>
                  <a:ext uri="{0D108BD9-81ED-4DB2-BD59-A6C34878D82A}">
                    <a16:rowId xmlns:a16="http://schemas.microsoft.com/office/drawing/2014/main" val="3567188323"/>
                  </a:ext>
                </a:extLst>
              </a:tr>
            </a:tbl>
          </a:graphicData>
        </a:graphic>
      </p:graphicFrame>
    </p:spTree>
    <p:extLst>
      <p:ext uri="{BB962C8B-B14F-4D97-AF65-F5344CB8AC3E}">
        <p14:creationId xmlns:p14="http://schemas.microsoft.com/office/powerpoint/2010/main" val="2304741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65424" y="218993"/>
            <a:ext cx="11050905" cy="708779"/>
          </a:xfrm>
          <a:prstGeom prst="rect">
            <a:avLst/>
          </a:prstGeom>
          <a:noFill/>
          <a:ln/>
        </p:spPr>
        <p:txBody>
          <a:bodyPr wrap="none" lIns="0" tIns="0" rIns="0" bIns="0" rtlCol="0" anchor="t"/>
          <a:lstStyle/>
          <a:p>
            <a:pPr marL="0" indent="0" algn="l">
              <a:lnSpc>
                <a:spcPts val="5550"/>
              </a:lnSpc>
              <a:buNone/>
            </a:pPr>
            <a:r>
              <a:rPr lang="en-US" sz="3600" b="1" u="sng" dirty="0">
                <a:solidFill>
                  <a:srgbClr val="FFF8F5"/>
                </a:solidFill>
                <a:latin typeface="Algerian" panose="04020705040A02060702" pitchFamily="82" charset="0"/>
                <a:ea typeface="Noto Serif HK Bold" pitchFamily="34" charset="-122"/>
                <a:cs typeface="Noto Serif HK Bold" pitchFamily="34" charset="-120"/>
              </a:rPr>
              <a:t>Model 2: BIOLOGICAL + Psychological VARIABLEs</a:t>
            </a:r>
            <a:endParaRPr lang="en-US" sz="3600" u="sng" dirty="0">
              <a:latin typeface="Algerian" panose="04020705040A02060702" pitchFamily="82" charset="0"/>
            </a:endParaRPr>
          </a:p>
        </p:txBody>
      </p:sp>
      <p:sp>
        <p:nvSpPr>
          <p:cNvPr id="4" name="Text 2"/>
          <p:cNvSpPr/>
          <p:nvPr/>
        </p:nvSpPr>
        <p:spPr>
          <a:xfrm>
            <a:off x="1133951" y="1893570"/>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7" name="Text 5"/>
          <p:cNvSpPr/>
          <p:nvPr/>
        </p:nvSpPr>
        <p:spPr>
          <a:xfrm>
            <a:off x="5576054" y="1893570"/>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8" name="Text 6"/>
          <p:cNvSpPr/>
          <p:nvPr/>
        </p:nvSpPr>
        <p:spPr>
          <a:xfrm>
            <a:off x="5576054" y="2383988"/>
            <a:ext cx="3818453"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0" name="Text 8"/>
          <p:cNvSpPr/>
          <p:nvPr/>
        </p:nvSpPr>
        <p:spPr>
          <a:xfrm>
            <a:off x="10018157" y="1893570"/>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1" name="Text 9"/>
          <p:cNvSpPr/>
          <p:nvPr/>
        </p:nvSpPr>
        <p:spPr>
          <a:xfrm>
            <a:off x="10018157" y="2383988"/>
            <a:ext cx="3818453"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3" name="Text 11"/>
          <p:cNvSpPr/>
          <p:nvPr/>
        </p:nvSpPr>
        <p:spPr>
          <a:xfrm>
            <a:off x="1133951" y="3563422"/>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4" name="Text 12"/>
          <p:cNvSpPr/>
          <p:nvPr/>
        </p:nvSpPr>
        <p:spPr>
          <a:xfrm>
            <a:off x="1133951" y="4053840"/>
            <a:ext cx="12702659"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6" name="Text 14"/>
          <p:cNvSpPr/>
          <p:nvPr/>
        </p:nvSpPr>
        <p:spPr>
          <a:xfrm>
            <a:off x="793790" y="5479852"/>
            <a:ext cx="6243280" cy="1247299"/>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17" name="Text 15"/>
          <p:cNvSpPr/>
          <p:nvPr/>
        </p:nvSpPr>
        <p:spPr>
          <a:xfrm>
            <a:off x="7598092" y="4898708"/>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8" name="Text 16"/>
          <p:cNvSpPr/>
          <p:nvPr/>
        </p:nvSpPr>
        <p:spPr>
          <a:xfrm>
            <a:off x="7598092" y="5479852"/>
            <a:ext cx="6246019" cy="1814513"/>
          </a:xfrm>
          <a:prstGeom prst="rect">
            <a:avLst/>
          </a:prstGeom>
          <a:noFill/>
          <a:ln/>
        </p:spPr>
        <p:txBody>
          <a:bodyPr wrap="square" lIns="0" tIns="0" rIns="0" bIns="0" rtlCol="0" anchor="t"/>
          <a:lstStyle/>
          <a:p>
            <a:pPr marL="0" indent="0" algn="l">
              <a:lnSpc>
                <a:spcPts val="2850"/>
              </a:lnSpc>
              <a:buNone/>
            </a:pPr>
            <a:endParaRPr lang="en-US" sz="1750" dirty="0"/>
          </a:p>
        </p:txBody>
      </p:sp>
      <p:pic>
        <p:nvPicPr>
          <p:cNvPr id="26" name="Image 4" descr="preencoded.png">
            <a:extLst>
              <a:ext uri="{FF2B5EF4-FFF2-40B4-BE49-F238E27FC236}">
                <a16:creationId xmlns:a16="http://schemas.microsoft.com/office/drawing/2014/main" id="{FFE86741-F8DE-98A9-7083-B2FE5D1BF708}"/>
              </a:ext>
            </a:extLst>
          </p:cNvPr>
          <p:cNvPicPr>
            <a:picLocks noChangeAspect="1"/>
          </p:cNvPicPr>
          <p:nvPr/>
        </p:nvPicPr>
        <p:blipFill>
          <a:blip r:embed="rId3"/>
          <a:stretch>
            <a:fillRect/>
          </a:stretch>
        </p:blipFill>
        <p:spPr>
          <a:xfrm rot="20336408">
            <a:off x="960284" y="1444279"/>
            <a:ext cx="2224203" cy="2224203"/>
          </a:xfrm>
          <a:prstGeom prst="rect">
            <a:avLst/>
          </a:prstGeom>
        </p:spPr>
      </p:pic>
      <p:pic>
        <p:nvPicPr>
          <p:cNvPr id="33" name="Image 4" descr="preencoded.png">
            <a:extLst>
              <a:ext uri="{FF2B5EF4-FFF2-40B4-BE49-F238E27FC236}">
                <a16:creationId xmlns:a16="http://schemas.microsoft.com/office/drawing/2014/main" id="{B63E65F2-D568-9BEF-8F22-2B23F661176D}"/>
              </a:ext>
            </a:extLst>
          </p:cNvPr>
          <p:cNvPicPr>
            <a:picLocks noChangeAspect="1"/>
          </p:cNvPicPr>
          <p:nvPr/>
        </p:nvPicPr>
        <p:blipFill>
          <a:blip r:embed="rId3"/>
          <a:stretch>
            <a:fillRect/>
          </a:stretch>
        </p:blipFill>
        <p:spPr>
          <a:xfrm rot="20336408">
            <a:off x="4804117" y="1447564"/>
            <a:ext cx="2227573" cy="2227573"/>
          </a:xfrm>
          <a:prstGeom prst="rect">
            <a:avLst/>
          </a:prstGeom>
        </p:spPr>
      </p:pic>
      <p:sp>
        <p:nvSpPr>
          <p:cNvPr id="3" name="Shape 1">
            <a:extLst>
              <a:ext uri="{FF2B5EF4-FFF2-40B4-BE49-F238E27FC236}">
                <a16:creationId xmlns:a16="http://schemas.microsoft.com/office/drawing/2014/main" id="{B34E2855-24E8-50AF-473E-F68250A782E6}"/>
              </a:ext>
            </a:extLst>
          </p:cNvPr>
          <p:cNvSpPr/>
          <p:nvPr/>
        </p:nvSpPr>
        <p:spPr>
          <a:xfrm>
            <a:off x="7759115" y="1027561"/>
            <a:ext cx="6359703" cy="5266344"/>
          </a:xfrm>
          <a:prstGeom prst="roundRect">
            <a:avLst>
              <a:gd name="adj" fmla="val 2117"/>
            </a:avLst>
          </a:prstGeom>
          <a:solidFill>
            <a:srgbClr val="5F5153"/>
          </a:solidFill>
          <a:ln/>
        </p:spPr>
        <p:txBody>
          <a:bodyPr/>
          <a:lstStyle/>
          <a:p>
            <a:pPr eaLnBrk="0" fontAlgn="base" hangingPunct="0">
              <a:spcBef>
                <a:spcPct val="0"/>
              </a:spcBef>
              <a:spcAft>
                <a:spcPct val="0"/>
              </a:spcAft>
            </a:pPr>
            <a:r>
              <a:rPr lang="en-IN" sz="2000" dirty="0">
                <a:solidFill>
                  <a:schemeClr val="bg1"/>
                </a:solidFill>
                <a:latin typeface="Times New Roman" panose="02020603050405020304" pitchFamily="18" charset="0"/>
                <a:cs typeface="Times New Roman" panose="02020603050405020304" pitchFamily="18" charset="0"/>
              </a:rPr>
              <a:t>The model </a:t>
            </a:r>
            <a:r>
              <a:rPr lang="en-IN" sz="2000" b="1" dirty="0">
                <a:solidFill>
                  <a:schemeClr val="bg1"/>
                </a:solidFill>
                <a:latin typeface="Times New Roman" panose="02020603050405020304" pitchFamily="18" charset="0"/>
                <a:cs typeface="Times New Roman" panose="02020603050405020304" pitchFamily="18" charset="0"/>
              </a:rPr>
              <a:t>converged successfully</a:t>
            </a:r>
            <a:r>
              <a:rPr lang="en-IN" sz="2000" dirty="0">
                <a:solidFill>
                  <a:schemeClr val="bg1"/>
                </a:solidFill>
                <a:latin typeface="Times New Roman" panose="02020603050405020304" pitchFamily="18" charset="0"/>
                <a:cs typeface="Times New Roman" panose="02020603050405020304" pitchFamily="18" charset="0"/>
              </a:rPr>
              <a:t>, so estimates are reliable. </a:t>
            </a:r>
          </a:p>
          <a:p>
            <a:r>
              <a:rPr lang="en-IN" sz="2000" b="1" u="sng" dirty="0">
                <a:solidFill>
                  <a:schemeClr val="bg1"/>
                </a:solidFill>
                <a:latin typeface="Times New Roman" panose="02020603050405020304" pitchFamily="18" charset="0"/>
                <a:cs typeface="Times New Roman" panose="02020603050405020304" pitchFamily="18" charset="0"/>
              </a:rPr>
              <a:t>Statistically Significant Variables (p &lt; 0.05)</a:t>
            </a:r>
          </a:p>
          <a:p>
            <a:r>
              <a:rPr lang="en-IN" sz="2000" b="1" u="sng" dirty="0">
                <a:solidFill>
                  <a:schemeClr val="bg1"/>
                </a:solidFill>
                <a:latin typeface="Times New Roman" panose="02020603050405020304" pitchFamily="18" charset="0"/>
                <a:cs typeface="Times New Roman" panose="02020603050405020304" pitchFamily="18" charset="0"/>
              </a:rPr>
              <a:t>Variables that Increase Pain Level</a:t>
            </a:r>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 Flow Level</a:t>
            </a:r>
          </a:p>
          <a:p>
            <a:r>
              <a:rPr lang="en-IN" sz="2000" b="1" u="sng" dirty="0">
                <a:solidFill>
                  <a:schemeClr val="bg1"/>
                </a:solidFill>
                <a:latin typeface="Times New Roman" panose="02020603050405020304" pitchFamily="18" charset="0"/>
                <a:cs typeface="Times New Roman" panose="02020603050405020304" pitchFamily="18" charset="0"/>
              </a:rPr>
              <a:t>Variables that Decrease Pain Level</a:t>
            </a:r>
          </a:p>
          <a:p>
            <a:pPr lvl="0"/>
            <a:r>
              <a:rPr lang="en-IN" sz="2000" dirty="0">
                <a:solidFill>
                  <a:schemeClr val="bg1"/>
                </a:solidFill>
                <a:latin typeface="Times New Roman" panose="02020603050405020304" pitchFamily="18" charset="0"/>
                <a:cs typeface="Times New Roman" panose="02020603050405020304" pitchFamily="18" charset="0"/>
              </a:rPr>
              <a:t> Cycle Length Days Mood score  Stress score level Energy  Level  Concentration Score  Overall health Score</a:t>
            </a:r>
          </a:p>
          <a:p>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 </a:t>
            </a:r>
            <a:r>
              <a:rPr lang="en-IN" sz="2000" b="1" u="sng" dirty="0">
                <a:solidFill>
                  <a:schemeClr val="bg1"/>
                </a:solidFill>
                <a:latin typeface="Times New Roman" panose="02020603050405020304" pitchFamily="18" charset="0"/>
                <a:cs typeface="Times New Roman" panose="02020603050405020304" pitchFamily="18" charset="0"/>
              </a:rPr>
              <a:t>Not Statistically Significant Variables (p &gt; 0.05):</a:t>
            </a:r>
            <a:endParaRPr lang="en-IN" sz="2000" u="sng" dirty="0">
              <a:solidFill>
                <a:schemeClr val="bg1"/>
              </a:solidFill>
              <a:latin typeface="Times New Roman" panose="02020603050405020304" pitchFamily="18" charset="0"/>
              <a:cs typeface="Times New Roman" panose="02020603050405020304" pitchFamily="18" charset="0"/>
            </a:endParaRPr>
          </a:p>
          <a:p>
            <a:r>
              <a:rPr lang="en-IN" sz="2000" b="1" dirty="0">
                <a:solidFill>
                  <a:schemeClr val="bg1"/>
                </a:solidFill>
                <a:latin typeface="Times New Roman" panose="02020603050405020304" pitchFamily="18" charset="0"/>
                <a:cs typeface="Times New Roman" panose="02020603050405020304" pitchFamily="18" charset="0"/>
              </a:rPr>
              <a:t>These variables do not show strong evidence of impact on pain:</a:t>
            </a:r>
          </a:p>
          <a:p>
            <a:r>
              <a:rPr lang="en-IN" sz="2000" dirty="0">
                <a:solidFill>
                  <a:schemeClr val="bg1"/>
                </a:solidFill>
                <a:latin typeface="Times New Roman" panose="02020603050405020304" pitchFamily="18" charset="0"/>
                <a:cs typeface="Times New Roman" panose="02020603050405020304" pitchFamily="18" charset="0"/>
              </a:rPr>
              <a:t>  cycle phase Luteal   cycle phase Menstrual  </a:t>
            </a:r>
            <a:r>
              <a:rPr lang="en-IN" sz="2000" dirty="0" err="1">
                <a:solidFill>
                  <a:schemeClr val="bg1"/>
                </a:solidFill>
                <a:latin typeface="Times New Roman" panose="02020603050405020304" pitchFamily="18" charset="0"/>
                <a:cs typeface="Times New Roman" panose="02020603050405020304" pitchFamily="18" charset="0"/>
              </a:rPr>
              <a:t>pms</a:t>
            </a:r>
            <a:r>
              <a:rPr lang="en-IN" sz="2000" dirty="0">
                <a:solidFill>
                  <a:schemeClr val="bg1"/>
                </a:solidFill>
                <a:latin typeface="Times New Roman" panose="02020603050405020304" pitchFamily="18" charset="0"/>
                <a:cs typeface="Times New Roman" panose="02020603050405020304" pitchFamily="18" charset="0"/>
              </a:rPr>
              <a:t> symptoms   </a:t>
            </a:r>
            <a:r>
              <a:rPr lang="en-IN" sz="2000" dirty="0" err="1">
                <a:solidFill>
                  <a:schemeClr val="bg1"/>
                </a:solidFill>
                <a:latin typeface="Times New Roman" panose="02020603050405020304" pitchFamily="18" charset="0"/>
                <a:cs typeface="Times New Roman" panose="02020603050405020304" pitchFamily="18" charset="0"/>
              </a:rPr>
              <a:t>estrogen</a:t>
            </a:r>
            <a:r>
              <a:rPr lang="en-IN" sz="2000" dirty="0">
                <a:solidFill>
                  <a:schemeClr val="bg1"/>
                </a:solidFill>
                <a:latin typeface="Times New Roman" panose="02020603050405020304" pitchFamily="18" charset="0"/>
                <a:cs typeface="Times New Roman" panose="02020603050405020304" pitchFamily="18" charset="0"/>
              </a:rPr>
              <a:t> </a:t>
            </a:r>
            <a:r>
              <a:rPr lang="en-IN" sz="2000" dirty="0" err="1">
                <a:solidFill>
                  <a:schemeClr val="bg1"/>
                </a:solidFill>
                <a:latin typeface="Times New Roman" panose="02020603050405020304" pitchFamily="18" charset="0"/>
                <a:cs typeface="Times New Roman" panose="02020603050405020304" pitchFamily="18" charset="0"/>
              </a:rPr>
              <a:t>pgml</a:t>
            </a:r>
            <a:r>
              <a:rPr lang="en-IN" sz="2000" dirty="0">
                <a:solidFill>
                  <a:schemeClr val="bg1"/>
                </a:solidFill>
                <a:latin typeface="Times New Roman" panose="02020603050405020304" pitchFamily="18" charset="0"/>
                <a:cs typeface="Times New Roman" panose="02020603050405020304" pitchFamily="18" charset="0"/>
              </a:rPr>
              <a:t>   progesterone </a:t>
            </a:r>
            <a:r>
              <a:rPr lang="en-IN" sz="2000" dirty="0" err="1">
                <a:solidFill>
                  <a:schemeClr val="bg1"/>
                </a:solidFill>
                <a:latin typeface="Times New Roman" panose="02020603050405020304" pitchFamily="18" charset="0"/>
                <a:cs typeface="Times New Roman" panose="02020603050405020304" pitchFamily="18" charset="0"/>
              </a:rPr>
              <a:t>ngml</a:t>
            </a:r>
            <a:r>
              <a:rPr lang="en-IN" sz="2000" dirty="0">
                <a:solidFill>
                  <a:schemeClr val="bg1"/>
                </a:solidFill>
                <a:latin typeface="Times New Roman" panose="02020603050405020304" pitchFamily="18" charset="0"/>
                <a:cs typeface="Times New Roman" panose="02020603050405020304" pitchFamily="18" charset="0"/>
              </a:rPr>
              <a:t> </a:t>
            </a:r>
          </a:p>
          <a:p>
            <a:r>
              <a:rPr lang="en-IN" sz="2000" dirty="0">
                <a:solidFill>
                  <a:schemeClr val="bg1"/>
                </a:solidFill>
                <a:latin typeface="Times New Roman" panose="02020603050405020304" pitchFamily="18" charset="0"/>
                <a:cs typeface="Times New Roman" panose="02020603050405020304" pitchFamily="18" charset="0"/>
              </a:rPr>
              <a:t> ovulation result  Positive   stress score baseline </a:t>
            </a:r>
          </a:p>
          <a:p>
            <a:r>
              <a:rPr lang="en-IN" sz="2000" dirty="0">
                <a:solidFill>
                  <a:schemeClr val="bg1"/>
                </a:solidFill>
                <a:latin typeface="Times New Roman" panose="02020603050405020304" pitchFamily="18" charset="0"/>
                <a:cs typeface="Times New Roman" panose="02020603050405020304" pitchFamily="18" charset="0"/>
              </a:rPr>
              <a:t> prepared before period</a:t>
            </a:r>
          </a:p>
          <a:p>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6" name="Shape 1">
            <a:extLst>
              <a:ext uri="{FF2B5EF4-FFF2-40B4-BE49-F238E27FC236}">
                <a16:creationId xmlns:a16="http://schemas.microsoft.com/office/drawing/2014/main" id="{78F9935A-65D1-11C7-0646-3C153E053A44}"/>
              </a:ext>
            </a:extLst>
          </p:cNvPr>
          <p:cNvSpPr/>
          <p:nvPr/>
        </p:nvSpPr>
        <p:spPr>
          <a:xfrm>
            <a:off x="899400" y="3759876"/>
            <a:ext cx="2345969" cy="447828"/>
          </a:xfrm>
          <a:prstGeom prst="roundRect">
            <a:avLst>
              <a:gd name="adj" fmla="val 2117"/>
            </a:avLst>
          </a:prstGeom>
          <a:solidFill>
            <a:srgbClr val="5F5153"/>
          </a:solidFill>
          <a:ln/>
        </p:spPr>
        <p:txBody>
          <a:bodyPr/>
          <a:lstStyle/>
          <a:p>
            <a:pPr algn="ctr"/>
            <a:r>
              <a:rPr lang="en-IN" sz="2000" b="1" dirty="0">
                <a:solidFill>
                  <a:schemeClr val="bg2"/>
                </a:solidFill>
                <a:latin typeface="Times New Roman" panose="02020603050405020304" pitchFamily="18" charset="0"/>
                <a:cs typeface="Times New Roman" panose="02020603050405020304" pitchFamily="18" charset="0"/>
              </a:rPr>
              <a:t>Marginal R² </a:t>
            </a:r>
          </a:p>
        </p:txBody>
      </p:sp>
      <p:sp>
        <p:nvSpPr>
          <p:cNvPr id="9" name="Shape 1">
            <a:extLst>
              <a:ext uri="{FF2B5EF4-FFF2-40B4-BE49-F238E27FC236}">
                <a16:creationId xmlns:a16="http://schemas.microsoft.com/office/drawing/2014/main" id="{8E02DE6C-8B06-2301-333A-C06175DF3494}"/>
              </a:ext>
            </a:extLst>
          </p:cNvPr>
          <p:cNvSpPr/>
          <p:nvPr/>
        </p:nvSpPr>
        <p:spPr>
          <a:xfrm>
            <a:off x="2796201" y="6809354"/>
            <a:ext cx="2345969" cy="447828"/>
          </a:xfrm>
          <a:prstGeom prst="roundRect">
            <a:avLst>
              <a:gd name="adj" fmla="val 2117"/>
            </a:avLst>
          </a:prstGeom>
          <a:solidFill>
            <a:srgbClr val="5F5153"/>
          </a:solidFill>
          <a:ln/>
        </p:spPr>
        <p:txBody>
          <a:bodyPr/>
          <a:lstStyle/>
          <a:p>
            <a:pPr algn="ctr" eaLnBrk="0" fontAlgn="base" hangingPunct="0">
              <a:spcBef>
                <a:spcPct val="0"/>
              </a:spcBef>
              <a:spcAft>
                <a:spcPct val="0"/>
              </a:spcAft>
            </a:pPr>
            <a:r>
              <a:rPr lang="en-IN" sz="2000" b="1" dirty="0">
                <a:solidFill>
                  <a:schemeClr val="bg2"/>
                </a:solidFill>
                <a:latin typeface="Times New Roman" panose="02020603050405020304" pitchFamily="18" charset="0"/>
                <a:cs typeface="Times New Roman" panose="02020603050405020304" pitchFamily="18" charset="0"/>
              </a:rPr>
              <a:t> Conditional R² </a:t>
            </a:r>
          </a:p>
          <a:p>
            <a:pPr eaLnBrk="0" fontAlgn="base" hangingPunct="0">
              <a:spcBef>
                <a:spcPct val="0"/>
              </a:spcBef>
              <a:spcAft>
                <a:spcPct val="0"/>
              </a:spcAft>
            </a:pPr>
            <a:endParaRPr lang="en-US" sz="2000" dirty="0">
              <a:solidFill>
                <a:schemeClr val="bg1"/>
              </a:solidFill>
            </a:endParaRPr>
          </a:p>
        </p:txBody>
      </p:sp>
      <p:sp>
        <p:nvSpPr>
          <p:cNvPr id="12" name="Shape 1">
            <a:extLst>
              <a:ext uri="{FF2B5EF4-FFF2-40B4-BE49-F238E27FC236}">
                <a16:creationId xmlns:a16="http://schemas.microsoft.com/office/drawing/2014/main" id="{A462A751-3955-2702-F47F-2C795E5CAD73}"/>
              </a:ext>
            </a:extLst>
          </p:cNvPr>
          <p:cNvSpPr/>
          <p:nvPr/>
        </p:nvSpPr>
        <p:spPr>
          <a:xfrm>
            <a:off x="4873616" y="3816495"/>
            <a:ext cx="2345969" cy="447828"/>
          </a:xfrm>
          <a:prstGeom prst="roundRect">
            <a:avLst>
              <a:gd name="adj" fmla="val 2117"/>
            </a:avLst>
          </a:prstGeom>
          <a:solidFill>
            <a:srgbClr val="5F5153"/>
          </a:solidFill>
          <a:ln/>
        </p:spPr>
        <p:txBody>
          <a:bodyPr/>
          <a:lstStyle/>
          <a:p>
            <a:pPr algn="ctr"/>
            <a:r>
              <a:rPr lang="en-IN" sz="2000" b="1" dirty="0">
                <a:solidFill>
                  <a:schemeClr val="bg2"/>
                </a:solidFill>
                <a:latin typeface="Times New Roman" panose="02020603050405020304" pitchFamily="18" charset="0"/>
                <a:cs typeface="Times New Roman" panose="02020603050405020304" pitchFamily="18" charset="0"/>
              </a:rPr>
              <a:t>Adjusted R² </a:t>
            </a:r>
          </a:p>
        </p:txBody>
      </p:sp>
      <p:pic>
        <p:nvPicPr>
          <p:cNvPr id="19" name="Image 4" descr="preencoded.png">
            <a:extLst>
              <a:ext uri="{FF2B5EF4-FFF2-40B4-BE49-F238E27FC236}">
                <a16:creationId xmlns:a16="http://schemas.microsoft.com/office/drawing/2014/main" id="{B3FB94DC-455D-CBEF-5AA0-E15E45DDD26D}"/>
              </a:ext>
            </a:extLst>
          </p:cNvPr>
          <p:cNvPicPr>
            <a:picLocks noChangeAspect="1"/>
          </p:cNvPicPr>
          <p:nvPr/>
        </p:nvPicPr>
        <p:blipFill>
          <a:blip r:embed="rId3"/>
          <a:stretch>
            <a:fillRect/>
          </a:stretch>
        </p:blipFill>
        <p:spPr>
          <a:xfrm rot="20336408">
            <a:off x="2880100" y="4364586"/>
            <a:ext cx="2227573" cy="2227573"/>
          </a:xfrm>
          <a:prstGeom prst="rect">
            <a:avLst/>
          </a:prstGeom>
        </p:spPr>
      </p:pic>
      <p:sp>
        <p:nvSpPr>
          <p:cNvPr id="20" name="Shape 1">
            <a:extLst>
              <a:ext uri="{FF2B5EF4-FFF2-40B4-BE49-F238E27FC236}">
                <a16:creationId xmlns:a16="http://schemas.microsoft.com/office/drawing/2014/main" id="{DD4B83B9-81C2-F3F5-9FF2-954CD7F37D66}"/>
              </a:ext>
            </a:extLst>
          </p:cNvPr>
          <p:cNvSpPr/>
          <p:nvPr/>
        </p:nvSpPr>
        <p:spPr>
          <a:xfrm>
            <a:off x="7759115" y="6498232"/>
            <a:ext cx="6359703" cy="1487768"/>
          </a:xfrm>
          <a:prstGeom prst="roundRect">
            <a:avLst>
              <a:gd name="adj" fmla="val 2117"/>
            </a:avLst>
          </a:prstGeom>
          <a:solidFill>
            <a:srgbClr val="5F5153"/>
          </a:solidFill>
          <a:ln/>
        </p:spPr>
        <p:txBody>
          <a:bodyPr/>
          <a:lstStyle/>
          <a:p>
            <a:r>
              <a:rPr lang="en-IN" sz="2000" dirty="0">
                <a:solidFill>
                  <a:schemeClr val="bg1"/>
                </a:solidFill>
                <a:latin typeface="Times New Roman" panose="02020603050405020304" pitchFamily="18" charset="0"/>
                <a:cs typeface="Times New Roman" panose="02020603050405020304" pitchFamily="18" charset="0"/>
              </a:rPr>
              <a:t>The model explains about </a:t>
            </a:r>
            <a:r>
              <a:rPr lang="en-IN" sz="2000" b="1" dirty="0">
                <a:solidFill>
                  <a:schemeClr val="bg1"/>
                </a:solidFill>
                <a:latin typeface="Times New Roman" panose="02020603050405020304" pitchFamily="18" charset="0"/>
                <a:cs typeface="Times New Roman" panose="02020603050405020304" pitchFamily="18" charset="0"/>
              </a:rPr>
              <a:t>89.9% of the variation in pain level through fixed predictors alone</a:t>
            </a:r>
            <a:r>
              <a:rPr lang="en-IN" sz="2000" dirty="0">
                <a:solidFill>
                  <a:schemeClr val="bg1"/>
                </a:solidFill>
                <a:latin typeface="Times New Roman" panose="02020603050405020304" pitchFamily="18" charset="0"/>
                <a:cs typeface="Times New Roman" panose="02020603050405020304" pitchFamily="18" charset="0"/>
              </a:rPr>
              <a:t> (Marginal R²), and </a:t>
            </a:r>
            <a:r>
              <a:rPr lang="en-IN" sz="2000" b="1" dirty="0">
                <a:solidFill>
                  <a:schemeClr val="bg1"/>
                </a:solidFill>
                <a:latin typeface="Times New Roman" panose="02020603050405020304" pitchFamily="18" charset="0"/>
                <a:cs typeface="Times New Roman" panose="02020603050405020304" pitchFamily="18" charset="0"/>
              </a:rPr>
              <a:t>95.4% when individual/group-level random effects are also included</a:t>
            </a:r>
            <a:r>
              <a:rPr lang="en-IN" sz="2000" dirty="0">
                <a:solidFill>
                  <a:schemeClr val="bg1"/>
                </a:solidFill>
                <a:latin typeface="Times New Roman" panose="02020603050405020304" pitchFamily="18" charset="0"/>
                <a:cs typeface="Times New Roman" panose="02020603050405020304" pitchFamily="18" charset="0"/>
              </a:rPr>
              <a:t> (Conditional R²).</a:t>
            </a:r>
            <a:br>
              <a:rPr lang="en-IN" sz="2000" dirty="0">
                <a:solidFill>
                  <a:schemeClr val="bg1"/>
                </a:solidFill>
                <a:latin typeface="Times New Roman" panose="02020603050405020304" pitchFamily="18" charset="0"/>
                <a:cs typeface="Times New Roman" panose="02020603050405020304" pitchFamily="18" charset="0"/>
              </a:rPr>
            </a:br>
            <a:endParaRPr lang="en-IN" sz="2000" dirty="0">
              <a:solidFill>
                <a:schemeClr val="bg1"/>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C8C970AB-1AFC-EED7-0DD3-5AC56E47E6B7}"/>
              </a:ext>
            </a:extLst>
          </p:cNvPr>
          <p:cNvSpPr txBox="1"/>
          <p:nvPr/>
        </p:nvSpPr>
        <p:spPr>
          <a:xfrm>
            <a:off x="5576054" y="2377405"/>
            <a:ext cx="844201" cy="369332"/>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89.9%</a:t>
            </a:r>
          </a:p>
        </p:txBody>
      </p:sp>
      <p:sp>
        <p:nvSpPr>
          <p:cNvPr id="24" name="TextBox 23">
            <a:extLst>
              <a:ext uri="{FF2B5EF4-FFF2-40B4-BE49-F238E27FC236}">
                <a16:creationId xmlns:a16="http://schemas.microsoft.com/office/drawing/2014/main" id="{8DB6901D-3B34-DE87-05A3-75D5CC9B8575}"/>
              </a:ext>
            </a:extLst>
          </p:cNvPr>
          <p:cNvSpPr txBox="1"/>
          <p:nvPr/>
        </p:nvSpPr>
        <p:spPr>
          <a:xfrm>
            <a:off x="1728260" y="2383988"/>
            <a:ext cx="1250757" cy="369332"/>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89.9%</a:t>
            </a:r>
          </a:p>
        </p:txBody>
      </p:sp>
      <p:sp>
        <p:nvSpPr>
          <p:cNvPr id="27" name="TextBox 26">
            <a:extLst>
              <a:ext uri="{FF2B5EF4-FFF2-40B4-BE49-F238E27FC236}">
                <a16:creationId xmlns:a16="http://schemas.microsoft.com/office/drawing/2014/main" id="{B0F61A7D-5C2D-6839-AF45-09ABA519AD7D}"/>
              </a:ext>
            </a:extLst>
          </p:cNvPr>
          <p:cNvSpPr txBox="1"/>
          <p:nvPr/>
        </p:nvSpPr>
        <p:spPr>
          <a:xfrm>
            <a:off x="3643395" y="5341515"/>
            <a:ext cx="968449" cy="369332"/>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95.4%</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1A80186-29BC-2380-85E7-2DB1F4F81237}"/>
              </a:ext>
            </a:extLst>
          </p:cNvPr>
          <p:cNvGraphicFramePr>
            <a:graphicFrameLocks noGrp="1"/>
          </p:cNvGraphicFramePr>
          <p:nvPr>
            <p:extLst>
              <p:ext uri="{D42A27DB-BD31-4B8C-83A1-F6EECF244321}">
                <p14:modId xmlns:p14="http://schemas.microsoft.com/office/powerpoint/2010/main" val="4157203664"/>
              </p:ext>
            </p:extLst>
          </p:nvPr>
        </p:nvGraphicFramePr>
        <p:xfrm>
          <a:off x="1275347" y="216451"/>
          <a:ext cx="11658598" cy="7796698"/>
        </p:xfrm>
        <a:graphic>
          <a:graphicData uri="http://schemas.openxmlformats.org/drawingml/2006/table">
            <a:tbl>
              <a:tblPr firstRow="1" bandRow="1">
                <a:tableStyleId>{616DA210-FB5B-4158-B5E0-FEB733F419BA}</a:tableStyleId>
              </a:tblPr>
              <a:tblGrid>
                <a:gridCol w="1665514">
                  <a:extLst>
                    <a:ext uri="{9D8B030D-6E8A-4147-A177-3AD203B41FA5}">
                      <a16:colId xmlns:a16="http://schemas.microsoft.com/office/drawing/2014/main" val="1431790046"/>
                    </a:ext>
                  </a:extLst>
                </a:gridCol>
                <a:gridCol w="1665514">
                  <a:extLst>
                    <a:ext uri="{9D8B030D-6E8A-4147-A177-3AD203B41FA5}">
                      <a16:colId xmlns:a16="http://schemas.microsoft.com/office/drawing/2014/main" val="780365734"/>
                    </a:ext>
                  </a:extLst>
                </a:gridCol>
                <a:gridCol w="1665514">
                  <a:extLst>
                    <a:ext uri="{9D8B030D-6E8A-4147-A177-3AD203B41FA5}">
                      <a16:colId xmlns:a16="http://schemas.microsoft.com/office/drawing/2014/main" val="3699317564"/>
                    </a:ext>
                  </a:extLst>
                </a:gridCol>
                <a:gridCol w="1665514">
                  <a:extLst>
                    <a:ext uri="{9D8B030D-6E8A-4147-A177-3AD203B41FA5}">
                      <a16:colId xmlns:a16="http://schemas.microsoft.com/office/drawing/2014/main" val="3734846265"/>
                    </a:ext>
                  </a:extLst>
                </a:gridCol>
                <a:gridCol w="1665514">
                  <a:extLst>
                    <a:ext uri="{9D8B030D-6E8A-4147-A177-3AD203B41FA5}">
                      <a16:colId xmlns:a16="http://schemas.microsoft.com/office/drawing/2014/main" val="2389256632"/>
                    </a:ext>
                  </a:extLst>
                </a:gridCol>
                <a:gridCol w="1665514">
                  <a:extLst>
                    <a:ext uri="{9D8B030D-6E8A-4147-A177-3AD203B41FA5}">
                      <a16:colId xmlns:a16="http://schemas.microsoft.com/office/drawing/2014/main" val="3859042833"/>
                    </a:ext>
                  </a:extLst>
                </a:gridCol>
                <a:gridCol w="1665514">
                  <a:extLst>
                    <a:ext uri="{9D8B030D-6E8A-4147-A177-3AD203B41FA5}">
                      <a16:colId xmlns:a16="http://schemas.microsoft.com/office/drawing/2014/main" val="2465884429"/>
                    </a:ext>
                  </a:extLst>
                </a:gridCol>
              </a:tblGrid>
              <a:tr h="389963">
                <a:tc>
                  <a:txBody>
                    <a:bodyPr/>
                    <a:lstStyle/>
                    <a:p>
                      <a:pPr>
                        <a:buNone/>
                      </a:pPr>
                      <a:r>
                        <a:rPr lang="en-IN" sz="1800" dirty="0">
                          <a:solidFill>
                            <a:schemeClr val="bg2">
                              <a:lumMod val="90000"/>
                            </a:schemeClr>
                          </a:solidFill>
                        </a:rPr>
                        <a:t>Variable</a:t>
                      </a:r>
                    </a:p>
                  </a:txBody>
                  <a:tcPr marL="49727" marR="49727" marT="24863" marB="24863" anchor="ctr"/>
                </a:tc>
                <a:tc>
                  <a:txBody>
                    <a:bodyPr/>
                    <a:lstStyle/>
                    <a:p>
                      <a:pPr algn="r">
                        <a:buNone/>
                      </a:pPr>
                      <a:r>
                        <a:rPr lang="en-IN" sz="1800" dirty="0">
                          <a:solidFill>
                            <a:schemeClr val="bg2">
                              <a:lumMod val="90000"/>
                            </a:schemeClr>
                          </a:solidFill>
                        </a:rPr>
                        <a:t>Coef.</a:t>
                      </a:r>
                    </a:p>
                  </a:txBody>
                  <a:tcPr marL="49727" marR="49727" marT="24863" marB="24863" anchor="ctr"/>
                </a:tc>
                <a:tc>
                  <a:txBody>
                    <a:bodyPr/>
                    <a:lstStyle/>
                    <a:p>
                      <a:pPr algn="r">
                        <a:buNone/>
                      </a:pPr>
                      <a:r>
                        <a:rPr lang="en-IN" sz="1800" dirty="0" err="1">
                          <a:solidFill>
                            <a:schemeClr val="bg2">
                              <a:lumMod val="90000"/>
                            </a:schemeClr>
                          </a:solidFill>
                        </a:rPr>
                        <a:t>Std.Err</a:t>
                      </a:r>
                      <a:r>
                        <a:rPr lang="en-IN" sz="1800" dirty="0">
                          <a:solidFill>
                            <a:schemeClr val="bg2">
                              <a:lumMod val="90000"/>
                            </a:schemeClr>
                          </a:solidFill>
                        </a:rPr>
                        <a:t>.</a:t>
                      </a:r>
                    </a:p>
                  </a:txBody>
                  <a:tcPr marL="49727" marR="49727" marT="24863" marB="24863" anchor="ctr"/>
                </a:tc>
                <a:tc>
                  <a:txBody>
                    <a:bodyPr/>
                    <a:lstStyle/>
                    <a:p>
                      <a:pPr algn="r">
                        <a:buNone/>
                      </a:pPr>
                      <a:r>
                        <a:rPr lang="en-IN" sz="1800">
                          <a:solidFill>
                            <a:schemeClr val="bg2">
                              <a:lumMod val="90000"/>
                            </a:schemeClr>
                          </a:solidFill>
                        </a:rPr>
                        <a:t>z</a:t>
                      </a:r>
                    </a:p>
                  </a:txBody>
                  <a:tcPr marL="49727" marR="49727" marT="24863" marB="24863" anchor="ctr"/>
                </a:tc>
                <a:tc>
                  <a:txBody>
                    <a:bodyPr/>
                    <a:lstStyle/>
                    <a:p>
                      <a:pPr algn="r">
                        <a:buNone/>
                      </a:pPr>
                      <a:r>
                        <a:rPr lang="en-IN" sz="1800" dirty="0">
                          <a:solidFill>
                            <a:schemeClr val="bg2">
                              <a:lumMod val="90000"/>
                            </a:schemeClr>
                          </a:solidFill>
                        </a:rPr>
                        <a:t>P&gt;|z|</a:t>
                      </a:r>
                    </a:p>
                  </a:txBody>
                  <a:tcPr marL="49727" marR="49727" marT="24863" marB="24863" anchor="ctr"/>
                </a:tc>
                <a:tc>
                  <a:txBody>
                    <a:bodyPr/>
                    <a:lstStyle/>
                    <a:p>
                      <a:pPr algn="r">
                        <a:buNone/>
                      </a:pPr>
                      <a:r>
                        <a:rPr lang="en-IN" sz="1800" dirty="0">
                          <a:solidFill>
                            <a:schemeClr val="bg2">
                              <a:lumMod val="90000"/>
                            </a:schemeClr>
                          </a:solidFill>
                        </a:rPr>
                        <a:t>95% CI Lower</a:t>
                      </a:r>
                    </a:p>
                  </a:txBody>
                  <a:tcPr marL="49727" marR="49727" marT="24863" marB="24863" anchor="ctr"/>
                </a:tc>
                <a:tc>
                  <a:txBody>
                    <a:bodyPr/>
                    <a:lstStyle/>
                    <a:p>
                      <a:pPr algn="r">
                        <a:buNone/>
                      </a:pPr>
                      <a:r>
                        <a:rPr lang="en-IN" sz="1800" dirty="0">
                          <a:solidFill>
                            <a:schemeClr val="bg2">
                              <a:lumMod val="90000"/>
                            </a:schemeClr>
                          </a:solidFill>
                        </a:rPr>
                        <a:t>95% CI Upper</a:t>
                      </a:r>
                    </a:p>
                  </a:txBody>
                  <a:tcPr marL="49727" marR="49727" marT="24863" marB="24863" anchor="ctr"/>
                </a:tc>
                <a:extLst>
                  <a:ext uri="{0D108BD9-81ED-4DB2-BD59-A6C34878D82A}">
                    <a16:rowId xmlns:a16="http://schemas.microsoft.com/office/drawing/2014/main" val="3208096685"/>
                  </a:ext>
                </a:extLst>
              </a:tr>
              <a:tr h="389963">
                <a:tc>
                  <a:txBody>
                    <a:bodyPr/>
                    <a:lstStyle/>
                    <a:p>
                      <a:pPr>
                        <a:buNone/>
                      </a:pPr>
                      <a:r>
                        <a:rPr lang="en-IN" sz="1400" dirty="0">
                          <a:solidFill>
                            <a:schemeClr val="bg2">
                              <a:lumMod val="90000"/>
                            </a:schemeClr>
                          </a:solidFill>
                        </a:rPr>
                        <a:t>Intercept</a:t>
                      </a:r>
                    </a:p>
                  </a:txBody>
                  <a:tcPr marL="49727" marR="49727" marT="24863" marB="24863" anchor="ctr"/>
                </a:tc>
                <a:tc>
                  <a:txBody>
                    <a:bodyPr/>
                    <a:lstStyle/>
                    <a:p>
                      <a:pPr algn="r">
                        <a:buNone/>
                      </a:pPr>
                      <a:r>
                        <a:rPr lang="en-IN" sz="1600" dirty="0">
                          <a:solidFill>
                            <a:schemeClr val="bg2">
                              <a:lumMod val="90000"/>
                            </a:schemeClr>
                          </a:solidFill>
                        </a:rPr>
                        <a:t>25.871</a:t>
                      </a:r>
                    </a:p>
                  </a:txBody>
                  <a:tcPr marL="49727" marR="49727" marT="24863" marB="24863" anchor="ctr"/>
                </a:tc>
                <a:tc>
                  <a:txBody>
                    <a:bodyPr/>
                    <a:lstStyle/>
                    <a:p>
                      <a:pPr algn="r">
                        <a:buNone/>
                      </a:pPr>
                      <a:r>
                        <a:rPr lang="en-IN" sz="1600" dirty="0">
                          <a:solidFill>
                            <a:schemeClr val="bg2">
                              <a:lumMod val="90000"/>
                            </a:schemeClr>
                          </a:solidFill>
                        </a:rPr>
                        <a:t>0.152</a:t>
                      </a:r>
                    </a:p>
                  </a:txBody>
                  <a:tcPr marL="49727" marR="49727" marT="24863" marB="24863" anchor="ctr"/>
                </a:tc>
                <a:tc>
                  <a:txBody>
                    <a:bodyPr/>
                    <a:lstStyle/>
                    <a:p>
                      <a:pPr algn="r">
                        <a:buNone/>
                      </a:pPr>
                      <a:r>
                        <a:rPr lang="en-IN" sz="1600" dirty="0">
                          <a:solidFill>
                            <a:schemeClr val="bg2">
                              <a:lumMod val="90000"/>
                            </a:schemeClr>
                          </a:solidFill>
                        </a:rPr>
                        <a:t>170.066</a:t>
                      </a:r>
                    </a:p>
                  </a:txBody>
                  <a:tcPr marL="49727" marR="49727" marT="24863" marB="24863" anchor="ctr"/>
                </a:tc>
                <a:tc>
                  <a:txBody>
                    <a:bodyPr/>
                    <a:lstStyle/>
                    <a:p>
                      <a:pPr algn="r">
                        <a:buNone/>
                      </a:pPr>
                      <a:r>
                        <a:rPr lang="en-IN" sz="1600" dirty="0">
                          <a:solidFill>
                            <a:schemeClr val="bg2">
                              <a:lumMod val="90000"/>
                            </a:schemeClr>
                          </a:solidFill>
                        </a:rPr>
                        <a:t>0.000</a:t>
                      </a:r>
                    </a:p>
                  </a:txBody>
                  <a:tcPr marL="49727" marR="49727" marT="24863" marB="24863" anchor="ctr"/>
                </a:tc>
                <a:tc>
                  <a:txBody>
                    <a:bodyPr/>
                    <a:lstStyle/>
                    <a:p>
                      <a:pPr algn="r">
                        <a:buNone/>
                      </a:pPr>
                      <a:r>
                        <a:rPr lang="en-IN" sz="1600">
                          <a:solidFill>
                            <a:schemeClr val="bg2">
                              <a:lumMod val="90000"/>
                            </a:schemeClr>
                          </a:solidFill>
                        </a:rPr>
                        <a:t>25.573</a:t>
                      </a:r>
                    </a:p>
                  </a:txBody>
                  <a:tcPr marL="49727" marR="49727" marT="24863" marB="24863" anchor="ctr"/>
                </a:tc>
                <a:tc>
                  <a:txBody>
                    <a:bodyPr/>
                    <a:lstStyle/>
                    <a:p>
                      <a:pPr algn="r">
                        <a:buNone/>
                      </a:pPr>
                      <a:r>
                        <a:rPr lang="en-IN" sz="1600">
                          <a:solidFill>
                            <a:schemeClr val="bg2">
                              <a:lumMod val="90000"/>
                            </a:schemeClr>
                          </a:solidFill>
                        </a:rPr>
                        <a:t>26.170</a:t>
                      </a:r>
                    </a:p>
                  </a:txBody>
                  <a:tcPr marL="49727" marR="49727" marT="24863" marB="24863" anchor="ctr"/>
                </a:tc>
                <a:extLst>
                  <a:ext uri="{0D108BD9-81ED-4DB2-BD59-A6C34878D82A}">
                    <a16:rowId xmlns:a16="http://schemas.microsoft.com/office/drawing/2014/main" val="1824863541"/>
                  </a:ext>
                </a:extLst>
              </a:tr>
              <a:tr h="389963">
                <a:tc>
                  <a:txBody>
                    <a:bodyPr/>
                    <a:lstStyle/>
                    <a:p>
                      <a:pPr>
                        <a:buNone/>
                      </a:pPr>
                      <a:r>
                        <a:rPr lang="en-IN" sz="1400">
                          <a:solidFill>
                            <a:schemeClr val="bg2">
                              <a:lumMod val="90000"/>
                            </a:schemeClr>
                          </a:solidFill>
                        </a:rPr>
                        <a:t>cycle_length_days</a:t>
                      </a:r>
                    </a:p>
                  </a:txBody>
                  <a:tcPr marL="49727" marR="49727" marT="24863" marB="24863" anchor="ctr"/>
                </a:tc>
                <a:tc>
                  <a:txBody>
                    <a:bodyPr/>
                    <a:lstStyle/>
                    <a:p>
                      <a:pPr algn="r">
                        <a:buNone/>
                      </a:pPr>
                      <a:r>
                        <a:rPr lang="en-IN" sz="1600" dirty="0">
                          <a:solidFill>
                            <a:schemeClr val="bg2">
                              <a:lumMod val="90000"/>
                            </a:schemeClr>
                          </a:solidFill>
                        </a:rPr>
                        <a:t>-0.006</a:t>
                      </a:r>
                    </a:p>
                  </a:txBody>
                  <a:tcPr marL="49727" marR="49727" marT="24863" marB="24863" anchor="ctr"/>
                </a:tc>
                <a:tc>
                  <a:txBody>
                    <a:bodyPr/>
                    <a:lstStyle/>
                    <a:p>
                      <a:pPr algn="r">
                        <a:buNone/>
                      </a:pPr>
                      <a:r>
                        <a:rPr lang="en-IN" sz="1600" dirty="0">
                          <a:solidFill>
                            <a:schemeClr val="bg2">
                              <a:lumMod val="90000"/>
                            </a:schemeClr>
                          </a:solidFill>
                        </a:rPr>
                        <a:t>0.002</a:t>
                      </a:r>
                    </a:p>
                  </a:txBody>
                  <a:tcPr marL="49727" marR="49727" marT="24863" marB="24863" anchor="ctr"/>
                </a:tc>
                <a:tc>
                  <a:txBody>
                    <a:bodyPr/>
                    <a:lstStyle/>
                    <a:p>
                      <a:pPr algn="r">
                        <a:buNone/>
                      </a:pPr>
                      <a:r>
                        <a:rPr lang="en-IN" sz="1600">
                          <a:solidFill>
                            <a:schemeClr val="bg2">
                              <a:lumMod val="90000"/>
                            </a:schemeClr>
                          </a:solidFill>
                        </a:rPr>
                        <a:t>-2.712</a:t>
                      </a:r>
                    </a:p>
                  </a:txBody>
                  <a:tcPr marL="49727" marR="49727" marT="24863" marB="24863" anchor="ctr"/>
                </a:tc>
                <a:tc>
                  <a:txBody>
                    <a:bodyPr/>
                    <a:lstStyle/>
                    <a:p>
                      <a:pPr algn="r">
                        <a:buNone/>
                      </a:pPr>
                      <a:r>
                        <a:rPr lang="en-IN" sz="1600">
                          <a:solidFill>
                            <a:schemeClr val="bg2">
                              <a:lumMod val="90000"/>
                            </a:schemeClr>
                          </a:solidFill>
                        </a:rPr>
                        <a:t>0.007</a:t>
                      </a:r>
                    </a:p>
                  </a:txBody>
                  <a:tcPr marL="49727" marR="49727" marT="24863" marB="24863" anchor="ctr"/>
                </a:tc>
                <a:tc>
                  <a:txBody>
                    <a:bodyPr/>
                    <a:lstStyle/>
                    <a:p>
                      <a:pPr algn="r">
                        <a:buNone/>
                      </a:pPr>
                      <a:r>
                        <a:rPr lang="en-IN" sz="1600">
                          <a:solidFill>
                            <a:schemeClr val="bg2">
                              <a:lumMod val="90000"/>
                            </a:schemeClr>
                          </a:solidFill>
                        </a:rPr>
                        <a:t>-0.010</a:t>
                      </a:r>
                    </a:p>
                  </a:txBody>
                  <a:tcPr marL="49727" marR="49727" marT="24863" marB="24863" anchor="ctr"/>
                </a:tc>
                <a:tc>
                  <a:txBody>
                    <a:bodyPr/>
                    <a:lstStyle/>
                    <a:p>
                      <a:pPr algn="r">
                        <a:buNone/>
                      </a:pPr>
                      <a:r>
                        <a:rPr lang="en-IN" sz="1600">
                          <a:solidFill>
                            <a:schemeClr val="bg2">
                              <a:lumMod val="90000"/>
                            </a:schemeClr>
                          </a:solidFill>
                        </a:rPr>
                        <a:t>-0.002</a:t>
                      </a:r>
                    </a:p>
                  </a:txBody>
                  <a:tcPr marL="49727" marR="49727" marT="24863" marB="24863" anchor="ctr"/>
                </a:tc>
                <a:extLst>
                  <a:ext uri="{0D108BD9-81ED-4DB2-BD59-A6C34878D82A}">
                    <a16:rowId xmlns:a16="http://schemas.microsoft.com/office/drawing/2014/main" val="1032229378"/>
                  </a:ext>
                </a:extLst>
              </a:tr>
              <a:tr h="389963">
                <a:tc>
                  <a:txBody>
                    <a:bodyPr/>
                    <a:lstStyle/>
                    <a:p>
                      <a:pPr>
                        <a:buNone/>
                      </a:pPr>
                      <a:r>
                        <a:rPr lang="en-IN" sz="1400">
                          <a:solidFill>
                            <a:schemeClr val="bg2">
                              <a:lumMod val="90000"/>
                            </a:schemeClr>
                          </a:solidFill>
                        </a:rPr>
                        <a:t>cycle_phase_Luteal</a:t>
                      </a:r>
                    </a:p>
                  </a:txBody>
                  <a:tcPr marL="49727" marR="49727" marT="24863" marB="24863" anchor="ctr"/>
                </a:tc>
                <a:tc>
                  <a:txBody>
                    <a:bodyPr/>
                    <a:lstStyle/>
                    <a:p>
                      <a:pPr algn="r">
                        <a:buNone/>
                      </a:pPr>
                      <a:r>
                        <a:rPr lang="en-IN" sz="1600" dirty="0">
                          <a:solidFill>
                            <a:schemeClr val="bg2">
                              <a:lumMod val="90000"/>
                            </a:schemeClr>
                          </a:solidFill>
                        </a:rPr>
                        <a:t>-0.027</a:t>
                      </a:r>
                    </a:p>
                  </a:txBody>
                  <a:tcPr marL="49727" marR="49727" marT="24863" marB="24863" anchor="ctr"/>
                </a:tc>
                <a:tc>
                  <a:txBody>
                    <a:bodyPr/>
                    <a:lstStyle/>
                    <a:p>
                      <a:pPr algn="r">
                        <a:buNone/>
                      </a:pPr>
                      <a:r>
                        <a:rPr lang="en-IN" sz="1600" dirty="0">
                          <a:solidFill>
                            <a:schemeClr val="bg2">
                              <a:lumMod val="90000"/>
                            </a:schemeClr>
                          </a:solidFill>
                        </a:rPr>
                        <a:t>0.020</a:t>
                      </a:r>
                    </a:p>
                  </a:txBody>
                  <a:tcPr marL="49727" marR="49727" marT="24863" marB="24863" anchor="ctr"/>
                </a:tc>
                <a:tc>
                  <a:txBody>
                    <a:bodyPr/>
                    <a:lstStyle/>
                    <a:p>
                      <a:pPr algn="r">
                        <a:buNone/>
                      </a:pPr>
                      <a:r>
                        <a:rPr lang="en-IN" sz="1600" dirty="0">
                          <a:solidFill>
                            <a:schemeClr val="bg2">
                              <a:lumMod val="90000"/>
                            </a:schemeClr>
                          </a:solidFill>
                        </a:rPr>
                        <a:t>-1.357</a:t>
                      </a:r>
                    </a:p>
                  </a:txBody>
                  <a:tcPr marL="49727" marR="49727" marT="24863" marB="24863" anchor="ctr"/>
                </a:tc>
                <a:tc>
                  <a:txBody>
                    <a:bodyPr/>
                    <a:lstStyle/>
                    <a:p>
                      <a:pPr algn="r">
                        <a:buNone/>
                      </a:pPr>
                      <a:r>
                        <a:rPr lang="en-IN" sz="1600">
                          <a:solidFill>
                            <a:schemeClr val="bg2">
                              <a:lumMod val="90000"/>
                            </a:schemeClr>
                          </a:solidFill>
                        </a:rPr>
                        <a:t>0.175</a:t>
                      </a:r>
                    </a:p>
                  </a:txBody>
                  <a:tcPr marL="49727" marR="49727" marT="24863" marB="24863" anchor="ctr"/>
                </a:tc>
                <a:tc>
                  <a:txBody>
                    <a:bodyPr/>
                    <a:lstStyle/>
                    <a:p>
                      <a:pPr algn="r">
                        <a:buNone/>
                      </a:pPr>
                      <a:r>
                        <a:rPr lang="en-IN" sz="1600">
                          <a:solidFill>
                            <a:schemeClr val="bg2">
                              <a:lumMod val="90000"/>
                            </a:schemeClr>
                          </a:solidFill>
                        </a:rPr>
                        <a:t>-0.066</a:t>
                      </a:r>
                    </a:p>
                  </a:txBody>
                  <a:tcPr marL="49727" marR="49727" marT="24863" marB="24863" anchor="ctr"/>
                </a:tc>
                <a:tc>
                  <a:txBody>
                    <a:bodyPr/>
                    <a:lstStyle/>
                    <a:p>
                      <a:pPr algn="r">
                        <a:buNone/>
                      </a:pPr>
                      <a:r>
                        <a:rPr lang="en-IN" sz="1600">
                          <a:solidFill>
                            <a:schemeClr val="bg2">
                              <a:lumMod val="90000"/>
                            </a:schemeClr>
                          </a:solidFill>
                        </a:rPr>
                        <a:t>0.012</a:t>
                      </a:r>
                    </a:p>
                  </a:txBody>
                  <a:tcPr marL="49727" marR="49727" marT="24863" marB="24863" anchor="ctr"/>
                </a:tc>
                <a:extLst>
                  <a:ext uri="{0D108BD9-81ED-4DB2-BD59-A6C34878D82A}">
                    <a16:rowId xmlns:a16="http://schemas.microsoft.com/office/drawing/2014/main" val="1075685421"/>
                  </a:ext>
                </a:extLst>
              </a:tr>
              <a:tr h="501015">
                <a:tc>
                  <a:txBody>
                    <a:bodyPr/>
                    <a:lstStyle/>
                    <a:p>
                      <a:pPr>
                        <a:buNone/>
                      </a:pPr>
                      <a:r>
                        <a:rPr lang="en-IN" sz="1400" dirty="0" err="1">
                          <a:solidFill>
                            <a:schemeClr val="bg2">
                              <a:lumMod val="90000"/>
                            </a:schemeClr>
                          </a:solidFill>
                        </a:rPr>
                        <a:t>cycle_phase_Menstrual</a:t>
                      </a:r>
                      <a:endParaRPr lang="en-IN" sz="1400" dirty="0">
                        <a:solidFill>
                          <a:schemeClr val="bg2">
                            <a:lumMod val="90000"/>
                          </a:schemeClr>
                        </a:solidFill>
                      </a:endParaRPr>
                    </a:p>
                  </a:txBody>
                  <a:tcPr marL="49727" marR="49727" marT="24863" marB="24863" anchor="ctr"/>
                </a:tc>
                <a:tc>
                  <a:txBody>
                    <a:bodyPr/>
                    <a:lstStyle/>
                    <a:p>
                      <a:pPr algn="r">
                        <a:buNone/>
                      </a:pPr>
                      <a:r>
                        <a:rPr lang="en-IN" sz="1600">
                          <a:solidFill>
                            <a:schemeClr val="bg2">
                              <a:lumMod val="90000"/>
                            </a:schemeClr>
                          </a:solidFill>
                        </a:rPr>
                        <a:t>-0.010</a:t>
                      </a:r>
                    </a:p>
                  </a:txBody>
                  <a:tcPr marL="49727" marR="49727" marT="24863" marB="24863" anchor="ctr"/>
                </a:tc>
                <a:tc>
                  <a:txBody>
                    <a:bodyPr/>
                    <a:lstStyle/>
                    <a:p>
                      <a:pPr algn="r">
                        <a:buNone/>
                      </a:pPr>
                      <a:r>
                        <a:rPr lang="en-IN" sz="1600" dirty="0">
                          <a:solidFill>
                            <a:schemeClr val="bg2">
                              <a:lumMod val="90000"/>
                            </a:schemeClr>
                          </a:solidFill>
                        </a:rPr>
                        <a:t>0.019</a:t>
                      </a:r>
                    </a:p>
                  </a:txBody>
                  <a:tcPr marL="49727" marR="49727" marT="24863" marB="24863" anchor="ctr"/>
                </a:tc>
                <a:tc>
                  <a:txBody>
                    <a:bodyPr/>
                    <a:lstStyle/>
                    <a:p>
                      <a:pPr algn="r">
                        <a:buNone/>
                      </a:pPr>
                      <a:r>
                        <a:rPr lang="en-IN" sz="1600" dirty="0">
                          <a:solidFill>
                            <a:schemeClr val="bg2">
                              <a:lumMod val="90000"/>
                            </a:schemeClr>
                          </a:solidFill>
                        </a:rPr>
                        <a:t>-0.522</a:t>
                      </a:r>
                    </a:p>
                  </a:txBody>
                  <a:tcPr marL="49727" marR="49727" marT="24863" marB="24863" anchor="ctr"/>
                </a:tc>
                <a:tc>
                  <a:txBody>
                    <a:bodyPr/>
                    <a:lstStyle/>
                    <a:p>
                      <a:pPr algn="r">
                        <a:buNone/>
                      </a:pPr>
                      <a:r>
                        <a:rPr lang="en-IN" sz="1600">
                          <a:solidFill>
                            <a:schemeClr val="bg2">
                              <a:lumMod val="90000"/>
                            </a:schemeClr>
                          </a:solidFill>
                        </a:rPr>
                        <a:t>0.601</a:t>
                      </a:r>
                    </a:p>
                  </a:txBody>
                  <a:tcPr marL="49727" marR="49727" marT="24863" marB="24863" anchor="ctr"/>
                </a:tc>
                <a:tc>
                  <a:txBody>
                    <a:bodyPr/>
                    <a:lstStyle/>
                    <a:p>
                      <a:pPr algn="r">
                        <a:buNone/>
                      </a:pPr>
                      <a:r>
                        <a:rPr lang="en-IN" sz="1600">
                          <a:solidFill>
                            <a:schemeClr val="bg2">
                              <a:lumMod val="90000"/>
                            </a:schemeClr>
                          </a:solidFill>
                        </a:rPr>
                        <a:t>-0.047</a:t>
                      </a:r>
                    </a:p>
                  </a:txBody>
                  <a:tcPr marL="49727" marR="49727" marT="24863" marB="24863" anchor="ctr"/>
                </a:tc>
                <a:tc>
                  <a:txBody>
                    <a:bodyPr/>
                    <a:lstStyle/>
                    <a:p>
                      <a:pPr algn="r">
                        <a:buNone/>
                      </a:pPr>
                      <a:r>
                        <a:rPr lang="en-IN" sz="1600">
                          <a:solidFill>
                            <a:schemeClr val="bg2">
                              <a:lumMod val="90000"/>
                            </a:schemeClr>
                          </a:solidFill>
                        </a:rPr>
                        <a:t>0.027</a:t>
                      </a:r>
                    </a:p>
                  </a:txBody>
                  <a:tcPr marL="49727" marR="49727" marT="24863" marB="24863" anchor="ctr"/>
                </a:tc>
                <a:extLst>
                  <a:ext uri="{0D108BD9-81ED-4DB2-BD59-A6C34878D82A}">
                    <a16:rowId xmlns:a16="http://schemas.microsoft.com/office/drawing/2014/main" val="1276298649"/>
                  </a:ext>
                </a:extLst>
              </a:tr>
              <a:tr h="389963">
                <a:tc>
                  <a:txBody>
                    <a:bodyPr/>
                    <a:lstStyle/>
                    <a:p>
                      <a:pPr>
                        <a:buNone/>
                      </a:pPr>
                      <a:r>
                        <a:rPr lang="en-IN" sz="1400">
                          <a:solidFill>
                            <a:schemeClr val="bg2">
                              <a:lumMod val="90000"/>
                            </a:schemeClr>
                          </a:solidFill>
                        </a:rPr>
                        <a:t>flow_level</a:t>
                      </a:r>
                    </a:p>
                  </a:txBody>
                  <a:tcPr marL="49727" marR="49727" marT="24863" marB="24863" anchor="ctr"/>
                </a:tc>
                <a:tc>
                  <a:txBody>
                    <a:bodyPr/>
                    <a:lstStyle/>
                    <a:p>
                      <a:pPr algn="r">
                        <a:buNone/>
                      </a:pPr>
                      <a:r>
                        <a:rPr lang="en-IN" sz="1600">
                          <a:solidFill>
                            <a:schemeClr val="bg2">
                              <a:lumMod val="90000"/>
                            </a:schemeClr>
                          </a:solidFill>
                        </a:rPr>
                        <a:t>0.363</a:t>
                      </a:r>
                    </a:p>
                  </a:txBody>
                  <a:tcPr marL="49727" marR="49727" marT="24863" marB="24863" anchor="ctr"/>
                </a:tc>
                <a:tc>
                  <a:txBody>
                    <a:bodyPr/>
                    <a:lstStyle/>
                    <a:p>
                      <a:pPr algn="r">
                        <a:buNone/>
                      </a:pPr>
                      <a:r>
                        <a:rPr lang="en-IN" sz="1600" dirty="0">
                          <a:solidFill>
                            <a:schemeClr val="bg2">
                              <a:lumMod val="90000"/>
                            </a:schemeClr>
                          </a:solidFill>
                        </a:rPr>
                        <a:t>0.010</a:t>
                      </a:r>
                    </a:p>
                  </a:txBody>
                  <a:tcPr marL="49727" marR="49727" marT="24863" marB="24863" anchor="ctr"/>
                </a:tc>
                <a:tc>
                  <a:txBody>
                    <a:bodyPr/>
                    <a:lstStyle/>
                    <a:p>
                      <a:pPr algn="r">
                        <a:buNone/>
                      </a:pPr>
                      <a:r>
                        <a:rPr lang="en-IN" sz="1600">
                          <a:solidFill>
                            <a:schemeClr val="bg2">
                              <a:lumMod val="90000"/>
                            </a:schemeClr>
                          </a:solidFill>
                        </a:rPr>
                        <a:t>36.774</a:t>
                      </a:r>
                    </a:p>
                  </a:txBody>
                  <a:tcPr marL="49727" marR="49727" marT="24863" marB="24863" anchor="ctr"/>
                </a:tc>
                <a:tc>
                  <a:txBody>
                    <a:bodyPr/>
                    <a:lstStyle/>
                    <a:p>
                      <a:pPr algn="r">
                        <a:buNone/>
                      </a:pPr>
                      <a:r>
                        <a:rPr lang="en-IN" sz="1600" dirty="0">
                          <a:solidFill>
                            <a:schemeClr val="bg2">
                              <a:lumMod val="90000"/>
                            </a:schemeClr>
                          </a:solidFill>
                        </a:rPr>
                        <a:t>0.000</a:t>
                      </a:r>
                    </a:p>
                  </a:txBody>
                  <a:tcPr marL="49727" marR="49727" marT="24863" marB="24863" anchor="ctr"/>
                </a:tc>
                <a:tc>
                  <a:txBody>
                    <a:bodyPr/>
                    <a:lstStyle/>
                    <a:p>
                      <a:pPr algn="r">
                        <a:buNone/>
                      </a:pPr>
                      <a:r>
                        <a:rPr lang="en-IN" sz="1600">
                          <a:solidFill>
                            <a:schemeClr val="bg2">
                              <a:lumMod val="90000"/>
                            </a:schemeClr>
                          </a:solidFill>
                        </a:rPr>
                        <a:t>0.344</a:t>
                      </a:r>
                    </a:p>
                  </a:txBody>
                  <a:tcPr marL="49727" marR="49727" marT="24863" marB="24863" anchor="ctr"/>
                </a:tc>
                <a:tc>
                  <a:txBody>
                    <a:bodyPr/>
                    <a:lstStyle/>
                    <a:p>
                      <a:pPr algn="r">
                        <a:buNone/>
                      </a:pPr>
                      <a:r>
                        <a:rPr lang="en-IN" sz="1600">
                          <a:solidFill>
                            <a:schemeClr val="bg2">
                              <a:lumMod val="90000"/>
                            </a:schemeClr>
                          </a:solidFill>
                        </a:rPr>
                        <a:t>0.383</a:t>
                      </a:r>
                    </a:p>
                  </a:txBody>
                  <a:tcPr marL="49727" marR="49727" marT="24863" marB="24863" anchor="ctr"/>
                </a:tc>
                <a:extLst>
                  <a:ext uri="{0D108BD9-81ED-4DB2-BD59-A6C34878D82A}">
                    <a16:rowId xmlns:a16="http://schemas.microsoft.com/office/drawing/2014/main" val="3253190621"/>
                  </a:ext>
                </a:extLst>
              </a:tr>
              <a:tr h="501015">
                <a:tc>
                  <a:txBody>
                    <a:bodyPr/>
                    <a:lstStyle/>
                    <a:p>
                      <a:pPr>
                        <a:buNone/>
                      </a:pPr>
                      <a:r>
                        <a:rPr lang="en-IN" sz="1400">
                          <a:solidFill>
                            <a:schemeClr val="bg2">
                              <a:lumMod val="90000"/>
                            </a:schemeClr>
                          </a:solidFill>
                        </a:rPr>
                        <a:t>pms_symptoms_Yes</a:t>
                      </a:r>
                    </a:p>
                  </a:txBody>
                  <a:tcPr marL="49727" marR="49727" marT="24863" marB="24863" anchor="ctr"/>
                </a:tc>
                <a:tc>
                  <a:txBody>
                    <a:bodyPr/>
                    <a:lstStyle/>
                    <a:p>
                      <a:pPr algn="r">
                        <a:buNone/>
                      </a:pPr>
                      <a:r>
                        <a:rPr lang="en-IN" sz="1600">
                          <a:solidFill>
                            <a:schemeClr val="bg2">
                              <a:lumMod val="90000"/>
                            </a:schemeClr>
                          </a:solidFill>
                        </a:rPr>
                        <a:t>-0.018</a:t>
                      </a:r>
                    </a:p>
                  </a:txBody>
                  <a:tcPr marL="49727" marR="49727" marT="24863" marB="24863" anchor="ctr"/>
                </a:tc>
                <a:tc>
                  <a:txBody>
                    <a:bodyPr/>
                    <a:lstStyle/>
                    <a:p>
                      <a:pPr algn="r">
                        <a:buNone/>
                      </a:pPr>
                      <a:r>
                        <a:rPr lang="en-IN" sz="1600" dirty="0">
                          <a:solidFill>
                            <a:schemeClr val="bg2">
                              <a:lumMod val="90000"/>
                            </a:schemeClr>
                          </a:solidFill>
                        </a:rPr>
                        <a:t>0.010</a:t>
                      </a:r>
                    </a:p>
                  </a:txBody>
                  <a:tcPr marL="49727" marR="49727" marT="24863" marB="24863" anchor="ctr"/>
                </a:tc>
                <a:tc>
                  <a:txBody>
                    <a:bodyPr/>
                    <a:lstStyle/>
                    <a:p>
                      <a:pPr algn="r">
                        <a:buNone/>
                      </a:pPr>
                      <a:r>
                        <a:rPr lang="en-IN" sz="1600" dirty="0">
                          <a:solidFill>
                            <a:schemeClr val="bg2">
                              <a:lumMod val="90000"/>
                            </a:schemeClr>
                          </a:solidFill>
                        </a:rPr>
                        <a:t>-1.779</a:t>
                      </a:r>
                    </a:p>
                  </a:txBody>
                  <a:tcPr marL="49727" marR="49727" marT="24863" marB="24863" anchor="ctr"/>
                </a:tc>
                <a:tc>
                  <a:txBody>
                    <a:bodyPr/>
                    <a:lstStyle/>
                    <a:p>
                      <a:pPr algn="r">
                        <a:buNone/>
                      </a:pPr>
                      <a:r>
                        <a:rPr lang="en-IN" sz="1600">
                          <a:solidFill>
                            <a:schemeClr val="bg2">
                              <a:lumMod val="90000"/>
                            </a:schemeClr>
                          </a:solidFill>
                        </a:rPr>
                        <a:t>0.075</a:t>
                      </a:r>
                    </a:p>
                  </a:txBody>
                  <a:tcPr marL="49727" marR="49727" marT="24863" marB="24863" anchor="ctr"/>
                </a:tc>
                <a:tc>
                  <a:txBody>
                    <a:bodyPr/>
                    <a:lstStyle/>
                    <a:p>
                      <a:pPr algn="r">
                        <a:buNone/>
                      </a:pPr>
                      <a:r>
                        <a:rPr lang="en-IN" sz="1600">
                          <a:solidFill>
                            <a:schemeClr val="bg2">
                              <a:lumMod val="90000"/>
                            </a:schemeClr>
                          </a:solidFill>
                        </a:rPr>
                        <a:t>-0.038</a:t>
                      </a:r>
                    </a:p>
                  </a:txBody>
                  <a:tcPr marL="49727" marR="49727" marT="24863" marB="24863" anchor="ctr"/>
                </a:tc>
                <a:tc>
                  <a:txBody>
                    <a:bodyPr/>
                    <a:lstStyle/>
                    <a:p>
                      <a:pPr algn="r">
                        <a:buNone/>
                      </a:pPr>
                      <a:r>
                        <a:rPr lang="en-IN" sz="1600">
                          <a:solidFill>
                            <a:schemeClr val="bg2">
                              <a:lumMod val="90000"/>
                            </a:schemeClr>
                          </a:solidFill>
                        </a:rPr>
                        <a:t>0.002</a:t>
                      </a:r>
                    </a:p>
                  </a:txBody>
                  <a:tcPr marL="49727" marR="49727" marT="24863" marB="24863" anchor="ctr"/>
                </a:tc>
                <a:extLst>
                  <a:ext uri="{0D108BD9-81ED-4DB2-BD59-A6C34878D82A}">
                    <a16:rowId xmlns:a16="http://schemas.microsoft.com/office/drawing/2014/main" val="4196549133"/>
                  </a:ext>
                </a:extLst>
              </a:tr>
              <a:tr h="389963">
                <a:tc>
                  <a:txBody>
                    <a:bodyPr/>
                    <a:lstStyle/>
                    <a:p>
                      <a:pPr>
                        <a:buNone/>
                      </a:pPr>
                      <a:r>
                        <a:rPr lang="en-IN" sz="1400">
                          <a:solidFill>
                            <a:schemeClr val="bg2">
                              <a:lumMod val="90000"/>
                            </a:schemeClr>
                          </a:solidFill>
                        </a:rPr>
                        <a:t>estrogen_pgml</a:t>
                      </a:r>
                    </a:p>
                  </a:txBody>
                  <a:tcPr marL="49727" marR="49727" marT="24863" marB="24863" anchor="ctr"/>
                </a:tc>
                <a:tc>
                  <a:txBody>
                    <a:bodyPr/>
                    <a:lstStyle/>
                    <a:p>
                      <a:pPr algn="r">
                        <a:buNone/>
                      </a:pPr>
                      <a:r>
                        <a:rPr lang="en-IN" sz="1600">
                          <a:solidFill>
                            <a:schemeClr val="bg2">
                              <a:lumMod val="90000"/>
                            </a:schemeClr>
                          </a:solidFill>
                        </a:rPr>
                        <a:t>-0.000</a:t>
                      </a:r>
                    </a:p>
                  </a:txBody>
                  <a:tcPr marL="49727" marR="49727" marT="24863" marB="24863" anchor="ctr"/>
                </a:tc>
                <a:tc>
                  <a:txBody>
                    <a:bodyPr/>
                    <a:lstStyle/>
                    <a:p>
                      <a:pPr algn="r">
                        <a:buNone/>
                      </a:pPr>
                      <a:r>
                        <a:rPr lang="en-IN" sz="1600" dirty="0">
                          <a:solidFill>
                            <a:schemeClr val="bg2">
                              <a:lumMod val="90000"/>
                            </a:schemeClr>
                          </a:solidFill>
                        </a:rPr>
                        <a:t>0.000</a:t>
                      </a:r>
                    </a:p>
                  </a:txBody>
                  <a:tcPr marL="49727" marR="49727" marT="24863" marB="24863" anchor="ctr"/>
                </a:tc>
                <a:tc>
                  <a:txBody>
                    <a:bodyPr/>
                    <a:lstStyle/>
                    <a:p>
                      <a:pPr algn="r">
                        <a:buNone/>
                      </a:pPr>
                      <a:r>
                        <a:rPr lang="en-IN" sz="1600" dirty="0">
                          <a:solidFill>
                            <a:schemeClr val="bg2">
                              <a:lumMod val="90000"/>
                            </a:schemeClr>
                          </a:solidFill>
                        </a:rPr>
                        <a:t>-0.191</a:t>
                      </a:r>
                    </a:p>
                  </a:txBody>
                  <a:tcPr marL="49727" marR="49727" marT="24863" marB="24863" anchor="ctr"/>
                </a:tc>
                <a:tc>
                  <a:txBody>
                    <a:bodyPr/>
                    <a:lstStyle/>
                    <a:p>
                      <a:pPr algn="r">
                        <a:buNone/>
                      </a:pPr>
                      <a:r>
                        <a:rPr lang="en-IN" sz="1600" dirty="0">
                          <a:solidFill>
                            <a:schemeClr val="bg2">
                              <a:lumMod val="90000"/>
                            </a:schemeClr>
                          </a:solidFill>
                        </a:rPr>
                        <a:t>0.849</a:t>
                      </a:r>
                    </a:p>
                  </a:txBody>
                  <a:tcPr marL="49727" marR="49727" marT="24863" marB="24863" anchor="ctr"/>
                </a:tc>
                <a:tc>
                  <a:txBody>
                    <a:bodyPr/>
                    <a:lstStyle/>
                    <a:p>
                      <a:pPr algn="r">
                        <a:buNone/>
                      </a:pPr>
                      <a:r>
                        <a:rPr lang="en-IN" sz="1600">
                          <a:solidFill>
                            <a:schemeClr val="bg2">
                              <a:lumMod val="90000"/>
                            </a:schemeClr>
                          </a:solidFill>
                        </a:rPr>
                        <a:t>-0.000</a:t>
                      </a:r>
                    </a:p>
                  </a:txBody>
                  <a:tcPr marL="49727" marR="49727" marT="24863" marB="24863" anchor="ctr"/>
                </a:tc>
                <a:tc>
                  <a:txBody>
                    <a:bodyPr/>
                    <a:lstStyle/>
                    <a:p>
                      <a:pPr algn="r">
                        <a:buNone/>
                      </a:pPr>
                      <a:r>
                        <a:rPr lang="en-IN" sz="1600">
                          <a:solidFill>
                            <a:schemeClr val="bg2">
                              <a:lumMod val="90000"/>
                            </a:schemeClr>
                          </a:solidFill>
                        </a:rPr>
                        <a:t>0.000</a:t>
                      </a:r>
                    </a:p>
                  </a:txBody>
                  <a:tcPr marL="49727" marR="49727" marT="24863" marB="24863" anchor="ctr"/>
                </a:tc>
                <a:extLst>
                  <a:ext uri="{0D108BD9-81ED-4DB2-BD59-A6C34878D82A}">
                    <a16:rowId xmlns:a16="http://schemas.microsoft.com/office/drawing/2014/main" val="937469174"/>
                  </a:ext>
                </a:extLst>
              </a:tr>
              <a:tr h="389963">
                <a:tc>
                  <a:txBody>
                    <a:bodyPr/>
                    <a:lstStyle/>
                    <a:p>
                      <a:pPr>
                        <a:buNone/>
                      </a:pPr>
                      <a:r>
                        <a:rPr lang="en-IN" sz="1400">
                          <a:solidFill>
                            <a:schemeClr val="bg2">
                              <a:lumMod val="90000"/>
                            </a:schemeClr>
                          </a:solidFill>
                        </a:rPr>
                        <a:t>progesterone_ngml</a:t>
                      </a:r>
                    </a:p>
                  </a:txBody>
                  <a:tcPr marL="49727" marR="49727" marT="24863" marB="24863" anchor="ctr"/>
                </a:tc>
                <a:tc>
                  <a:txBody>
                    <a:bodyPr/>
                    <a:lstStyle/>
                    <a:p>
                      <a:pPr algn="r">
                        <a:buNone/>
                      </a:pPr>
                      <a:r>
                        <a:rPr lang="en-IN" sz="1600">
                          <a:solidFill>
                            <a:schemeClr val="bg2">
                              <a:lumMod val="90000"/>
                            </a:schemeClr>
                          </a:solidFill>
                        </a:rPr>
                        <a:t>0.003</a:t>
                      </a:r>
                    </a:p>
                  </a:txBody>
                  <a:tcPr marL="49727" marR="49727" marT="24863" marB="24863" anchor="ctr"/>
                </a:tc>
                <a:tc>
                  <a:txBody>
                    <a:bodyPr/>
                    <a:lstStyle/>
                    <a:p>
                      <a:pPr algn="r">
                        <a:buNone/>
                      </a:pPr>
                      <a:r>
                        <a:rPr lang="en-IN" sz="1600" dirty="0">
                          <a:solidFill>
                            <a:schemeClr val="bg2">
                              <a:lumMod val="90000"/>
                            </a:schemeClr>
                          </a:solidFill>
                        </a:rPr>
                        <a:t>0.003</a:t>
                      </a:r>
                    </a:p>
                  </a:txBody>
                  <a:tcPr marL="49727" marR="49727" marT="24863" marB="24863" anchor="ctr"/>
                </a:tc>
                <a:tc>
                  <a:txBody>
                    <a:bodyPr/>
                    <a:lstStyle/>
                    <a:p>
                      <a:pPr algn="r">
                        <a:buNone/>
                      </a:pPr>
                      <a:r>
                        <a:rPr lang="en-IN" sz="1600" dirty="0">
                          <a:solidFill>
                            <a:schemeClr val="bg2">
                              <a:lumMod val="90000"/>
                            </a:schemeClr>
                          </a:solidFill>
                        </a:rPr>
                        <a:t>0.992</a:t>
                      </a:r>
                    </a:p>
                  </a:txBody>
                  <a:tcPr marL="49727" marR="49727" marT="24863" marB="24863" anchor="ctr"/>
                </a:tc>
                <a:tc>
                  <a:txBody>
                    <a:bodyPr/>
                    <a:lstStyle/>
                    <a:p>
                      <a:pPr algn="r">
                        <a:buNone/>
                      </a:pPr>
                      <a:r>
                        <a:rPr lang="en-IN" sz="1600" dirty="0">
                          <a:solidFill>
                            <a:schemeClr val="bg2">
                              <a:lumMod val="90000"/>
                            </a:schemeClr>
                          </a:solidFill>
                        </a:rPr>
                        <a:t>0.321</a:t>
                      </a:r>
                    </a:p>
                  </a:txBody>
                  <a:tcPr marL="49727" marR="49727" marT="24863" marB="24863" anchor="ctr"/>
                </a:tc>
                <a:tc>
                  <a:txBody>
                    <a:bodyPr/>
                    <a:lstStyle/>
                    <a:p>
                      <a:pPr algn="r">
                        <a:buNone/>
                      </a:pPr>
                      <a:r>
                        <a:rPr lang="en-IN" sz="1600">
                          <a:solidFill>
                            <a:schemeClr val="bg2">
                              <a:lumMod val="90000"/>
                            </a:schemeClr>
                          </a:solidFill>
                        </a:rPr>
                        <a:t>-0.003</a:t>
                      </a:r>
                    </a:p>
                  </a:txBody>
                  <a:tcPr marL="49727" marR="49727" marT="24863" marB="24863" anchor="ctr"/>
                </a:tc>
                <a:tc>
                  <a:txBody>
                    <a:bodyPr/>
                    <a:lstStyle/>
                    <a:p>
                      <a:pPr algn="r">
                        <a:buNone/>
                      </a:pPr>
                      <a:r>
                        <a:rPr lang="en-IN" sz="1600">
                          <a:solidFill>
                            <a:schemeClr val="bg2">
                              <a:lumMod val="90000"/>
                            </a:schemeClr>
                          </a:solidFill>
                        </a:rPr>
                        <a:t>0.008</a:t>
                      </a:r>
                    </a:p>
                  </a:txBody>
                  <a:tcPr marL="49727" marR="49727" marT="24863" marB="24863" anchor="ctr"/>
                </a:tc>
                <a:extLst>
                  <a:ext uri="{0D108BD9-81ED-4DB2-BD59-A6C34878D82A}">
                    <a16:rowId xmlns:a16="http://schemas.microsoft.com/office/drawing/2014/main" val="340478366"/>
                  </a:ext>
                </a:extLst>
              </a:tr>
              <a:tr h="501015">
                <a:tc>
                  <a:txBody>
                    <a:bodyPr/>
                    <a:lstStyle/>
                    <a:p>
                      <a:pPr>
                        <a:buNone/>
                      </a:pPr>
                      <a:r>
                        <a:rPr lang="en-IN" sz="1400">
                          <a:solidFill>
                            <a:schemeClr val="bg2">
                              <a:lumMod val="90000"/>
                            </a:schemeClr>
                          </a:solidFill>
                        </a:rPr>
                        <a:t>ovulation_result_Positive</a:t>
                      </a:r>
                    </a:p>
                  </a:txBody>
                  <a:tcPr marL="49727" marR="49727" marT="24863" marB="24863" anchor="ctr"/>
                </a:tc>
                <a:tc>
                  <a:txBody>
                    <a:bodyPr/>
                    <a:lstStyle/>
                    <a:p>
                      <a:pPr algn="r">
                        <a:buNone/>
                      </a:pPr>
                      <a:r>
                        <a:rPr lang="en-IN" sz="1600">
                          <a:solidFill>
                            <a:schemeClr val="bg2">
                              <a:lumMod val="90000"/>
                            </a:schemeClr>
                          </a:solidFill>
                        </a:rPr>
                        <a:t>0.013</a:t>
                      </a:r>
                    </a:p>
                  </a:txBody>
                  <a:tcPr marL="49727" marR="49727" marT="24863" marB="24863" anchor="ctr"/>
                </a:tc>
                <a:tc>
                  <a:txBody>
                    <a:bodyPr/>
                    <a:lstStyle/>
                    <a:p>
                      <a:pPr algn="r">
                        <a:buNone/>
                      </a:pPr>
                      <a:r>
                        <a:rPr lang="en-IN" sz="1600">
                          <a:solidFill>
                            <a:schemeClr val="bg2">
                              <a:lumMod val="90000"/>
                            </a:schemeClr>
                          </a:solidFill>
                        </a:rPr>
                        <a:t>0.011</a:t>
                      </a:r>
                    </a:p>
                  </a:txBody>
                  <a:tcPr marL="49727" marR="49727" marT="24863" marB="24863" anchor="ctr"/>
                </a:tc>
                <a:tc>
                  <a:txBody>
                    <a:bodyPr/>
                    <a:lstStyle/>
                    <a:p>
                      <a:pPr algn="r">
                        <a:buNone/>
                      </a:pPr>
                      <a:r>
                        <a:rPr lang="en-IN" sz="1600" dirty="0">
                          <a:solidFill>
                            <a:schemeClr val="bg2">
                              <a:lumMod val="90000"/>
                            </a:schemeClr>
                          </a:solidFill>
                        </a:rPr>
                        <a:t>1.191</a:t>
                      </a:r>
                    </a:p>
                  </a:txBody>
                  <a:tcPr marL="49727" marR="49727" marT="24863" marB="24863" anchor="ctr"/>
                </a:tc>
                <a:tc>
                  <a:txBody>
                    <a:bodyPr/>
                    <a:lstStyle/>
                    <a:p>
                      <a:pPr algn="r">
                        <a:buNone/>
                      </a:pPr>
                      <a:r>
                        <a:rPr lang="en-IN" sz="1600" dirty="0">
                          <a:solidFill>
                            <a:schemeClr val="bg2">
                              <a:lumMod val="90000"/>
                            </a:schemeClr>
                          </a:solidFill>
                        </a:rPr>
                        <a:t>0.234</a:t>
                      </a:r>
                    </a:p>
                  </a:txBody>
                  <a:tcPr marL="49727" marR="49727" marT="24863" marB="24863" anchor="ctr"/>
                </a:tc>
                <a:tc>
                  <a:txBody>
                    <a:bodyPr/>
                    <a:lstStyle/>
                    <a:p>
                      <a:pPr algn="r">
                        <a:buNone/>
                      </a:pPr>
                      <a:r>
                        <a:rPr lang="en-IN" sz="1600">
                          <a:solidFill>
                            <a:schemeClr val="bg2">
                              <a:lumMod val="90000"/>
                            </a:schemeClr>
                          </a:solidFill>
                        </a:rPr>
                        <a:t>-0.008</a:t>
                      </a:r>
                    </a:p>
                  </a:txBody>
                  <a:tcPr marL="49727" marR="49727" marT="24863" marB="24863" anchor="ctr"/>
                </a:tc>
                <a:tc>
                  <a:txBody>
                    <a:bodyPr/>
                    <a:lstStyle/>
                    <a:p>
                      <a:pPr algn="r">
                        <a:buNone/>
                      </a:pPr>
                      <a:r>
                        <a:rPr lang="en-IN" sz="1600">
                          <a:solidFill>
                            <a:schemeClr val="bg2">
                              <a:lumMod val="90000"/>
                            </a:schemeClr>
                          </a:solidFill>
                        </a:rPr>
                        <a:t>0.033</a:t>
                      </a:r>
                    </a:p>
                  </a:txBody>
                  <a:tcPr marL="49727" marR="49727" marT="24863" marB="24863" anchor="ctr"/>
                </a:tc>
                <a:extLst>
                  <a:ext uri="{0D108BD9-81ED-4DB2-BD59-A6C34878D82A}">
                    <a16:rowId xmlns:a16="http://schemas.microsoft.com/office/drawing/2014/main" val="352602505"/>
                  </a:ext>
                </a:extLst>
              </a:tr>
              <a:tr h="389963">
                <a:tc>
                  <a:txBody>
                    <a:bodyPr/>
                    <a:lstStyle/>
                    <a:p>
                      <a:pPr>
                        <a:buNone/>
                      </a:pPr>
                      <a:r>
                        <a:rPr lang="en-IN" sz="1400">
                          <a:solidFill>
                            <a:schemeClr val="bg2">
                              <a:lumMod val="90000"/>
                            </a:schemeClr>
                          </a:solidFill>
                        </a:rPr>
                        <a:t>mood_score</a:t>
                      </a:r>
                    </a:p>
                  </a:txBody>
                  <a:tcPr marL="49727" marR="49727" marT="24863" marB="24863" anchor="ctr"/>
                </a:tc>
                <a:tc>
                  <a:txBody>
                    <a:bodyPr/>
                    <a:lstStyle/>
                    <a:p>
                      <a:pPr algn="r">
                        <a:buNone/>
                      </a:pPr>
                      <a:r>
                        <a:rPr lang="en-IN" sz="1600">
                          <a:solidFill>
                            <a:schemeClr val="bg2">
                              <a:lumMod val="90000"/>
                            </a:schemeClr>
                          </a:solidFill>
                        </a:rPr>
                        <a:t>-0.063</a:t>
                      </a:r>
                    </a:p>
                  </a:txBody>
                  <a:tcPr marL="49727" marR="49727" marT="24863" marB="24863" anchor="ctr"/>
                </a:tc>
                <a:tc>
                  <a:txBody>
                    <a:bodyPr/>
                    <a:lstStyle/>
                    <a:p>
                      <a:pPr algn="r">
                        <a:buNone/>
                      </a:pPr>
                      <a:r>
                        <a:rPr lang="en-IN" sz="1600">
                          <a:solidFill>
                            <a:schemeClr val="bg2">
                              <a:lumMod val="90000"/>
                            </a:schemeClr>
                          </a:solidFill>
                        </a:rPr>
                        <a:t>0.004</a:t>
                      </a:r>
                    </a:p>
                  </a:txBody>
                  <a:tcPr marL="49727" marR="49727" marT="24863" marB="24863" anchor="ctr"/>
                </a:tc>
                <a:tc>
                  <a:txBody>
                    <a:bodyPr/>
                    <a:lstStyle/>
                    <a:p>
                      <a:pPr algn="r">
                        <a:buNone/>
                      </a:pPr>
                      <a:r>
                        <a:rPr lang="en-IN" sz="1600" dirty="0">
                          <a:solidFill>
                            <a:schemeClr val="bg2">
                              <a:lumMod val="90000"/>
                            </a:schemeClr>
                          </a:solidFill>
                        </a:rPr>
                        <a:t>-15.556</a:t>
                      </a:r>
                    </a:p>
                  </a:txBody>
                  <a:tcPr marL="49727" marR="49727" marT="24863" marB="24863" anchor="ctr"/>
                </a:tc>
                <a:tc>
                  <a:txBody>
                    <a:bodyPr/>
                    <a:lstStyle/>
                    <a:p>
                      <a:pPr algn="r">
                        <a:buNone/>
                      </a:pPr>
                      <a:r>
                        <a:rPr lang="en-IN" sz="1600" dirty="0">
                          <a:solidFill>
                            <a:schemeClr val="bg2">
                              <a:lumMod val="90000"/>
                            </a:schemeClr>
                          </a:solidFill>
                        </a:rPr>
                        <a:t>0.000</a:t>
                      </a:r>
                    </a:p>
                  </a:txBody>
                  <a:tcPr marL="49727" marR="49727" marT="24863" marB="24863" anchor="ctr"/>
                </a:tc>
                <a:tc>
                  <a:txBody>
                    <a:bodyPr/>
                    <a:lstStyle/>
                    <a:p>
                      <a:pPr algn="r">
                        <a:buNone/>
                      </a:pPr>
                      <a:r>
                        <a:rPr lang="en-IN" sz="1600">
                          <a:solidFill>
                            <a:schemeClr val="bg2">
                              <a:lumMod val="90000"/>
                            </a:schemeClr>
                          </a:solidFill>
                        </a:rPr>
                        <a:t>-0.071</a:t>
                      </a:r>
                    </a:p>
                  </a:txBody>
                  <a:tcPr marL="49727" marR="49727" marT="24863" marB="24863" anchor="ctr"/>
                </a:tc>
                <a:tc>
                  <a:txBody>
                    <a:bodyPr/>
                    <a:lstStyle/>
                    <a:p>
                      <a:pPr algn="r">
                        <a:buNone/>
                      </a:pPr>
                      <a:r>
                        <a:rPr lang="en-IN" sz="1600">
                          <a:solidFill>
                            <a:schemeClr val="bg2">
                              <a:lumMod val="90000"/>
                            </a:schemeClr>
                          </a:solidFill>
                        </a:rPr>
                        <a:t>-0.055</a:t>
                      </a:r>
                    </a:p>
                  </a:txBody>
                  <a:tcPr marL="49727" marR="49727" marT="24863" marB="24863" anchor="ctr"/>
                </a:tc>
                <a:extLst>
                  <a:ext uri="{0D108BD9-81ED-4DB2-BD59-A6C34878D82A}">
                    <a16:rowId xmlns:a16="http://schemas.microsoft.com/office/drawing/2014/main" val="1868553422"/>
                  </a:ext>
                </a:extLst>
              </a:tr>
              <a:tr h="389963">
                <a:tc>
                  <a:txBody>
                    <a:bodyPr/>
                    <a:lstStyle/>
                    <a:p>
                      <a:pPr>
                        <a:buNone/>
                      </a:pPr>
                      <a:r>
                        <a:rPr lang="en-IN" sz="1400">
                          <a:solidFill>
                            <a:schemeClr val="bg2">
                              <a:lumMod val="90000"/>
                            </a:schemeClr>
                          </a:solidFill>
                        </a:rPr>
                        <a:t>stress_score_cycle</a:t>
                      </a:r>
                    </a:p>
                  </a:txBody>
                  <a:tcPr marL="49727" marR="49727" marT="24863" marB="24863" anchor="ctr"/>
                </a:tc>
                <a:tc>
                  <a:txBody>
                    <a:bodyPr/>
                    <a:lstStyle/>
                    <a:p>
                      <a:pPr algn="r">
                        <a:buNone/>
                      </a:pPr>
                      <a:r>
                        <a:rPr lang="en-IN" sz="1600">
                          <a:solidFill>
                            <a:schemeClr val="bg2">
                              <a:lumMod val="90000"/>
                            </a:schemeClr>
                          </a:solidFill>
                        </a:rPr>
                        <a:t>-0.335</a:t>
                      </a:r>
                    </a:p>
                  </a:txBody>
                  <a:tcPr marL="49727" marR="49727" marT="24863" marB="24863" anchor="ctr"/>
                </a:tc>
                <a:tc>
                  <a:txBody>
                    <a:bodyPr/>
                    <a:lstStyle/>
                    <a:p>
                      <a:pPr algn="r">
                        <a:buNone/>
                      </a:pPr>
                      <a:r>
                        <a:rPr lang="en-IN" sz="1600">
                          <a:solidFill>
                            <a:schemeClr val="bg2">
                              <a:lumMod val="90000"/>
                            </a:schemeClr>
                          </a:solidFill>
                        </a:rPr>
                        <a:t>0.007</a:t>
                      </a:r>
                    </a:p>
                  </a:txBody>
                  <a:tcPr marL="49727" marR="49727" marT="24863" marB="24863" anchor="ctr"/>
                </a:tc>
                <a:tc>
                  <a:txBody>
                    <a:bodyPr/>
                    <a:lstStyle/>
                    <a:p>
                      <a:pPr algn="r">
                        <a:buNone/>
                      </a:pPr>
                      <a:r>
                        <a:rPr lang="en-IN" sz="1600" dirty="0">
                          <a:solidFill>
                            <a:schemeClr val="bg2">
                              <a:lumMod val="90000"/>
                            </a:schemeClr>
                          </a:solidFill>
                        </a:rPr>
                        <a:t>-49.130</a:t>
                      </a:r>
                    </a:p>
                  </a:txBody>
                  <a:tcPr marL="49727" marR="49727" marT="24863" marB="24863" anchor="ctr"/>
                </a:tc>
                <a:tc>
                  <a:txBody>
                    <a:bodyPr/>
                    <a:lstStyle/>
                    <a:p>
                      <a:pPr algn="r">
                        <a:buNone/>
                      </a:pPr>
                      <a:r>
                        <a:rPr lang="en-IN" sz="1600">
                          <a:solidFill>
                            <a:schemeClr val="bg2">
                              <a:lumMod val="90000"/>
                            </a:schemeClr>
                          </a:solidFill>
                        </a:rPr>
                        <a:t>0.000</a:t>
                      </a:r>
                    </a:p>
                  </a:txBody>
                  <a:tcPr marL="49727" marR="49727" marT="24863" marB="24863" anchor="ctr"/>
                </a:tc>
                <a:tc>
                  <a:txBody>
                    <a:bodyPr/>
                    <a:lstStyle/>
                    <a:p>
                      <a:pPr algn="r">
                        <a:buNone/>
                      </a:pPr>
                      <a:r>
                        <a:rPr lang="en-IN" sz="1600">
                          <a:solidFill>
                            <a:schemeClr val="bg2">
                              <a:lumMod val="90000"/>
                            </a:schemeClr>
                          </a:solidFill>
                        </a:rPr>
                        <a:t>-0.348</a:t>
                      </a:r>
                    </a:p>
                  </a:txBody>
                  <a:tcPr marL="49727" marR="49727" marT="24863" marB="24863" anchor="ctr"/>
                </a:tc>
                <a:tc>
                  <a:txBody>
                    <a:bodyPr/>
                    <a:lstStyle/>
                    <a:p>
                      <a:pPr algn="r">
                        <a:buNone/>
                      </a:pPr>
                      <a:r>
                        <a:rPr lang="en-IN" sz="1600">
                          <a:solidFill>
                            <a:schemeClr val="bg2">
                              <a:lumMod val="90000"/>
                            </a:schemeClr>
                          </a:solidFill>
                        </a:rPr>
                        <a:t>-0.321</a:t>
                      </a:r>
                    </a:p>
                  </a:txBody>
                  <a:tcPr marL="49727" marR="49727" marT="24863" marB="24863" anchor="ctr"/>
                </a:tc>
                <a:extLst>
                  <a:ext uri="{0D108BD9-81ED-4DB2-BD59-A6C34878D82A}">
                    <a16:rowId xmlns:a16="http://schemas.microsoft.com/office/drawing/2014/main" val="3757768264"/>
                  </a:ext>
                </a:extLst>
              </a:tr>
              <a:tr h="501015">
                <a:tc>
                  <a:txBody>
                    <a:bodyPr/>
                    <a:lstStyle/>
                    <a:p>
                      <a:pPr>
                        <a:buNone/>
                      </a:pPr>
                      <a:r>
                        <a:rPr lang="en-IN" sz="1400">
                          <a:solidFill>
                            <a:schemeClr val="bg2">
                              <a:lumMod val="90000"/>
                            </a:schemeClr>
                          </a:solidFill>
                        </a:rPr>
                        <a:t>stress_score_baseline</a:t>
                      </a:r>
                    </a:p>
                  </a:txBody>
                  <a:tcPr marL="49727" marR="49727" marT="24863" marB="24863" anchor="ctr"/>
                </a:tc>
                <a:tc>
                  <a:txBody>
                    <a:bodyPr/>
                    <a:lstStyle/>
                    <a:p>
                      <a:pPr algn="r">
                        <a:buNone/>
                      </a:pPr>
                      <a:r>
                        <a:rPr lang="en-IN" sz="1600">
                          <a:solidFill>
                            <a:schemeClr val="bg2">
                              <a:lumMod val="90000"/>
                            </a:schemeClr>
                          </a:solidFill>
                        </a:rPr>
                        <a:t>0.007</a:t>
                      </a:r>
                    </a:p>
                  </a:txBody>
                  <a:tcPr marL="49727" marR="49727" marT="24863" marB="24863" anchor="ctr"/>
                </a:tc>
                <a:tc>
                  <a:txBody>
                    <a:bodyPr/>
                    <a:lstStyle/>
                    <a:p>
                      <a:pPr algn="r">
                        <a:buNone/>
                      </a:pPr>
                      <a:r>
                        <a:rPr lang="en-IN" sz="1600">
                          <a:solidFill>
                            <a:schemeClr val="bg2">
                              <a:lumMod val="90000"/>
                            </a:schemeClr>
                          </a:solidFill>
                        </a:rPr>
                        <a:t>0.011</a:t>
                      </a:r>
                    </a:p>
                  </a:txBody>
                  <a:tcPr marL="49727" marR="49727" marT="24863" marB="24863" anchor="ctr"/>
                </a:tc>
                <a:tc>
                  <a:txBody>
                    <a:bodyPr/>
                    <a:lstStyle/>
                    <a:p>
                      <a:pPr algn="r">
                        <a:buNone/>
                      </a:pPr>
                      <a:r>
                        <a:rPr lang="en-IN" sz="1600" dirty="0">
                          <a:solidFill>
                            <a:schemeClr val="bg2">
                              <a:lumMod val="90000"/>
                            </a:schemeClr>
                          </a:solidFill>
                        </a:rPr>
                        <a:t>0.708</a:t>
                      </a:r>
                    </a:p>
                  </a:txBody>
                  <a:tcPr marL="49727" marR="49727" marT="24863" marB="24863" anchor="ctr"/>
                </a:tc>
                <a:tc>
                  <a:txBody>
                    <a:bodyPr/>
                    <a:lstStyle/>
                    <a:p>
                      <a:pPr algn="r">
                        <a:buNone/>
                      </a:pPr>
                      <a:r>
                        <a:rPr lang="en-IN" sz="1600" dirty="0">
                          <a:solidFill>
                            <a:schemeClr val="bg2">
                              <a:lumMod val="90000"/>
                            </a:schemeClr>
                          </a:solidFill>
                        </a:rPr>
                        <a:t>0.479</a:t>
                      </a:r>
                    </a:p>
                  </a:txBody>
                  <a:tcPr marL="49727" marR="49727" marT="24863" marB="24863" anchor="ctr"/>
                </a:tc>
                <a:tc>
                  <a:txBody>
                    <a:bodyPr/>
                    <a:lstStyle/>
                    <a:p>
                      <a:pPr algn="r">
                        <a:buNone/>
                      </a:pPr>
                      <a:r>
                        <a:rPr lang="en-IN" sz="1600">
                          <a:solidFill>
                            <a:schemeClr val="bg2">
                              <a:lumMod val="90000"/>
                            </a:schemeClr>
                          </a:solidFill>
                        </a:rPr>
                        <a:t>-0.013</a:t>
                      </a:r>
                    </a:p>
                  </a:txBody>
                  <a:tcPr marL="49727" marR="49727" marT="24863" marB="24863" anchor="ctr"/>
                </a:tc>
                <a:tc>
                  <a:txBody>
                    <a:bodyPr/>
                    <a:lstStyle/>
                    <a:p>
                      <a:pPr algn="r">
                        <a:buNone/>
                      </a:pPr>
                      <a:r>
                        <a:rPr lang="en-IN" sz="1600">
                          <a:solidFill>
                            <a:schemeClr val="bg2">
                              <a:lumMod val="90000"/>
                            </a:schemeClr>
                          </a:solidFill>
                        </a:rPr>
                        <a:t>0.028</a:t>
                      </a:r>
                    </a:p>
                  </a:txBody>
                  <a:tcPr marL="49727" marR="49727" marT="24863" marB="24863" anchor="ctr"/>
                </a:tc>
                <a:extLst>
                  <a:ext uri="{0D108BD9-81ED-4DB2-BD59-A6C34878D82A}">
                    <a16:rowId xmlns:a16="http://schemas.microsoft.com/office/drawing/2014/main" val="4175146998"/>
                  </a:ext>
                </a:extLst>
              </a:tr>
              <a:tr h="389963">
                <a:tc>
                  <a:txBody>
                    <a:bodyPr/>
                    <a:lstStyle/>
                    <a:p>
                      <a:pPr>
                        <a:buNone/>
                      </a:pPr>
                      <a:r>
                        <a:rPr lang="en-IN" sz="1400">
                          <a:solidFill>
                            <a:schemeClr val="bg2">
                              <a:lumMod val="90000"/>
                            </a:schemeClr>
                          </a:solidFill>
                        </a:rPr>
                        <a:t>energy_level</a:t>
                      </a:r>
                    </a:p>
                  </a:txBody>
                  <a:tcPr marL="49727" marR="49727" marT="24863" marB="24863" anchor="ctr"/>
                </a:tc>
                <a:tc>
                  <a:txBody>
                    <a:bodyPr/>
                    <a:lstStyle/>
                    <a:p>
                      <a:pPr algn="r">
                        <a:buNone/>
                      </a:pPr>
                      <a:r>
                        <a:rPr lang="en-IN" sz="1600">
                          <a:solidFill>
                            <a:schemeClr val="bg2">
                              <a:lumMod val="90000"/>
                            </a:schemeClr>
                          </a:solidFill>
                        </a:rPr>
                        <a:t>-0.069</a:t>
                      </a:r>
                    </a:p>
                  </a:txBody>
                  <a:tcPr marL="49727" marR="49727" marT="24863" marB="24863" anchor="ctr"/>
                </a:tc>
                <a:tc>
                  <a:txBody>
                    <a:bodyPr/>
                    <a:lstStyle/>
                    <a:p>
                      <a:pPr algn="r">
                        <a:buNone/>
                      </a:pPr>
                      <a:r>
                        <a:rPr lang="en-IN" sz="1600">
                          <a:solidFill>
                            <a:schemeClr val="bg2">
                              <a:lumMod val="90000"/>
                            </a:schemeClr>
                          </a:solidFill>
                        </a:rPr>
                        <a:t>0.004</a:t>
                      </a:r>
                    </a:p>
                  </a:txBody>
                  <a:tcPr marL="49727" marR="49727" marT="24863" marB="24863" anchor="ctr"/>
                </a:tc>
                <a:tc>
                  <a:txBody>
                    <a:bodyPr/>
                    <a:lstStyle/>
                    <a:p>
                      <a:pPr algn="r">
                        <a:buNone/>
                      </a:pPr>
                      <a:r>
                        <a:rPr lang="en-IN" sz="1600" dirty="0">
                          <a:solidFill>
                            <a:schemeClr val="bg2">
                              <a:lumMod val="90000"/>
                            </a:schemeClr>
                          </a:solidFill>
                        </a:rPr>
                        <a:t>-17.163</a:t>
                      </a:r>
                    </a:p>
                  </a:txBody>
                  <a:tcPr marL="49727" marR="49727" marT="24863" marB="24863" anchor="ctr"/>
                </a:tc>
                <a:tc>
                  <a:txBody>
                    <a:bodyPr/>
                    <a:lstStyle/>
                    <a:p>
                      <a:pPr algn="r">
                        <a:buNone/>
                      </a:pPr>
                      <a:r>
                        <a:rPr lang="en-IN" sz="1600" dirty="0">
                          <a:solidFill>
                            <a:schemeClr val="bg2">
                              <a:lumMod val="90000"/>
                            </a:schemeClr>
                          </a:solidFill>
                        </a:rPr>
                        <a:t>0.000</a:t>
                      </a:r>
                    </a:p>
                  </a:txBody>
                  <a:tcPr marL="49727" marR="49727" marT="24863" marB="24863" anchor="ctr"/>
                </a:tc>
                <a:tc>
                  <a:txBody>
                    <a:bodyPr/>
                    <a:lstStyle/>
                    <a:p>
                      <a:pPr algn="r">
                        <a:buNone/>
                      </a:pPr>
                      <a:r>
                        <a:rPr lang="en-IN" sz="1600">
                          <a:solidFill>
                            <a:schemeClr val="bg2">
                              <a:lumMod val="90000"/>
                            </a:schemeClr>
                          </a:solidFill>
                        </a:rPr>
                        <a:t>-0.077</a:t>
                      </a:r>
                    </a:p>
                  </a:txBody>
                  <a:tcPr marL="49727" marR="49727" marT="24863" marB="24863" anchor="ctr"/>
                </a:tc>
                <a:tc>
                  <a:txBody>
                    <a:bodyPr/>
                    <a:lstStyle/>
                    <a:p>
                      <a:pPr algn="r">
                        <a:buNone/>
                      </a:pPr>
                      <a:r>
                        <a:rPr lang="en-IN" sz="1600">
                          <a:solidFill>
                            <a:schemeClr val="bg2">
                              <a:lumMod val="90000"/>
                            </a:schemeClr>
                          </a:solidFill>
                        </a:rPr>
                        <a:t>-0.061</a:t>
                      </a:r>
                    </a:p>
                  </a:txBody>
                  <a:tcPr marL="49727" marR="49727" marT="24863" marB="24863" anchor="ctr"/>
                </a:tc>
                <a:extLst>
                  <a:ext uri="{0D108BD9-81ED-4DB2-BD59-A6C34878D82A}">
                    <a16:rowId xmlns:a16="http://schemas.microsoft.com/office/drawing/2014/main" val="4077182320"/>
                  </a:ext>
                </a:extLst>
              </a:tr>
              <a:tr h="501015">
                <a:tc>
                  <a:txBody>
                    <a:bodyPr/>
                    <a:lstStyle/>
                    <a:p>
                      <a:pPr>
                        <a:buNone/>
                      </a:pPr>
                      <a:r>
                        <a:rPr lang="en-IN" sz="1400">
                          <a:solidFill>
                            <a:schemeClr val="bg2">
                              <a:lumMod val="90000"/>
                            </a:schemeClr>
                          </a:solidFill>
                        </a:rPr>
                        <a:t>concentration_score</a:t>
                      </a:r>
                    </a:p>
                  </a:txBody>
                  <a:tcPr marL="49727" marR="49727" marT="24863" marB="24863" anchor="ctr"/>
                </a:tc>
                <a:tc>
                  <a:txBody>
                    <a:bodyPr/>
                    <a:lstStyle/>
                    <a:p>
                      <a:pPr algn="r">
                        <a:buNone/>
                      </a:pPr>
                      <a:r>
                        <a:rPr lang="en-IN" sz="1600">
                          <a:solidFill>
                            <a:schemeClr val="bg2">
                              <a:lumMod val="90000"/>
                            </a:schemeClr>
                          </a:solidFill>
                        </a:rPr>
                        <a:t>-0.100</a:t>
                      </a:r>
                    </a:p>
                  </a:txBody>
                  <a:tcPr marL="49727" marR="49727" marT="24863" marB="24863" anchor="ctr"/>
                </a:tc>
                <a:tc>
                  <a:txBody>
                    <a:bodyPr/>
                    <a:lstStyle/>
                    <a:p>
                      <a:pPr algn="r">
                        <a:buNone/>
                      </a:pPr>
                      <a:r>
                        <a:rPr lang="en-IN" sz="1600">
                          <a:solidFill>
                            <a:schemeClr val="bg2">
                              <a:lumMod val="90000"/>
                            </a:schemeClr>
                          </a:solidFill>
                        </a:rPr>
                        <a:t>0.005</a:t>
                      </a:r>
                    </a:p>
                  </a:txBody>
                  <a:tcPr marL="49727" marR="49727" marT="24863" marB="24863" anchor="ctr"/>
                </a:tc>
                <a:tc>
                  <a:txBody>
                    <a:bodyPr/>
                    <a:lstStyle/>
                    <a:p>
                      <a:pPr algn="r">
                        <a:buNone/>
                      </a:pPr>
                      <a:r>
                        <a:rPr lang="en-IN" sz="1600" dirty="0">
                          <a:solidFill>
                            <a:schemeClr val="bg2">
                              <a:lumMod val="90000"/>
                            </a:schemeClr>
                          </a:solidFill>
                        </a:rPr>
                        <a:t>-20.546</a:t>
                      </a:r>
                    </a:p>
                  </a:txBody>
                  <a:tcPr marL="49727" marR="49727" marT="24863" marB="24863" anchor="ctr"/>
                </a:tc>
                <a:tc>
                  <a:txBody>
                    <a:bodyPr/>
                    <a:lstStyle/>
                    <a:p>
                      <a:pPr algn="r">
                        <a:buNone/>
                      </a:pPr>
                      <a:r>
                        <a:rPr lang="en-IN" sz="1600" dirty="0">
                          <a:solidFill>
                            <a:schemeClr val="bg2">
                              <a:lumMod val="90000"/>
                            </a:schemeClr>
                          </a:solidFill>
                        </a:rPr>
                        <a:t>0.000</a:t>
                      </a:r>
                    </a:p>
                  </a:txBody>
                  <a:tcPr marL="49727" marR="49727" marT="24863" marB="24863" anchor="ctr"/>
                </a:tc>
                <a:tc>
                  <a:txBody>
                    <a:bodyPr/>
                    <a:lstStyle/>
                    <a:p>
                      <a:pPr algn="r">
                        <a:buNone/>
                      </a:pPr>
                      <a:r>
                        <a:rPr lang="en-IN" sz="1600" dirty="0">
                          <a:solidFill>
                            <a:schemeClr val="bg2">
                              <a:lumMod val="90000"/>
                            </a:schemeClr>
                          </a:solidFill>
                        </a:rPr>
                        <a:t>-0.109</a:t>
                      </a:r>
                    </a:p>
                  </a:txBody>
                  <a:tcPr marL="49727" marR="49727" marT="24863" marB="24863" anchor="ctr"/>
                </a:tc>
                <a:tc>
                  <a:txBody>
                    <a:bodyPr/>
                    <a:lstStyle/>
                    <a:p>
                      <a:pPr algn="r">
                        <a:buNone/>
                      </a:pPr>
                      <a:r>
                        <a:rPr lang="en-IN" sz="1600">
                          <a:solidFill>
                            <a:schemeClr val="bg2">
                              <a:lumMod val="90000"/>
                            </a:schemeClr>
                          </a:solidFill>
                        </a:rPr>
                        <a:t>-0.090</a:t>
                      </a:r>
                    </a:p>
                  </a:txBody>
                  <a:tcPr marL="49727" marR="49727" marT="24863" marB="24863" anchor="ctr"/>
                </a:tc>
                <a:extLst>
                  <a:ext uri="{0D108BD9-81ED-4DB2-BD59-A6C34878D82A}">
                    <a16:rowId xmlns:a16="http://schemas.microsoft.com/office/drawing/2014/main" val="3400879942"/>
                  </a:ext>
                </a:extLst>
              </a:tr>
              <a:tr h="501015">
                <a:tc>
                  <a:txBody>
                    <a:bodyPr/>
                    <a:lstStyle/>
                    <a:p>
                      <a:pPr>
                        <a:buNone/>
                      </a:pPr>
                      <a:r>
                        <a:rPr lang="en-IN" sz="1400">
                          <a:solidFill>
                            <a:schemeClr val="bg2">
                              <a:lumMod val="90000"/>
                            </a:schemeClr>
                          </a:solidFill>
                        </a:rPr>
                        <a:t>overall_health_score</a:t>
                      </a:r>
                    </a:p>
                  </a:txBody>
                  <a:tcPr marL="49727" marR="49727" marT="24863" marB="24863" anchor="ctr"/>
                </a:tc>
                <a:tc>
                  <a:txBody>
                    <a:bodyPr/>
                    <a:lstStyle/>
                    <a:p>
                      <a:pPr algn="r">
                        <a:buNone/>
                      </a:pPr>
                      <a:r>
                        <a:rPr lang="en-IN" sz="1600">
                          <a:solidFill>
                            <a:schemeClr val="bg2">
                              <a:lumMod val="90000"/>
                            </a:schemeClr>
                          </a:solidFill>
                        </a:rPr>
                        <a:t>-2.058</a:t>
                      </a:r>
                    </a:p>
                  </a:txBody>
                  <a:tcPr marL="49727" marR="49727" marT="24863" marB="24863" anchor="ctr"/>
                </a:tc>
                <a:tc>
                  <a:txBody>
                    <a:bodyPr/>
                    <a:lstStyle/>
                    <a:p>
                      <a:pPr algn="r">
                        <a:buNone/>
                      </a:pPr>
                      <a:r>
                        <a:rPr lang="en-IN" sz="1600" dirty="0">
                          <a:solidFill>
                            <a:schemeClr val="bg2">
                              <a:lumMod val="90000"/>
                            </a:schemeClr>
                          </a:solidFill>
                        </a:rPr>
                        <a:t>0.013</a:t>
                      </a:r>
                    </a:p>
                  </a:txBody>
                  <a:tcPr marL="49727" marR="49727" marT="24863" marB="24863" anchor="ctr"/>
                </a:tc>
                <a:tc>
                  <a:txBody>
                    <a:bodyPr/>
                    <a:lstStyle/>
                    <a:p>
                      <a:pPr algn="r">
                        <a:buNone/>
                      </a:pPr>
                      <a:r>
                        <a:rPr lang="en-IN" sz="1600" dirty="0">
                          <a:solidFill>
                            <a:schemeClr val="bg2">
                              <a:lumMod val="90000"/>
                            </a:schemeClr>
                          </a:solidFill>
                        </a:rPr>
                        <a:t>-164.405</a:t>
                      </a:r>
                    </a:p>
                  </a:txBody>
                  <a:tcPr marL="49727" marR="49727" marT="24863" marB="24863" anchor="ctr"/>
                </a:tc>
                <a:tc>
                  <a:txBody>
                    <a:bodyPr/>
                    <a:lstStyle/>
                    <a:p>
                      <a:pPr algn="r">
                        <a:buNone/>
                      </a:pPr>
                      <a:r>
                        <a:rPr lang="en-IN" sz="1600" dirty="0">
                          <a:solidFill>
                            <a:schemeClr val="bg2">
                              <a:lumMod val="90000"/>
                            </a:schemeClr>
                          </a:solidFill>
                        </a:rPr>
                        <a:t>0.000</a:t>
                      </a:r>
                    </a:p>
                  </a:txBody>
                  <a:tcPr marL="49727" marR="49727" marT="24863" marB="24863" anchor="ctr"/>
                </a:tc>
                <a:tc>
                  <a:txBody>
                    <a:bodyPr/>
                    <a:lstStyle/>
                    <a:p>
                      <a:pPr algn="r">
                        <a:buNone/>
                      </a:pPr>
                      <a:r>
                        <a:rPr lang="en-IN" sz="1600" dirty="0">
                          <a:solidFill>
                            <a:schemeClr val="bg2">
                              <a:lumMod val="90000"/>
                            </a:schemeClr>
                          </a:solidFill>
                        </a:rPr>
                        <a:t>-2.083</a:t>
                      </a:r>
                    </a:p>
                  </a:txBody>
                  <a:tcPr marL="49727" marR="49727" marT="24863" marB="24863" anchor="ctr"/>
                </a:tc>
                <a:tc>
                  <a:txBody>
                    <a:bodyPr/>
                    <a:lstStyle/>
                    <a:p>
                      <a:pPr algn="r">
                        <a:buNone/>
                      </a:pPr>
                      <a:r>
                        <a:rPr lang="en-IN" sz="1600" dirty="0">
                          <a:solidFill>
                            <a:schemeClr val="bg2">
                              <a:lumMod val="90000"/>
                            </a:schemeClr>
                          </a:solidFill>
                        </a:rPr>
                        <a:t>-2.034</a:t>
                      </a:r>
                    </a:p>
                  </a:txBody>
                  <a:tcPr marL="49727" marR="49727" marT="24863" marB="24863" anchor="ctr"/>
                </a:tc>
                <a:extLst>
                  <a:ext uri="{0D108BD9-81ED-4DB2-BD59-A6C34878D82A}">
                    <a16:rowId xmlns:a16="http://schemas.microsoft.com/office/drawing/2014/main" val="2429432957"/>
                  </a:ext>
                </a:extLst>
              </a:tr>
              <a:tr h="501015">
                <a:tc>
                  <a:txBody>
                    <a:bodyPr/>
                    <a:lstStyle/>
                    <a:p>
                      <a:pPr>
                        <a:buNone/>
                      </a:pPr>
                      <a:r>
                        <a:rPr lang="en-IN" sz="1400">
                          <a:solidFill>
                            <a:schemeClr val="bg2">
                              <a:lumMod val="90000"/>
                            </a:schemeClr>
                          </a:solidFill>
                        </a:rPr>
                        <a:t>prepared_before_period</a:t>
                      </a:r>
                    </a:p>
                  </a:txBody>
                  <a:tcPr marL="49727" marR="49727" marT="24863" marB="24863" anchor="ctr"/>
                </a:tc>
                <a:tc>
                  <a:txBody>
                    <a:bodyPr/>
                    <a:lstStyle/>
                    <a:p>
                      <a:pPr algn="r">
                        <a:buNone/>
                      </a:pPr>
                      <a:r>
                        <a:rPr lang="en-IN" sz="1600">
                          <a:solidFill>
                            <a:schemeClr val="bg2">
                              <a:lumMod val="90000"/>
                            </a:schemeClr>
                          </a:solidFill>
                        </a:rPr>
                        <a:t>0.008</a:t>
                      </a:r>
                    </a:p>
                  </a:txBody>
                  <a:tcPr marL="49727" marR="49727" marT="24863" marB="24863" anchor="ctr"/>
                </a:tc>
                <a:tc>
                  <a:txBody>
                    <a:bodyPr/>
                    <a:lstStyle/>
                    <a:p>
                      <a:pPr algn="r">
                        <a:buNone/>
                      </a:pPr>
                      <a:r>
                        <a:rPr lang="en-IN" sz="1600">
                          <a:solidFill>
                            <a:schemeClr val="bg2">
                              <a:lumMod val="90000"/>
                            </a:schemeClr>
                          </a:solidFill>
                        </a:rPr>
                        <a:t>0.010</a:t>
                      </a:r>
                    </a:p>
                  </a:txBody>
                  <a:tcPr marL="49727" marR="49727" marT="24863" marB="24863" anchor="ctr"/>
                </a:tc>
                <a:tc>
                  <a:txBody>
                    <a:bodyPr/>
                    <a:lstStyle/>
                    <a:p>
                      <a:pPr algn="r">
                        <a:buNone/>
                      </a:pPr>
                      <a:r>
                        <a:rPr lang="en-IN" sz="1600" dirty="0">
                          <a:solidFill>
                            <a:schemeClr val="bg2">
                              <a:lumMod val="90000"/>
                            </a:schemeClr>
                          </a:solidFill>
                        </a:rPr>
                        <a:t>0.821</a:t>
                      </a:r>
                    </a:p>
                  </a:txBody>
                  <a:tcPr marL="49727" marR="49727" marT="24863" marB="24863" anchor="ctr"/>
                </a:tc>
                <a:tc>
                  <a:txBody>
                    <a:bodyPr/>
                    <a:lstStyle/>
                    <a:p>
                      <a:pPr algn="r">
                        <a:buNone/>
                      </a:pPr>
                      <a:r>
                        <a:rPr lang="en-IN" sz="1600" dirty="0">
                          <a:solidFill>
                            <a:schemeClr val="bg2">
                              <a:lumMod val="90000"/>
                            </a:schemeClr>
                          </a:solidFill>
                        </a:rPr>
                        <a:t>0.412</a:t>
                      </a:r>
                    </a:p>
                  </a:txBody>
                  <a:tcPr marL="49727" marR="49727" marT="24863" marB="24863" anchor="ctr"/>
                </a:tc>
                <a:tc>
                  <a:txBody>
                    <a:bodyPr/>
                    <a:lstStyle/>
                    <a:p>
                      <a:pPr algn="r">
                        <a:buNone/>
                      </a:pPr>
                      <a:r>
                        <a:rPr lang="en-IN" sz="1600" dirty="0">
                          <a:solidFill>
                            <a:schemeClr val="bg2">
                              <a:lumMod val="90000"/>
                            </a:schemeClr>
                          </a:solidFill>
                        </a:rPr>
                        <a:t>-0.011</a:t>
                      </a:r>
                    </a:p>
                  </a:txBody>
                  <a:tcPr marL="49727" marR="49727" marT="24863" marB="24863" anchor="ctr"/>
                </a:tc>
                <a:tc>
                  <a:txBody>
                    <a:bodyPr/>
                    <a:lstStyle/>
                    <a:p>
                      <a:pPr algn="r">
                        <a:buNone/>
                      </a:pPr>
                      <a:r>
                        <a:rPr lang="en-IN" sz="1600" dirty="0">
                          <a:solidFill>
                            <a:schemeClr val="bg2">
                              <a:lumMod val="90000"/>
                            </a:schemeClr>
                          </a:solidFill>
                        </a:rPr>
                        <a:t>0.028</a:t>
                      </a:r>
                    </a:p>
                  </a:txBody>
                  <a:tcPr marL="49727" marR="49727" marT="24863" marB="24863" anchor="ctr"/>
                </a:tc>
                <a:extLst>
                  <a:ext uri="{0D108BD9-81ED-4DB2-BD59-A6C34878D82A}">
                    <a16:rowId xmlns:a16="http://schemas.microsoft.com/office/drawing/2014/main" val="2968928440"/>
                  </a:ext>
                </a:extLst>
              </a:tr>
              <a:tr h="389963">
                <a:tc>
                  <a:txBody>
                    <a:bodyPr/>
                    <a:lstStyle/>
                    <a:p>
                      <a:pPr>
                        <a:buNone/>
                      </a:pPr>
                      <a:r>
                        <a:rPr lang="en-IN" sz="1400">
                          <a:solidFill>
                            <a:schemeClr val="bg2">
                              <a:lumMod val="90000"/>
                            </a:schemeClr>
                          </a:solidFill>
                        </a:rPr>
                        <a:t>Group Var</a:t>
                      </a:r>
                    </a:p>
                  </a:txBody>
                  <a:tcPr marL="49727" marR="49727" marT="24863" marB="24863" anchor="ctr"/>
                </a:tc>
                <a:tc>
                  <a:txBody>
                    <a:bodyPr/>
                    <a:lstStyle/>
                    <a:p>
                      <a:pPr algn="r">
                        <a:buNone/>
                      </a:pPr>
                      <a:r>
                        <a:rPr lang="en-IN" sz="1600">
                          <a:solidFill>
                            <a:schemeClr val="bg2">
                              <a:lumMod val="90000"/>
                            </a:schemeClr>
                          </a:solidFill>
                        </a:rPr>
                        <a:t>0.286</a:t>
                      </a:r>
                    </a:p>
                  </a:txBody>
                  <a:tcPr marL="49727" marR="49727" marT="24863" marB="24863" anchor="ctr"/>
                </a:tc>
                <a:tc>
                  <a:txBody>
                    <a:bodyPr/>
                    <a:lstStyle/>
                    <a:p>
                      <a:pPr algn="r">
                        <a:buNone/>
                      </a:pPr>
                      <a:r>
                        <a:rPr lang="en-IN" sz="1600">
                          <a:solidFill>
                            <a:schemeClr val="bg2">
                              <a:lumMod val="90000"/>
                            </a:schemeClr>
                          </a:solidFill>
                        </a:rPr>
                        <a:t>0.026</a:t>
                      </a:r>
                    </a:p>
                  </a:txBody>
                  <a:tcPr marL="49727" marR="49727" marT="24863" marB="24863" anchor="ctr"/>
                </a:tc>
                <a:tc>
                  <a:txBody>
                    <a:bodyPr/>
                    <a:lstStyle/>
                    <a:p>
                      <a:pPr algn="r">
                        <a:buNone/>
                      </a:pPr>
                      <a:r>
                        <a:rPr lang="en-IN" sz="1600">
                          <a:solidFill>
                            <a:schemeClr val="bg2">
                              <a:lumMod val="90000"/>
                            </a:schemeClr>
                          </a:solidFill>
                        </a:rPr>
                        <a:t>—</a:t>
                      </a:r>
                    </a:p>
                  </a:txBody>
                  <a:tcPr marL="49727" marR="49727" marT="24863" marB="24863" anchor="ctr"/>
                </a:tc>
                <a:tc>
                  <a:txBody>
                    <a:bodyPr/>
                    <a:lstStyle/>
                    <a:p>
                      <a:pPr algn="r">
                        <a:buNone/>
                      </a:pPr>
                      <a:r>
                        <a:rPr lang="en-IN" sz="1600">
                          <a:solidFill>
                            <a:schemeClr val="bg2">
                              <a:lumMod val="90000"/>
                            </a:schemeClr>
                          </a:solidFill>
                        </a:rPr>
                        <a:t>—</a:t>
                      </a:r>
                    </a:p>
                  </a:txBody>
                  <a:tcPr marL="49727" marR="49727" marT="24863" marB="24863" anchor="ctr"/>
                </a:tc>
                <a:tc>
                  <a:txBody>
                    <a:bodyPr/>
                    <a:lstStyle/>
                    <a:p>
                      <a:pPr algn="r">
                        <a:buNone/>
                      </a:pPr>
                      <a:r>
                        <a:rPr lang="en-IN" sz="1600" dirty="0">
                          <a:solidFill>
                            <a:schemeClr val="bg2">
                              <a:lumMod val="90000"/>
                            </a:schemeClr>
                          </a:solidFill>
                        </a:rPr>
                        <a:t>—</a:t>
                      </a:r>
                    </a:p>
                  </a:txBody>
                  <a:tcPr marL="49727" marR="49727" marT="24863" marB="24863" anchor="ctr"/>
                </a:tc>
                <a:tc>
                  <a:txBody>
                    <a:bodyPr/>
                    <a:lstStyle/>
                    <a:p>
                      <a:pPr algn="r">
                        <a:buNone/>
                      </a:pPr>
                      <a:r>
                        <a:rPr lang="en-IN" sz="1600" dirty="0">
                          <a:solidFill>
                            <a:schemeClr val="bg2">
                              <a:lumMod val="90000"/>
                            </a:schemeClr>
                          </a:solidFill>
                        </a:rPr>
                        <a:t>—</a:t>
                      </a:r>
                    </a:p>
                  </a:txBody>
                  <a:tcPr marL="49727" marR="49727" marT="24863" marB="24863" anchor="ctr"/>
                </a:tc>
                <a:extLst>
                  <a:ext uri="{0D108BD9-81ED-4DB2-BD59-A6C34878D82A}">
                    <a16:rowId xmlns:a16="http://schemas.microsoft.com/office/drawing/2014/main" val="203907273"/>
                  </a:ext>
                </a:extLst>
              </a:tr>
            </a:tbl>
          </a:graphicData>
        </a:graphic>
      </p:graphicFrame>
    </p:spTree>
    <p:extLst>
      <p:ext uri="{BB962C8B-B14F-4D97-AF65-F5344CB8AC3E}">
        <p14:creationId xmlns:p14="http://schemas.microsoft.com/office/powerpoint/2010/main" val="26039478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E54FD-A0C7-A03E-76ED-896AB18A97F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F37DCFE-C4B9-932B-00A9-3D5F46B9E244}"/>
              </a:ext>
            </a:extLst>
          </p:cNvPr>
          <p:cNvSpPr/>
          <p:nvPr/>
        </p:nvSpPr>
        <p:spPr>
          <a:xfrm>
            <a:off x="275573" y="333186"/>
            <a:ext cx="11909283" cy="708779"/>
          </a:xfrm>
          <a:prstGeom prst="rect">
            <a:avLst/>
          </a:prstGeom>
          <a:noFill/>
          <a:ln/>
        </p:spPr>
        <p:txBody>
          <a:bodyPr wrap="none" lIns="0" tIns="0" rIns="0" bIns="0" rtlCol="0" anchor="t"/>
          <a:lstStyle/>
          <a:p>
            <a:pPr>
              <a:lnSpc>
                <a:spcPts val="5550"/>
              </a:lnSpc>
            </a:pPr>
            <a:r>
              <a:rPr lang="en-US" sz="3600" b="1" u="sng" dirty="0">
                <a:solidFill>
                  <a:srgbClr val="FFF8F5"/>
                </a:solidFill>
                <a:latin typeface="Algerian" panose="04020705040A02060702" pitchFamily="82" charset="0"/>
                <a:ea typeface="Noto Serif HK Bold" pitchFamily="34" charset="-122"/>
                <a:cs typeface="Noto Serif HK Bold" pitchFamily="34" charset="-120"/>
              </a:rPr>
              <a:t>Model 3: BIOLOGICAL + Psychological + LIFESTYLE VARIABLEs</a:t>
            </a:r>
            <a:endParaRPr lang="en-US" sz="3600" b="1" u="sng" dirty="0">
              <a:latin typeface="Algerian" panose="04020705040A02060702" pitchFamily="82" charset="0"/>
            </a:endParaRPr>
          </a:p>
          <a:p>
            <a:pPr marL="0" indent="0" algn="l">
              <a:lnSpc>
                <a:spcPts val="5550"/>
              </a:lnSpc>
              <a:buNone/>
            </a:pPr>
            <a:endParaRPr lang="en-US" sz="3600" dirty="0">
              <a:latin typeface="Algerian" panose="04020705040A02060702" pitchFamily="82" charset="0"/>
            </a:endParaRPr>
          </a:p>
        </p:txBody>
      </p:sp>
      <p:sp>
        <p:nvSpPr>
          <p:cNvPr id="4" name="Text 2">
            <a:extLst>
              <a:ext uri="{FF2B5EF4-FFF2-40B4-BE49-F238E27FC236}">
                <a16:creationId xmlns:a16="http://schemas.microsoft.com/office/drawing/2014/main" id="{E66AEB10-BD98-BB98-D6A2-852A47D26CA3}"/>
              </a:ext>
            </a:extLst>
          </p:cNvPr>
          <p:cNvSpPr/>
          <p:nvPr/>
        </p:nvSpPr>
        <p:spPr>
          <a:xfrm>
            <a:off x="1133951" y="1893570"/>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7" name="Text 5">
            <a:extLst>
              <a:ext uri="{FF2B5EF4-FFF2-40B4-BE49-F238E27FC236}">
                <a16:creationId xmlns:a16="http://schemas.microsoft.com/office/drawing/2014/main" id="{2F336C10-19D9-CD6E-747B-7640B637C7D4}"/>
              </a:ext>
            </a:extLst>
          </p:cNvPr>
          <p:cNvSpPr/>
          <p:nvPr/>
        </p:nvSpPr>
        <p:spPr>
          <a:xfrm>
            <a:off x="5576054" y="1893570"/>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8" name="Text 6">
            <a:extLst>
              <a:ext uri="{FF2B5EF4-FFF2-40B4-BE49-F238E27FC236}">
                <a16:creationId xmlns:a16="http://schemas.microsoft.com/office/drawing/2014/main" id="{0463CA46-989B-BD05-13BD-DA6CF6B0DD2B}"/>
              </a:ext>
            </a:extLst>
          </p:cNvPr>
          <p:cNvSpPr/>
          <p:nvPr/>
        </p:nvSpPr>
        <p:spPr>
          <a:xfrm>
            <a:off x="5576055" y="2383988"/>
            <a:ext cx="2965374" cy="2990742"/>
          </a:xfrm>
          <a:prstGeom prst="rect">
            <a:avLst/>
          </a:prstGeom>
          <a:noFill/>
          <a:ln/>
        </p:spPr>
        <p:txBody>
          <a:bodyPr wrap="none" lIns="0" tIns="0" rIns="0" bIns="0" rtlCol="0" anchor="t"/>
          <a:lstStyle/>
          <a:p>
            <a:pPr>
              <a:lnSpc>
                <a:spcPts val="2850"/>
              </a:lnSpc>
            </a:pPr>
            <a:endParaRPr lang="en-US" sz="1750" dirty="0">
              <a:solidFill>
                <a:schemeClr val="bg2"/>
              </a:solidFill>
            </a:endParaRPr>
          </a:p>
        </p:txBody>
      </p:sp>
      <p:sp>
        <p:nvSpPr>
          <p:cNvPr id="10" name="Text 8">
            <a:extLst>
              <a:ext uri="{FF2B5EF4-FFF2-40B4-BE49-F238E27FC236}">
                <a16:creationId xmlns:a16="http://schemas.microsoft.com/office/drawing/2014/main" id="{044E5F95-7010-D64F-7184-6CEF63919601}"/>
              </a:ext>
            </a:extLst>
          </p:cNvPr>
          <p:cNvSpPr/>
          <p:nvPr/>
        </p:nvSpPr>
        <p:spPr>
          <a:xfrm>
            <a:off x="10018157" y="1893570"/>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1" name="Text 9">
            <a:extLst>
              <a:ext uri="{FF2B5EF4-FFF2-40B4-BE49-F238E27FC236}">
                <a16:creationId xmlns:a16="http://schemas.microsoft.com/office/drawing/2014/main" id="{D5ABF9A4-AE92-62AC-CDCD-65287D10B2EC}"/>
              </a:ext>
            </a:extLst>
          </p:cNvPr>
          <p:cNvSpPr/>
          <p:nvPr/>
        </p:nvSpPr>
        <p:spPr>
          <a:xfrm>
            <a:off x="9394507" y="3551347"/>
            <a:ext cx="3818453"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3" name="Text 11">
            <a:extLst>
              <a:ext uri="{FF2B5EF4-FFF2-40B4-BE49-F238E27FC236}">
                <a16:creationId xmlns:a16="http://schemas.microsoft.com/office/drawing/2014/main" id="{B2441D4F-EDF4-F83A-A642-600315AC18B8}"/>
              </a:ext>
            </a:extLst>
          </p:cNvPr>
          <p:cNvSpPr/>
          <p:nvPr/>
        </p:nvSpPr>
        <p:spPr>
          <a:xfrm>
            <a:off x="1133951" y="3563422"/>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4" name="Text 12">
            <a:extLst>
              <a:ext uri="{FF2B5EF4-FFF2-40B4-BE49-F238E27FC236}">
                <a16:creationId xmlns:a16="http://schemas.microsoft.com/office/drawing/2014/main" id="{C1F35B9E-B66E-6B4C-7E48-B55BD695078E}"/>
              </a:ext>
            </a:extLst>
          </p:cNvPr>
          <p:cNvSpPr/>
          <p:nvPr/>
        </p:nvSpPr>
        <p:spPr>
          <a:xfrm>
            <a:off x="-4039298" y="4479576"/>
            <a:ext cx="12702659"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6" name="Text 14">
            <a:extLst>
              <a:ext uri="{FF2B5EF4-FFF2-40B4-BE49-F238E27FC236}">
                <a16:creationId xmlns:a16="http://schemas.microsoft.com/office/drawing/2014/main" id="{1638D199-BBC9-EDDA-23CC-3971F2484716}"/>
              </a:ext>
            </a:extLst>
          </p:cNvPr>
          <p:cNvSpPr/>
          <p:nvPr/>
        </p:nvSpPr>
        <p:spPr>
          <a:xfrm>
            <a:off x="825020" y="5350380"/>
            <a:ext cx="6243280" cy="1247299"/>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17" name="Text 15">
            <a:extLst>
              <a:ext uri="{FF2B5EF4-FFF2-40B4-BE49-F238E27FC236}">
                <a16:creationId xmlns:a16="http://schemas.microsoft.com/office/drawing/2014/main" id="{B633E296-97E3-3F03-9686-ACC5F9AD7DC2}"/>
              </a:ext>
            </a:extLst>
          </p:cNvPr>
          <p:cNvSpPr/>
          <p:nvPr/>
        </p:nvSpPr>
        <p:spPr>
          <a:xfrm>
            <a:off x="7598092" y="4898708"/>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8" name="Text 16">
            <a:extLst>
              <a:ext uri="{FF2B5EF4-FFF2-40B4-BE49-F238E27FC236}">
                <a16:creationId xmlns:a16="http://schemas.microsoft.com/office/drawing/2014/main" id="{902E7443-9B12-3D9F-724A-E36CA683E591}"/>
              </a:ext>
            </a:extLst>
          </p:cNvPr>
          <p:cNvSpPr/>
          <p:nvPr/>
        </p:nvSpPr>
        <p:spPr>
          <a:xfrm>
            <a:off x="7598092" y="5479852"/>
            <a:ext cx="6246019" cy="1814513"/>
          </a:xfrm>
          <a:prstGeom prst="rect">
            <a:avLst/>
          </a:prstGeom>
          <a:noFill/>
          <a:ln/>
        </p:spPr>
        <p:txBody>
          <a:bodyPr wrap="square" lIns="0" tIns="0" rIns="0" bIns="0" rtlCol="0" anchor="t"/>
          <a:lstStyle/>
          <a:p>
            <a:pPr marL="0" indent="0" algn="l">
              <a:lnSpc>
                <a:spcPts val="2850"/>
              </a:lnSpc>
              <a:buNone/>
            </a:pPr>
            <a:endParaRPr lang="en-US" sz="1750" dirty="0"/>
          </a:p>
        </p:txBody>
      </p:sp>
      <p:pic>
        <p:nvPicPr>
          <p:cNvPr id="26" name="Image 4" descr="preencoded.png">
            <a:extLst>
              <a:ext uri="{FF2B5EF4-FFF2-40B4-BE49-F238E27FC236}">
                <a16:creationId xmlns:a16="http://schemas.microsoft.com/office/drawing/2014/main" id="{56512930-3A72-5BA3-109C-CE424FD3164E}"/>
              </a:ext>
            </a:extLst>
          </p:cNvPr>
          <p:cNvPicPr>
            <a:picLocks noChangeAspect="1"/>
          </p:cNvPicPr>
          <p:nvPr/>
        </p:nvPicPr>
        <p:blipFill>
          <a:blip r:embed="rId3"/>
          <a:stretch>
            <a:fillRect/>
          </a:stretch>
        </p:blipFill>
        <p:spPr>
          <a:xfrm rot="20336408">
            <a:off x="826998" y="1236453"/>
            <a:ext cx="1766145" cy="1668562"/>
          </a:xfrm>
          <a:prstGeom prst="rect">
            <a:avLst/>
          </a:prstGeom>
        </p:spPr>
      </p:pic>
      <p:pic>
        <p:nvPicPr>
          <p:cNvPr id="33" name="Image 4" descr="preencoded.png">
            <a:extLst>
              <a:ext uri="{FF2B5EF4-FFF2-40B4-BE49-F238E27FC236}">
                <a16:creationId xmlns:a16="http://schemas.microsoft.com/office/drawing/2014/main" id="{18A77A68-9991-B1C6-3428-BF7105D826CE}"/>
              </a:ext>
            </a:extLst>
          </p:cNvPr>
          <p:cNvPicPr>
            <a:picLocks noChangeAspect="1"/>
          </p:cNvPicPr>
          <p:nvPr/>
        </p:nvPicPr>
        <p:blipFill>
          <a:blip r:embed="rId3"/>
          <a:stretch>
            <a:fillRect/>
          </a:stretch>
        </p:blipFill>
        <p:spPr>
          <a:xfrm rot="20336408">
            <a:off x="4852039" y="1144746"/>
            <a:ext cx="1825773" cy="1739451"/>
          </a:xfrm>
          <a:prstGeom prst="rect">
            <a:avLst/>
          </a:prstGeom>
        </p:spPr>
      </p:pic>
      <p:pic>
        <p:nvPicPr>
          <p:cNvPr id="3" name="Image 4" descr="preencoded.png">
            <a:extLst>
              <a:ext uri="{FF2B5EF4-FFF2-40B4-BE49-F238E27FC236}">
                <a16:creationId xmlns:a16="http://schemas.microsoft.com/office/drawing/2014/main" id="{1A683CF5-969F-2F63-F60E-B8B6C1F35020}"/>
              </a:ext>
            </a:extLst>
          </p:cNvPr>
          <p:cNvPicPr>
            <a:picLocks noChangeAspect="1"/>
          </p:cNvPicPr>
          <p:nvPr/>
        </p:nvPicPr>
        <p:blipFill>
          <a:blip r:embed="rId3"/>
          <a:stretch>
            <a:fillRect/>
          </a:stretch>
        </p:blipFill>
        <p:spPr>
          <a:xfrm rot="20336408">
            <a:off x="3090597" y="3239986"/>
            <a:ext cx="1825134" cy="1749625"/>
          </a:xfrm>
          <a:prstGeom prst="rect">
            <a:avLst/>
          </a:prstGeom>
        </p:spPr>
      </p:pic>
      <p:sp>
        <p:nvSpPr>
          <p:cNvPr id="6" name="Shape 1">
            <a:extLst>
              <a:ext uri="{FF2B5EF4-FFF2-40B4-BE49-F238E27FC236}">
                <a16:creationId xmlns:a16="http://schemas.microsoft.com/office/drawing/2014/main" id="{CB2F1D2A-D996-4C4E-DF93-A5F3C4E3C65B}"/>
              </a:ext>
            </a:extLst>
          </p:cNvPr>
          <p:cNvSpPr/>
          <p:nvPr/>
        </p:nvSpPr>
        <p:spPr>
          <a:xfrm>
            <a:off x="7955989" y="1516191"/>
            <a:ext cx="6359703" cy="6149883"/>
          </a:xfrm>
          <a:prstGeom prst="roundRect">
            <a:avLst>
              <a:gd name="adj" fmla="val 2117"/>
            </a:avLst>
          </a:prstGeom>
          <a:solidFill>
            <a:srgbClr val="5F5153"/>
          </a:solidFill>
          <a:ln/>
        </p:spPr>
        <p:txBody>
          <a:bodyPr/>
          <a:lstStyle/>
          <a:p>
            <a:pPr eaLnBrk="0" fontAlgn="base" hangingPunct="0">
              <a:spcBef>
                <a:spcPct val="0"/>
              </a:spcBef>
              <a:spcAft>
                <a:spcPct val="0"/>
              </a:spcAft>
            </a:pPr>
            <a:r>
              <a:rPr lang="en-IN" sz="2000" dirty="0">
                <a:solidFill>
                  <a:schemeClr val="bg1"/>
                </a:solidFill>
                <a:latin typeface="Times New Roman" panose="02020603050405020304" pitchFamily="18" charset="0"/>
                <a:cs typeface="Times New Roman" panose="02020603050405020304" pitchFamily="18" charset="0"/>
              </a:rPr>
              <a:t>The model </a:t>
            </a:r>
            <a:r>
              <a:rPr lang="en-IN" sz="2000" b="1" dirty="0">
                <a:solidFill>
                  <a:schemeClr val="bg1"/>
                </a:solidFill>
                <a:latin typeface="Times New Roman" panose="02020603050405020304" pitchFamily="18" charset="0"/>
                <a:cs typeface="Times New Roman" panose="02020603050405020304" pitchFamily="18" charset="0"/>
              </a:rPr>
              <a:t>converged successfully</a:t>
            </a:r>
            <a:r>
              <a:rPr lang="en-IN" sz="2000" dirty="0">
                <a:solidFill>
                  <a:schemeClr val="bg1"/>
                </a:solidFill>
                <a:latin typeface="Times New Roman" panose="02020603050405020304" pitchFamily="18" charset="0"/>
                <a:cs typeface="Times New Roman" panose="02020603050405020304" pitchFamily="18" charset="0"/>
              </a:rPr>
              <a:t>, so estimates are reliable. </a:t>
            </a:r>
          </a:p>
          <a:p>
            <a:r>
              <a:rPr lang="en-IN" sz="2000" b="1" u="sng" dirty="0">
                <a:solidFill>
                  <a:schemeClr val="bg1"/>
                </a:solidFill>
                <a:latin typeface="Times New Roman" panose="02020603050405020304" pitchFamily="18" charset="0"/>
                <a:cs typeface="Times New Roman" panose="02020603050405020304" pitchFamily="18" charset="0"/>
              </a:rPr>
              <a:t>Statistically Significant Variables (p &lt; 0.05)</a:t>
            </a:r>
          </a:p>
          <a:p>
            <a:r>
              <a:rPr lang="en-IN" sz="2000" b="1" u="sng" dirty="0">
                <a:solidFill>
                  <a:schemeClr val="bg1"/>
                </a:solidFill>
                <a:latin typeface="Times New Roman" panose="02020603050405020304" pitchFamily="18" charset="0"/>
                <a:cs typeface="Times New Roman" panose="02020603050405020304" pitchFamily="18" charset="0"/>
              </a:rPr>
              <a:t>Variables that Increase Pain Level</a:t>
            </a:r>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 Flow Level  Sleep </a:t>
            </a:r>
            <a:r>
              <a:rPr lang="en-IN" sz="2000" dirty="0" err="1">
                <a:solidFill>
                  <a:schemeClr val="bg1"/>
                </a:solidFill>
                <a:latin typeface="Times New Roman" panose="02020603050405020304" pitchFamily="18" charset="0"/>
                <a:cs typeface="Times New Roman" panose="02020603050405020304" pitchFamily="18" charset="0"/>
              </a:rPr>
              <a:t>HoursSleep</a:t>
            </a:r>
            <a:r>
              <a:rPr lang="en-IN" sz="2000" dirty="0">
                <a:solidFill>
                  <a:schemeClr val="bg1"/>
                </a:solidFill>
                <a:latin typeface="Times New Roman" panose="02020603050405020304" pitchFamily="18" charset="0"/>
                <a:cs typeface="Times New Roman" panose="02020603050405020304" pitchFamily="18" charset="0"/>
              </a:rPr>
              <a:t> Hours Cycle Work hour lost</a:t>
            </a:r>
          </a:p>
          <a:p>
            <a:r>
              <a:rPr lang="en-IN" sz="2000" b="1" u="sng" dirty="0">
                <a:solidFill>
                  <a:schemeClr val="bg1"/>
                </a:solidFill>
                <a:latin typeface="Times New Roman" panose="02020603050405020304" pitchFamily="18" charset="0"/>
                <a:cs typeface="Times New Roman" panose="02020603050405020304" pitchFamily="18" charset="0"/>
              </a:rPr>
              <a:t>Variables that Decrease Pain Level</a:t>
            </a:r>
          </a:p>
          <a:p>
            <a:pPr lvl="0"/>
            <a:r>
              <a:rPr lang="en-IN" sz="2000" dirty="0">
                <a:solidFill>
                  <a:schemeClr val="bg1"/>
                </a:solidFill>
                <a:latin typeface="Times New Roman" panose="02020603050405020304" pitchFamily="18" charset="0"/>
                <a:cs typeface="Times New Roman" panose="02020603050405020304" pitchFamily="18" charset="0"/>
              </a:rPr>
              <a:t> Cycle Length Days Mood score  Stress score level Energy  Level  Concentration Score  Overall health Score</a:t>
            </a:r>
          </a:p>
          <a:p>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 </a:t>
            </a:r>
            <a:r>
              <a:rPr lang="en-IN" sz="2000" b="1" u="sng" dirty="0">
                <a:solidFill>
                  <a:schemeClr val="bg1"/>
                </a:solidFill>
                <a:latin typeface="Times New Roman" panose="02020603050405020304" pitchFamily="18" charset="0"/>
                <a:cs typeface="Times New Roman" panose="02020603050405020304" pitchFamily="18" charset="0"/>
              </a:rPr>
              <a:t>Not Statistically Significant Variables (p &gt; 0.05):</a:t>
            </a:r>
            <a:endParaRPr lang="en-IN" sz="2000" u="sng" dirty="0">
              <a:solidFill>
                <a:schemeClr val="bg1"/>
              </a:solidFill>
              <a:latin typeface="Times New Roman" panose="02020603050405020304" pitchFamily="18" charset="0"/>
              <a:cs typeface="Times New Roman" panose="02020603050405020304" pitchFamily="18" charset="0"/>
            </a:endParaRPr>
          </a:p>
          <a:p>
            <a:r>
              <a:rPr lang="en-IN" sz="2000" b="1" dirty="0">
                <a:solidFill>
                  <a:schemeClr val="bg1"/>
                </a:solidFill>
                <a:latin typeface="Times New Roman" panose="02020603050405020304" pitchFamily="18" charset="0"/>
                <a:cs typeface="Times New Roman" panose="02020603050405020304" pitchFamily="18" charset="0"/>
              </a:rPr>
              <a:t>These variables do not show strong evidence of impact on pain:</a:t>
            </a:r>
          </a:p>
          <a:p>
            <a:r>
              <a:rPr lang="en-IN" sz="2000" dirty="0">
                <a:solidFill>
                  <a:schemeClr val="bg1"/>
                </a:solidFill>
                <a:latin typeface="Times New Roman" panose="02020603050405020304" pitchFamily="18" charset="0"/>
                <a:cs typeface="Times New Roman" panose="02020603050405020304" pitchFamily="18" charset="0"/>
              </a:rPr>
              <a:t>  cycle phase Luteal   cycle phase Menstrual  </a:t>
            </a:r>
            <a:r>
              <a:rPr lang="en-IN" sz="2000" dirty="0" err="1">
                <a:solidFill>
                  <a:schemeClr val="bg1"/>
                </a:solidFill>
                <a:latin typeface="Times New Roman" panose="02020603050405020304" pitchFamily="18" charset="0"/>
                <a:cs typeface="Times New Roman" panose="02020603050405020304" pitchFamily="18" charset="0"/>
              </a:rPr>
              <a:t>pms</a:t>
            </a:r>
            <a:r>
              <a:rPr lang="en-IN" sz="2000" dirty="0">
                <a:solidFill>
                  <a:schemeClr val="bg1"/>
                </a:solidFill>
                <a:latin typeface="Times New Roman" panose="02020603050405020304" pitchFamily="18" charset="0"/>
                <a:cs typeface="Times New Roman" panose="02020603050405020304" pitchFamily="18" charset="0"/>
              </a:rPr>
              <a:t> symptoms   </a:t>
            </a:r>
            <a:r>
              <a:rPr lang="en-IN" sz="2000" dirty="0" err="1">
                <a:solidFill>
                  <a:schemeClr val="bg1"/>
                </a:solidFill>
                <a:latin typeface="Times New Roman" panose="02020603050405020304" pitchFamily="18" charset="0"/>
                <a:cs typeface="Times New Roman" panose="02020603050405020304" pitchFamily="18" charset="0"/>
              </a:rPr>
              <a:t>estrogen</a:t>
            </a:r>
            <a:r>
              <a:rPr lang="en-IN" sz="2000" dirty="0">
                <a:solidFill>
                  <a:schemeClr val="bg1"/>
                </a:solidFill>
                <a:latin typeface="Times New Roman" panose="02020603050405020304" pitchFamily="18" charset="0"/>
                <a:cs typeface="Times New Roman" panose="02020603050405020304" pitchFamily="18" charset="0"/>
              </a:rPr>
              <a:t> </a:t>
            </a:r>
            <a:r>
              <a:rPr lang="en-IN" sz="2000" dirty="0" err="1">
                <a:solidFill>
                  <a:schemeClr val="bg1"/>
                </a:solidFill>
                <a:latin typeface="Times New Roman" panose="02020603050405020304" pitchFamily="18" charset="0"/>
                <a:cs typeface="Times New Roman" panose="02020603050405020304" pitchFamily="18" charset="0"/>
              </a:rPr>
              <a:t>pgml</a:t>
            </a:r>
            <a:r>
              <a:rPr lang="en-IN" sz="2000" dirty="0">
                <a:solidFill>
                  <a:schemeClr val="bg1"/>
                </a:solidFill>
                <a:latin typeface="Times New Roman" panose="02020603050405020304" pitchFamily="18" charset="0"/>
                <a:cs typeface="Times New Roman" panose="02020603050405020304" pitchFamily="18" charset="0"/>
              </a:rPr>
              <a:t>   progesterone </a:t>
            </a:r>
            <a:r>
              <a:rPr lang="en-IN" sz="2000" dirty="0" err="1">
                <a:solidFill>
                  <a:schemeClr val="bg1"/>
                </a:solidFill>
                <a:latin typeface="Times New Roman" panose="02020603050405020304" pitchFamily="18" charset="0"/>
                <a:cs typeface="Times New Roman" panose="02020603050405020304" pitchFamily="18" charset="0"/>
              </a:rPr>
              <a:t>ngml</a:t>
            </a:r>
            <a:r>
              <a:rPr lang="en-IN" sz="2000" dirty="0">
                <a:solidFill>
                  <a:schemeClr val="bg1"/>
                </a:solidFill>
                <a:latin typeface="Times New Roman" panose="02020603050405020304" pitchFamily="18" charset="0"/>
                <a:cs typeface="Times New Roman" panose="02020603050405020304" pitchFamily="18" charset="0"/>
              </a:rPr>
              <a:t> </a:t>
            </a:r>
          </a:p>
          <a:p>
            <a:r>
              <a:rPr lang="en-IN" sz="2000" dirty="0">
                <a:solidFill>
                  <a:schemeClr val="bg1"/>
                </a:solidFill>
                <a:latin typeface="Times New Roman" panose="02020603050405020304" pitchFamily="18" charset="0"/>
                <a:cs typeface="Times New Roman" panose="02020603050405020304" pitchFamily="18" charset="0"/>
              </a:rPr>
              <a:t> ovulation result  Positive   stress score baseline </a:t>
            </a:r>
          </a:p>
          <a:p>
            <a:r>
              <a:rPr lang="en-IN" sz="2000" dirty="0">
                <a:solidFill>
                  <a:schemeClr val="bg1"/>
                </a:solidFill>
                <a:latin typeface="Times New Roman" panose="02020603050405020304" pitchFamily="18" charset="0"/>
                <a:cs typeface="Times New Roman" panose="02020603050405020304" pitchFamily="18" charset="0"/>
              </a:rPr>
              <a:t> prepared before period  Diet Quality Exercise Frequency  </a:t>
            </a:r>
            <a:r>
              <a:rPr lang="en-IN" sz="2000" dirty="0" err="1">
                <a:solidFill>
                  <a:schemeClr val="bg1"/>
                </a:solidFill>
                <a:latin typeface="Times New Roman" panose="02020603050405020304" pitchFamily="18" charset="0"/>
                <a:cs typeface="Times New Roman" panose="02020603050405020304" pitchFamily="18" charset="0"/>
              </a:rPr>
              <a:t>Alchohol</a:t>
            </a:r>
            <a:r>
              <a:rPr lang="en-IN" sz="2000" dirty="0">
                <a:solidFill>
                  <a:schemeClr val="bg1"/>
                </a:solidFill>
                <a:latin typeface="Times New Roman" panose="02020603050405020304" pitchFamily="18" charset="0"/>
                <a:cs typeface="Times New Roman" panose="02020603050405020304" pitchFamily="18" charset="0"/>
              </a:rPr>
              <a:t> Consumption Smoking</a:t>
            </a:r>
          </a:p>
        </p:txBody>
      </p:sp>
      <p:sp>
        <p:nvSpPr>
          <p:cNvPr id="12" name="Shape 1">
            <a:extLst>
              <a:ext uri="{FF2B5EF4-FFF2-40B4-BE49-F238E27FC236}">
                <a16:creationId xmlns:a16="http://schemas.microsoft.com/office/drawing/2014/main" id="{92FB45A8-F48B-D3EB-FDDF-9265CAD74FF3}"/>
              </a:ext>
            </a:extLst>
          </p:cNvPr>
          <p:cNvSpPr/>
          <p:nvPr/>
        </p:nvSpPr>
        <p:spPr>
          <a:xfrm>
            <a:off x="723945" y="3012034"/>
            <a:ext cx="2369088" cy="435504"/>
          </a:xfrm>
          <a:prstGeom prst="roundRect">
            <a:avLst>
              <a:gd name="adj" fmla="val 2117"/>
            </a:avLst>
          </a:prstGeom>
          <a:solidFill>
            <a:srgbClr val="5F5153"/>
          </a:solidFill>
          <a:ln/>
        </p:spPr>
        <p:txBody>
          <a:bodyPr/>
          <a:lstStyle/>
          <a:p>
            <a:pPr algn="ctr"/>
            <a:r>
              <a:rPr lang="en-IN" sz="2000" b="1" dirty="0">
                <a:solidFill>
                  <a:schemeClr val="bg2"/>
                </a:solidFill>
                <a:latin typeface="Times New Roman" panose="02020603050405020304" pitchFamily="18" charset="0"/>
                <a:cs typeface="Times New Roman" panose="02020603050405020304" pitchFamily="18" charset="0"/>
              </a:rPr>
              <a:t>Marginal R² </a:t>
            </a:r>
          </a:p>
        </p:txBody>
      </p:sp>
      <p:sp>
        <p:nvSpPr>
          <p:cNvPr id="15" name="Shape 1">
            <a:extLst>
              <a:ext uri="{FF2B5EF4-FFF2-40B4-BE49-F238E27FC236}">
                <a16:creationId xmlns:a16="http://schemas.microsoft.com/office/drawing/2014/main" id="{6E966382-3373-222A-D2DE-0D21306CF0AD}"/>
              </a:ext>
            </a:extLst>
          </p:cNvPr>
          <p:cNvSpPr/>
          <p:nvPr/>
        </p:nvSpPr>
        <p:spPr>
          <a:xfrm>
            <a:off x="4851429" y="2944070"/>
            <a:ext cx="2369088" cy="435504"/>
          </a:xfrm>
          <a:prstGeom prst="roundRect">
            <a:avLst>
              <a:gd name="adj" fmla="val 2117"/>
            </a:avLst>
          </a:prstGeom>
          <a:solidFill>
            <a:srgbClr val="5F5153"/>
          </a:solidFill>
          <a:ln/>
        </p:spPr>
        <p:txBody>
          <a:bodyPr/>
          <a:lstStyle/>
          <a:p>
            <a:pPr algn="ctr"/>
            <a:r>
              <a:rPr lang="en-IN" sz="2000" b="1" dirty="0">
                <a:solidFill>
                  <a:schemeClr val="bg2"/>
                </a:solidFill>
                <a:latin typeface="Times New Roman" panose="02020603050405020304" pitchFamily="18" charset="0"/>
                <a:cs typeface="Times New Roman" panose="02020603050405020304" pitchFamily="18" charset="0"/>
              </a:rPr>
              <a:t>Adjusted R² </a:t>
            </a:r>
          </a:p>
        </p:txBody>
      </p:sp>
      <p:sp>
        <p:nvSpPr>
          <p:cNvPr id="20" name="Shape 1">
            <a:extLst>
              <a:ext uri="{FF2B5EF4-FFF2-40B4-BE49-F238E27FC236}">
                <a16:creationId xmlns:a16="http://schemas.microsoft.com/office/drawing/2014/main" id="{6CB78D74-368C-9C60-4818-3A7878BAA676}"/>
              </a:ext>
            </a:extLst>
          </p:cNvPr>
          <p:cNvSpPr/>
          <p:nvPr/>
        </p:nvSpPr>
        <p:spPr>
          <a:xfrm>
            <a:off x="2971635" y="5099294"/>
            <a:ext cx="2369088" cy="435504"/>
          </a:xfrm>
          <a:prstGeom prst="roundRect">
            <a:avLst>
              <a:gd name="adj" fmla="val 2117"/>
            </a:avLst>
          </a:prstGeom>
          <a:solidFill>
            <a:srgbClr val="5F5153"/>
          </a:solidFill>
          <a:ln/>
        </p:spPr>
        <p:txBody>
          <a:bodyPr/>
          <a:lstStyle/>
          <a:p>
            <a:pPr algn="ctr"/>
            <a:r>
              <a:rPr lang="en-IN" sz="2000" b="1" dirty="0">
                <a:solidFill>
                  <a:schemeClr val="bg2"/>
                </a:solidFill>
                <a:latin typeface="Times New Roman" panose="02020603050405020304" pitchFamily="18" charset="0"/>
                <a:cs typeface="Times New Roman" panose="02020603050405020304" pitchFamily="18" charset="0"/>
              </a:rPr>
              <a:t>Conditional R² </a:t>
            </a:r>
          </a:p>
        </p:txBody>
      </p:sp>
      <p:sp>
        <p:nvSpPr>
          <p:cNvPr id="22" name="Shape 1">
            <a:extLst>
              <a:ext uri="{FF2B5EF4-FFF2-40B4-BE49-F238E27FC236}">
                <a16:creationId xmlns:a16="http://schemas.microsoft.com/office/drawing/2014/main" id="{E9F501C5-FC5F-53CC-B4B7-B27C94E03269}"/>
              </a:ext>
            </a:extLst>
          </p:cNvPr>
          <p:cNvSpPr/>
          <p:nvPr/>
        </p:nvSpPr>
        <p:spPr>
          <a:xfrm>
            <a:off x="478466" y="5749519"/>
            <a:ext cx="7119626" cy="1944847"/>
          </a:xfrm>
          <a:prstGeom prst="roundRect">
            <a:avLst>
              <a:gd name="adj" fmla="val 2117"/>
            </a:avLst>
          </a:prstGeom>
          <a:solidFill>
            <a:srgbClr val="5F5153"/>
          </a:solidFill>
          <a:ln/>
        </p:spPr>
        <p:txBody>
          <a:bodyPr/>
          <a:lstStyle/>
          <a:p>
            <a:pPr eaLnBrk="0" fontAlgn="base" hangingPunct="0">
              <a:spcBef>
                <a:spcPct val="0"/>
              </a:spcBef>
              <a:spcAft>
                <a:spcPct val="0"/>
              </a:spcAft>
            </a:pPr>
            <a:r>
              <a:rPr lang="en-IN" sz="2000" dirty="0">
                <a:solidFill>
                  <a:schemeClr val="bg1"/>
                </a:solidFill>
                <a:latin typeface="Times New Roman" panose="02020603050405020304" pitchFamily="18" charset="0"/>
                <a:cs typeface="Times New Roman" panose="02020603050405020304" pitchFamily="18" charset="0"/>
              </a:rPr>
              <a:t>The model explains </a:t>
            </a:r>
            <a:r>
              <a:rPr lang="en-IN" sz="2000" b="1" dirty="0">
                <a:solidFill>
                  <a:schemeClr val="bg1"/>
                </a:solidFill>
                <a:latin typeface="Times New Roman" panose="02020603050405020304" pitchFamily="18" charset="0"/>
                <a:cs typeface="Times New Roman" panose="02020603050405020304" pitchFamily="18" charset="0"/>
              </a:rPr>
              <a:t>92.65% of the variation in pain level through fixed predictors alone</a:t>
            </a:r>
            <a:r>
              <a:rPr lang="en-IN" sz="2000" dirty="0">
                <a:solidFill>
                  <a:schemeClr val="bg1"/>
                </a:solidFill>
                <a:latin typeface="Times New Roman" panose="02020603050405020304" pitchFamily="18" charset="0"/>
                <a:cs typeface="Times New Roman" panose="02020603050405020304" pitchFamily="18" charset="0"/>
              </a:rPr>
              <a:t> (Marginal R²), and </a:t>
            </a:r>
            <a:r>
              <a:rPr lang="en-IN" sz="2000" b="1" dirty="0">
                <a:solidFill>
                  <a:schemeClr val="bg1"/>
                </a:solidFill>
                <a:latin typeface="Times New Roman" panose="02020603050405020304" pitchFamily="18" charset="0"/>
                <a:cs typeface="Times New Roman" panose="02020603050405020304" pitchFamily="18" charset="0"/>
              </a:rPr>
              <a:t>95.86% when group-level random effects are also included</a:t>
            </a:r>
            <a:r>
              <a:rPr lang="en-IN" sz="2000" dirty="0">
                <a:solidFill>
                  <a:schemeClr val="bg1"/>
                </a:solidFill>
                <a:latin typeface="Times New Roman" panose="02020603050405020304" pitchFamily="18" charset="0"/>
                <a:cs typeface="Times New Roman" panose="02020603050405020304" pitchFamily="18" charset="0"/>
              </a:rPr>
              <a:t> (Conditional R²).</a:t>
            </a:r>
            <a:br>
              <a:rPr lang="en-IN" sz="2000" dirty="0">
                <a:solidFill>
                  <a:schemeClr val="bg1"/>
                </a:solidFill>
                <a:latin typeface="Times New Roman" panose="02020603050405020304" pitchFamily="18" charset="0"/>
                <a:cs typeface="Times New Roman" panose="02020603050405020304" pitchFamily="18" charset="0"/>
              </a:rPr>
            </a:br>
            <a:r>
              <a:rPr lang="en-IN" sz="2000" dirty="0">
                <a:solidFill>
                  <a:schemeClr val="bg1"/>
                </a:solidFill>
                <a:latin typeface="Times New Roman" panose="02020603050405020304" pitchFamily="18" charset="0"/>
                <a:cs typeface="Times New Roman" panose="02020603050405020304" pitchFamily="18" charset="0"/>
              </a:rPr>
              <a:t>The </a:t>
            </a:r>
            <a:r>
              <a:rPr lang="en-IN" sz="2000" b="1" dirty="0">
                <a:solidFill>
                  <a:schemeClr val="bg1"/>
                </a:solidFill>
                <a:latin typeface="Times New Roman" panose="02020603050405020304" pitchFamily="18" charset="0"/>
                <a:cs typeface="Times New Roman" panose="02020603050405020304" pitchFamily="18" charset="0"/>
              </a:rPr>
              <a:t>Adjusted Marginal R² of 92.63%</a:t>
            </a:r>
            <a:r>
              <a:rPr lang="en-IN" sz="2000" dirty="0">
                <a:solidFill>
                  <a:schemeClr val="bg1"/>
                </a:solidFill>
                <a:latin typeface="Times New Roman" panose="02020603050405020304" pitchFamily="18" charset="0"/>
                <a:cs typeface="Times New Roman" panose="02020603050405020304" pitchFamily="18" charset="0"/>
              </a:rPr>
              <a:t> confirms that this strong explanatory power remains robust even after accounting for the number of predictors in the model.</a:t>
            </a:r>
          </a:p>
        </p:txBody>
      </p:sp>
      <p:sp>
        <p:nvSpPr>
          <p:cNvPr id="24" name="TextBox 23">
            <a:extLst>
              <a:ext uri="{FF2B5EF4-FFF2-40B4-BE49-F238E27FC236}">
                <a16:creationId xmlns:a16="http://schemas.microsoft.com/office/drawing/2014/main" id="{48B05364-2EA1-03DA-AFD7-C7F25FD46D06}"/>
              </a:ext>
            </a:extLst>
          </p:cNvPr>
          <p:cNvSpPr txBox="1"/>
          <p:nvPr/>
        </p:nvSpPr>
        <p:spPr>
          <a:xfrm>
            <a:off x="1274135" y="1893570"/>
            <a:ext cx="871869" cy="369332"/>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92.6%</a:t>
            </a:r>
          </a:p>
        </p:txBody>
      </p:sp>
      <p:sp>
        <p:nvSpPr>
          <p:cNvPr id="25" name="TextBox 24">
            <a:extLst>
              <a:ext uri="{FF2B5EF4-FFF2-40B4-BE49-F238E27FC236}">
                <a16:creationId xmlns:a16="http://schemas.microsoft.com/office/drawing/2014/main" id="{0C466C27-0268-650D-DF5E-5D1E137BE4C8}"/>
              </a:ext>
            </a:extLst>
          </p:cNvPr>
          <p:cNvSpPr txBox="1"/>
          <p:nvPr/>
        </p:nvSpPr>
        <p:spPr>
          <a:xfrm>
            <a:off x="5462519" y="1826444"/>
            <a:ext cx="1008397" cy="369332"/>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92.6%</a:t>
            </a:r>
          </a:p>
        </p:txBody>
      </p:sp>
      <p:sp>
        <p:nvSpPr>
          <p:cNvPr id="27" name="TextBox 26">
            <a:extLst>
              <a:ext uri="{FF2B5EF4-FFF2-40B4-BE49-F238E27FC236}">
                <a16:creationId xmlns:a16="http://schemas.microsoft.com/office/drawing/2014/main" id="{6FAA9FFD-4796-F1BD-8F2E-2F169632A7B7}"/>
              </a:ext>
            </a:extLst>
          </p:cNvPr>
          <p:cNvSpPr txBox="1"/>
          <p:nvPr/>
        </p:nvSpPr>
        <p:spPr>
          <a:xfrm>
            <a:off x="3615070" y="3942517"/>
            <a:ext cx="808074" cy="369332"/>
          </a:xfrm>
          <a:prstGeom prst="rect">
            <a:avLst/>
          </a:prstGeom>
          <a:noFill/>
        </p:spPr>
        <p:txBody>
          <a:bodyPr wrap="square" rtlCol="0">
            <a:spAutoFit/>
          </a:bodyPr>
          <a:lstStyle/>
          <a:p>
            <a:r>
              <a:rPr lang="en-IN" dirty="0">
                <a:solidFill>
                  <a:schemeClr val="bg1"/>
                </a:solidFill>
                <a:latin typeface="Times New Roman" panose="02020603050405020304" pitchFamily="18" charset="0"/>
                <a:cs typeface="Times New Roman" panose="02020603050405020304" pitchFamily="18" charset="0"/>
              </a:rPr>
              <a:t>95.9%</a:t>
            </a:r>
          </a:p>
        </p:txBody>
      </p:sp>
    </p:spTree>
    <p:extLst>
      <p:ext uri="{BB962C8B-B14F-4D97-AF65-F5344CB8AC3E}">
        <p14:creationId xmlns:p14="http://schemas.microsoft.com/office/powerpoint/2010/main" val="41823192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131723D-46CE-9F1B-B520-DCFAAA2923E3}"/>
              </a:ext>
            </a:extLst>
          </p:cNvPr>
          <p:cNvGraphicFramePr>
            <a:graphicFrameLocks noGrp="1"/>
          </p:cNvGraphicFramePr>
          <p:nvPr>
            <p:extLst>
              <p:ext uri="{D42A27DB-BD31-4B8C-83A1-F6EECF244321}">
                <p14:modId xmlns:p14="http://schemas.microsoft.com/office/powerpoint/2010/main" val="1404048565"/>
              </p:ext>
            </p:extLst>
          </p:nvPr>
        </p:nvGraphicFramePr>
        <p:xfrm>
          <a:off x="336886" y="120316"/>
          <a:ext cx="13956628" cy="7936562"/>
        </p:xfrm>
        <a:graphic>
          <a:graphicData uri="http://schemas.openxmlformats.org/drawingml/2006/table">
            <a:tbl>
              <a:tblPr firstRow="1" bandRow="1">
                <a:tableStyleId>{616DA210-FB5B-4158-B5E0-FEB733F419BA}</a:tableStyleId>
              </a:tblPr>
              <a:tblGrid>
                <a:gridCol w="1993804">
                  <a:extLst>
                    <a:ext uri="{9D8B030D-6E8A-4147-A177-3AD203B41FA5}">
                      <a16:colId xmlns:a16="http://schemas.microsoft.com/office/drawing/2014/main" val="2098966449"/>
                    </a:ext>
                  </a:extLst>
                </a:gridCol>
                <a:gridCol w="1993804">
                  <a:extLst>
                    <a:ext uri="{9D8B030D-6E8A-4147-A177-3AD203B41FA5}">
                      <a16:colId xmlns:a16="http://schemas.microsoft.com/office/drawing/2014/main" val="3152841928"/>
                    </a:ext>
                  </a:extLst>
                </a:gridCol>
                <a:gridCol w="1993804">
                  <a:extLst>
                    <a:ext uri="{9D8B030D-6E8A-4147-A177-3AD203B41FA5}">
                      <a16:colId xmlns:a16="http://schemas.microsoft.com/office/drawing/2014/main" val="3327776505"/>
                    </a:ext>
                  </a:extLst>
                </a:gridCol>
                <a:gridCol w="1993804">
                  <a:extLst>
                    <a:ext uri="{9D8B030D-6E8A-4147-A177-3AD203B41FA5}">
                      <a16:colId xmlns:a16="http://schemas.microsoft.com/office/drawing/2014/main" val="2775837211"/>
                    </a:ext>
                  </a:extLst>
                </a:gridCol>
                <a:gridCol w="1993804">
                  <a:extLst>
                    <a:ext uri="{9D8B030D-6E8A-4147-A177-3AD203B41FA5}">
                      <a16:colId xmlns:a16="http://schemas.microsoft.com/office/drawing/2014/main" val="1306005881"/>
                    </a:ext>
                  </a:extLst>
                </a:gridCol>
                <a:gridCol w="1993804">
                  <a:extLst>
                    <a:ext uri="{9D8B030D-6E8A-4147-A177-3AD203B41FA5}">
                      <a16:colId xmlns:a16="http://schemas.microsoft.com/office/drawing/2014/main" val="3379753431"/>
                    </a:ext>
                  </a:extLst>
                </a:gridCol>
                <a:gridCol w="1993804">
                  <a:extLst>
                    <a:ext uri="{9D8B030D-6E8A-4147-A177-3AD203B41FA5}">
                      <a16:colId xmlns:a16="http://schemas.microsoft.com/office/drawing/2014/main" val="660841143"/>
                    </a:ext>
                  </a:extLst>
                </a:gridCol>
              </a:tblGrid>
              <a:tr h="296726">
                <a:tc>
                  <a:txBody>
                    <a:bodyPr/>
                    <a:lstStyle/>
                    <a:p>
                      <a:pPr>
                        <a:buNone/>
                      </a:pPr>
                      <a:r>
                        <a:rPr lang="en-IN" sz="1400" dirty="0">
                          <a:solidFill>
                            <a:schemeClr val="bg2">
                              <a:lumMod val="90000"/>
                            </a:schemeClr>
                          </a:solidFill>
                        </a:rPr>
                        <a:t>Variable</a:t>
                      </a:r>
                    </a:p>
                  </a:txBody>
                  <a:tcPr marL="34126" marR="34126" marT="17063" marB="17063" anchor="ctr"/>
                </a:tc>
                <a:tc>
                  <a:txBody>
                    <a:bodyPr/>
                    <a:lstStyle/>
                    <a:p>
                      <a:pPr algn="r">
                        <a:buNone/>
                      </a:pPr>
                      <a:r>
                        <a:rPr lang="en-IN" sz="1400">
                          <a:solidFill>
                            <a:schemeClr val="bg2">
                              <a:lumMod val="90000"/>
                            </a:schemeClr>
                          </a:solidFill>
                        </a:rPr>
                        <a:t>Coef.</a:t>
                      </a:r>
                    </a:p>
                  </a:txBody>
                  <a:tcPr marL="34126" marR="34126" marT="17063" marB="17063" anchor="ctr"/>
                </a:tc>
                <a:tc>
                  <a:txBody>
                    <a:bodyPr/>
                    <a:lstStyle/>
                    <a:p>
                      <a:pPr algn="r">
                        <a:buNone/>
                      </a:pPr>
                      <a:r>
                        <a:rPr lang="en-IN" sz="1400">
                          <a:solidFill>
                            <a:schemeClr val="bg2">
                              <a:lumMod val="90000"/>
                            </a:schemeClr>
                          </a:solidFill>
                        </a:rPr>
                        <a:t>Std.Err.</a:t>
                      </a:r>
                    </a:p>
                  </a:txBody>
                  <a:tcPr marL="34126" marR="34126" marT="17063" marB="17063" anchor="ctr"/>
                </a:tc>
                <a:tc>
                  <a:txBody>
                    <a:bodyPr/>
                    <a:lstStyle/>
                    <a:p>
                      <a:pPr algn="r">
                        <a:buNone/>
                      </a:pPr>
                      <a:r>
                        <a:rPr lang="en-IN" sz="1400">
                          <a:solidFill>
                            <a:schemeClr val="bg2">
                              <a:lumMod val="90000"/>
                            </a:schemeClr>
                          </a:solidFill>
                        </a:rPr>
                        <a:t>z</a:t>
                      </a:r>
                    </a:p>
                  </a:txBody>
                  <a:tcPr marL="34126" marR="34126" marT="17063" marB="17063" anchor="ctr"/>
                </a:tc>
                <a:tc>
                  <a:txBody>
                    <a:bodyPr/>
                    <a:lstStyle/>
                    <a:p>
                      <a:pPr algn="r">
                        <a:buNone/>
                      </a:pPr>
                      <a:r>
                        <a:rPr lang="en-IN" sz="1400">
                          <a:solidFill>
                            <a:schemeClr val="bg2">
                              <a:lumMod val="90000"/>
                            </a:schemeClr>
                          </a:solidFill>
                        </a:rPr>
                        <a:t>P&gt;|z|</a:t>
                      </a:r>
                    </a:p>
                  </a:txBody>
                  <a:tcPr marL="34126" marR="34126" marT="17063" marB="17063" anchor="ctr"/>
                </a:tc>
                <a:tc>
                  <a:txBody>
                    <a:bodyPr/>
                    <a:lstStyle/>
                    <a:p>
                      <a:pPr algn="r">
                        <a:buNone/>
                      </a:pPr>
                      <a:r>
                        <a:rPr lang="en-IN" sz="1400">
                          <a:solidFill>
                            <a:schemeClr val="bg2">
                              <a:lumMod val="90000"/>
                            </a:schemeClr>
                          </a:solidFill>
                        </a:rPr>
                        <a:t>95% CI Lower</a:t>
                      </a:r>
                    </a:p>
                  </a:txBody>
                  <a:tcPr marL="34126" marR="34126" marT="17063" marB="17063" anchor="ctr"/>
                </a:tc>
                <a:tc>
                  <a:txBody>
                    <a:bodyPr/>
                    <a:lstStyle/>
                    <a:p>
                      <a:pPr algn="r">
                        <a:buNone/>
                      </a:pPr>
                      <a:r>
                        <a:rPr lang="en-IN" sz="1400">
                          <a:solidFill>
                            <a:schemeClr val="bg2">
                              <a:lumMod val="90000"/>
                            </a:schemeClr>
                          </a:solidFill>
                        </a:rPr>
                        <a:t>95% CI Upper</a:t>
                      </a:r>
                    </a:p>
                  </a:txBody>
                  <a:tcPr marL="34126" marR="34126" marT="17063" marB="17063" anchor="ctr"/>
                </a:tc>
                <a:extLst>
                  <a:ext uri="{0D108BD9-81ED-4DB2-BD59-A6C34878D82A}">
                    <a16:rowId xmlns:a16="http://schemas.microsoft.com/office/drawing/2014/main" val="1775847404"/>
                  </a:ext>
                </a:extLst>
              </a:tr>
              <a:tr h="296726">
                <a:tc>
                  <a:txBody>
                    <a:bodyPr/>
                    <a:lstStyle/>
                    <a:p>
                      <a:pPr>
                        <a:buNone/>
                      </a:pPr>
                      <a:r>
                        <a:rPr lang="en-IN" sz="1400" dirty="0">
                          <a:solidFill>
                            <a:schemeClr val="bg2">
                              <a:lumMod val="90000"/>
                            </a:schemeClr>
                          </a:solidFill>
                        </a:rPr>
                        <a:t>Intercept</a:t>
                      </a:r>
                    </a:p>
                  </a:txBody>
                  <a:tcPr marL="34126" marR="34126" marT="17063" marB="17063" anchor="ctr"/>
                </a:tc>
                <a:tc>
                  <a:txBody>
                    <a:bodyPr/>
                    <a:lstStyle/>
                    <a:p>
                      <a:pPr algn="r">
                        <a:buNone/>
                      </a:pPr>
                      <a:r>
                        <a:rPr lang="en-IN" sz="1600" dirty="0">
                          <a:solidFill>
                            <a:schemeClr val="bg2">
                              <a:lumMod val="90000"/>
                            </a:schemeClr>
                          </a:solidFill>
                        </a:rPr>
                        <a:t>20.742</a:t>
                      </a:r>
                    </a:p>
                  </a:txBody>
                  <a:tcPr marL="34126" marR="34126" marT="17063" marB="17063" anchor="ctr"/>
                </a:tc>
                <a:tc>
                  <a:txBody>
                    <a:bodyPr/>
                    <a:lstStyle/>
                    <a:p>
                      <a:pPr algn="r">
                        <a:buNone/>
                      </a:pPr>
                      <a:r>
                        <a:rPr lang="en-IN" sz="1600">
                          <a:solidFill>
                            <a:schemeClr val="bg2">
                              <a:lumMod val="90000"/>
                            </a:schemeClr>
                          </a:solidFill>
                        </a:rPr>
                        <a:t>0.543</a:t>
                      </a:r>
                    </a:p>
                  </a:txBody>
                  <a:tcPr marL="34126" marR="34126" marT="17063" marB="17063" anchor="ctr"/>
                </a:tc>
                <a:tc>
                  <a:txBody>
                    <a:bodyPr/>
                    <a:lstStyle/>
                    <a:p>
                      <a:pPr algn="r">
                        <a:buNone/>
                      </a:pPr>
                      <a:r>
                        <a:rPr lang="en-IN" sz="1600">
                          <a:solidFill>
                            <a:schemeClr val="bg2">
                              <a:lumMod val="90000"/>
                            </a:schemeClr>
                          </a:solidFill>
                        </a:rPr>
                        <a:t>38.233</a:t>
                      </a:r>
                    </a:p>
                  </a:txBody>
                  <a:tcPr marL="34126" marR="34126" marT="17063" marB="17063" anchor="ctr"/>
                </a:tc>
                <a:tc>
                  <a:txBody>
                    <a:bodyPr/>
                    <a:lstStyle/>
                    <a:p>
                      <a:pPr algn="r">
                        <a:buNone/>
                      </a:pPr>
                      <a:r>
                        <a:rPr lang="en-IN" sz="1600">
                          <a:solidFill>
                            <a:schemeClr val="bg2">
                              <a:lumMod val="90000"/>
                            </a:schemeClr>
                          </a:solidFill>
                        </a:rPr>
                        <a:t>0.000</a:t>
                      </a:r>
                    </a:p>
                  </a:txBody>
                  <a:tcPr marL="34126" marR="34126" marT="17063" marB="17063" anchor="ctr"/>
                </a:tc>
                <a:tc>
                  <a:txBody>
                    <a:bodyPr/>
                    <a:lstStyle/>
                    <a:p>
                      <a:pPr algn="r">
                        <a:buNone/>
                      </a:pPr>
                      <a:r>
                        <a:rPr lang="en-IN" sz="1600">
                          <a:solidFill>
                            <a:schemeClr val="bg2">
                              <a:lumMod val="90000"/>
                            </a:schemeClr>
                          </a:solidFill>
                        </a:rPr>
                        <a:t>19.678</a:t>
                      </a:r>
                    </a:p>
                  </a:txBody>
                  <a:tcPr marL="34126" marR="34126" marT="17063" marB="17063" anchor="ctr"/>
                </a:tc>
                <a:tc>
                  <a:txBody>
                    <a:bodyPr/>
                    <a:lstStyle/>
                    <a:p>
                      <a:pPr algn="r">
                        <a:buNone/>
                      </a:pPr>
                      <a:r>
                        <a:rPr lang="en-IN" sz="1600">
                          <a:solidFill>
                            <a:schemeClr val="bg2">
                              <a:lumMod val="90000"/>
                            </a:schemeClr>
                          </a:solidFill>
                        </a:rPr>
                        <a:t>21.805</a:t>
                      </a:r>
                    </a:p>
                  </a:txBody>
                  <a:tcPr marL="34126" marR="34126" marT="17063" marB="17063" anchor="ctr"/>
                </a:tc>
                <a:extLst>
                  <a:ext uri="{0D108BD9-81ED-4DB2-BD59-A6C34878D82A}">
                    <a16:rowId xmlns:a16="http://schemas.microsoft.com/office/drawing/2014/main" val="1791786228"/>
                  </a:ext>
                </a:extLst>
              </a:tr>
              <a:tr h="296726">
                <a:tc>
                  <a:txBody>
                    <a:bodyPr/>
                    <a:lstStyle/>
                    <a:p>
                      <a:pPr>
                        <a:buNone/>
                      </a:pPr>
                      <a:r>
                        <a:rPr lang="en-IN" sz="1400">
                          <a:solidFill>
                            <a:schemeClr val="bg2">
                              <a:lumMod val="90000"/>
                            </a:schemeClr>
                          </a:solidFill>
                        </a:rPr>
                        <a:t>cycle_length_days</a:t>
                      </a:r>
                    </a:p>
                  </a:txBody>
                  <a:tcPr marL="34126" marR="34126" marT="17063" marB="17063" anchor="ctr"/>
                </a:tc>
                <a:tc>
                  <a:txBody>
                    <a:bodyPr/>
                    <a:lstStyle/>
                    <a:p>
                      <a:pPr algn="r">
                        <a:buNone/>
                      </a:pPr>
                      <a:r>
                        <a:rPr lang="en-IN" sz="1600" dirty="0">
                          <a:solidFill>
                            <a:schemeClr val="bg2">
                              <a:lumMod val="90000"/>
                            </a:schemeClr>
                          </a:solidFill>
                        </a:rPr>
                        <a:t>-0.008</a:t>
                      </a:r>
                    </a:p>
                  </a:txBody>
                  <a:tcPr marL="34126" marR="34126" marT="17063" marB="17063" anchor="ctr"/>
                </a:tc>
                <a:tc>
                  <a:txBody>
                    <a:bodyPr/>
                    <a:lstStyle/>
                    <a:p>
                      <a:pPr algn="r">
                        <a:buNone/>
                      </a:pPr>
                      <a:r>
                        <a:rPr lang="en-IN" sz="1600" dirty="0">
                          <a:solidFill>
                            <a:schemeClr val="bg2">
                              <a:lumMod val="90000"/>
                            </a:schemeClr>
                          </a:solidFill>
                        </a:rPr>
                        <a:t>0.002</a:t>
                      </a:r>
                    </a:p>
                  </a:txBody>
                  <a:tcPr marL="34126" marR="34126" marT="17063" marB="17063" anchor="ctr"/>
                </a:tc>
                <a:tc>
                  <a:txBody>
                    <a:bodyPr/>
                    <a:lstStyle/>
                    <a:p>
                      <a:pPr algn="r">
                        <a:buNone/>
                      </a:pPr>
                      <a:r>
                        <a:rPr lang="en-IN" sz="1600">
                          <a:solidFill>
                            <a:schemeClr val="bg2">
                              <a:lumMod val="90000"/>
                            </a:schemeClr>
                          </a:solidFill>
                        </a:rPr>
                        <a:t>-3.909</a:t>
                      </a:r>
                    </a:p>
                  </a:txBody>
                  <a:tcPr marL="34126" marR="34126" marT="17063" marB="17063" anchor="ctr"/>
                </a:tc>
                <a:tc>
                  <a:txBody>
                    <a:bodyPr/>
                    <a:lstStyle/>
                    <a:p>
                      <a:pPr algn="r">
                        <a:buNone/>
                      </a:pPr>
                      <a:r>
                        <a:rPr lang="en-IN" sz="1600">
                          <a:solidFill>
                            <a:schemeClr val="bg2">
                              <a:lumMod val="90000"/>
                            </a:schemeClr>
                          </a:solidFill>
                        </a:rPr>
                        <a:t>0.000</a:t>
                      </a:r>
                    </a:p>
                  </a:txBody>
                  <a:tcPr marL="34126" marR="34126" marT="17063" marB="17063" anchor="ctr"/>
                </a:tc>
                <a:tc>
                  <a:txBody>
                    <a:bodyPr/>
                    <a:lstStyle/>
                    <a:p>
                      <a:pPr algn="r">
                        <a:buNone/>
                      </a:pPr>
                      <a:r>
                        <a:rPr lang="en-IN" sz="1600">
                          <a:solidFill>
                            <a:schemeClr val="bg2">
                              <a:lumMod val="90000"/>
                            </a:schemeClr>
                          </a:solidFill>
                        </a:rPr>
                        <a:t>-0.012</a:t>
                      </a:r>
                    </a:p>
                  </a:txBody>
                  <a:tcPr marL="34126" marR="34126" marT="17063" marB="17063" anchor="ctr"/>
                </a:tc>
                <a:tc>
                  <a:txBody>
                    <a:bodyPr/>
                    <a:lstStyle/>
                    <a:p>
                      <a:pPr algn="r">
                        <a:buNone/>
                      </a:pPr>
                      <a:r>
                        <a:rPr lang="en-IN" sz="1600">
                          <a:solidFill>
                            <a:schemeClr val="bg2">
                              <a:lumMod val="90000"/>
                            </a:schemeClr>
                          </a:solidFill>
                        </a:rPr>
                        <a:t>-0.004</a:t>
                      </a:r>
                    </a:p>
                  </a:txBody>
                  <a:tcPr marL="34126" marR="34126" marT="17063" marB="17063" anchor="ctr"/>
                </a:tc>
                <a:extLst>
                  <a:ext uri="{0D108BD9-81ED-4DB2-BD59-A6C34878D82A}">
                    <a16:rowId xmlns:a16="http://schemas.microsoft.com/office/drawing/2014/main" val="745216862"/>
                  </a:ext>
                </a:extLst>
              </a:tr>
              <a:tr h="296726">
                <a:tc>
                  <a:txBody>
                    <a:bodyPr/>
                    <a:lstStyle/>
                    <a:p>
                      <a:pPr>
                        <a:buNone/>
                      </a:pPr>
                      <a:r>
                        <a:rPr lang="en-IN" sz="1400">
                          <a:solidFill>
                            <a:schemeClr val="bg2">
                              <a:lumMod val="90000"/>
                            </a:schemeClr>
                          </a:solidFill>
                        </a:rPr>
                        <a:t>cycle_phase_Luteal</a:t>
                      </a:r>
                    </a:p>
                  </a:txBody>
                  <a:tcPr marL="34126" marR="34126" marT="17063" marB="17063" anchor="ctr"/>
                </a:tc>
                <a:tc>
                  <a:txBody>
                    <a:bodyPr/>
                    <a:lstStyle/>
                    <a:p>
                      <a:pPr algn="r">
                        <a:buNone/>
                      </a:pPr>
                      <a:r>
                        <a:rPr lang="en-IN" sz="1600" dirty="0">
                          <a:solidFill>
                            <a:schemeClr val="bg2">
                              <a:lumMod val="90000"/>
                            </a:schemeClr>
                          </a:solidFill>
                        </a:rPr>
                        <a:t>-0.029</a:t>
                      </a:r>
                    </a:p>
                  </a:txBody>
                  <a:tcPr marL="34126" marR="34126" marT="17063" marB="17063" anchor="ctr"/>
                </a:tc>
                <a:tc>
                  <a:txBody>
                    <a:bodyPr/>
                    <a:lstStyle/>
                    <a:p>
                      <a:pPr algn="r">
                        <a:buNone/>
                      </a:pPr>
                      <a:r>
                        <a:rPr lang="en-IN" sz="1600" dirty="0">
                          <a:solidFill>
                            <a:schemeClr val="bg2">
                              <a:lumMod val="90000"/>
                            </a:schemeClr>
                          </a:solidFill>
                        </a:rPr>
                        <a:t>0.019</a:t>
                      </a:r>
                    </a:p>
                  </a:txBody>
                  <a:tcPr marL="34126" marR="34126" marT="17063" marB="17063" anchor="ctr"/>
                </a:tc>
                <a:tc>
                  <a:txBody>
                    <a:bodyPr/>
                    <a:lstStyle/>
                    <a:p>
                      <a:pPr algn="r">
                        <a:buNone/>
                      </a:pPr>
                      <a:r>
                        <a:rPr lang="en-IN" sz="1600">
                          <a:solidFill>
                            <a:schemeClr val="bg2">
                              <a:lumMod val="90000"/>
                            </a:schemeClr>
                          </a:solidFill>
                        </a:rPr>
                        <a:t>-1.527</a:t>
                      </a:r>
                    </a:p>
                  </a:txBody>
                  <a:tcPr marL="34126" marR="34126" marT="17063" marB="17063" anchor="ctr"/>
                </a:tc>
                <a:tc>
                  <a:txBody>
                    <a:bodyPr/>
                    <a:lstStyle/>
                    <a:p>
                      <a:pPr algn="r">
                        <a:buNone/>
                      </a:pPr>
                      <a:r>
                        <a:rPr lang="en-IN" sz="1600">
                          <a:solidFill>
                            <a:schemeClr val="bg2">
                              <a:lumMod val="90000"/>
                            </a:schemeClr>
                          </a:solidFill>
                        </a:rPr>
                        <a:t>0.127</a:t>
                      </a:r>
                    </a:p>
                  </a:txBody>
                  <a:tcPr marL="34126" marR="34126" marT="17063" marB="17063" anchor="ctr"/>
                </a:tc>
                <a:tc>
                  <a:txBody>
                    <a:bodyPr/>
                    <a:lstStyle/>
                    <a:p>
                      <a:pPr algn="r">
                        <a:buNone/>
                      </a:pPr>
                      <a:r>
                        <a:rPr lang="en-IN" sz="1600">
                          <a:solidFill>
                            <a:schemeClr val="bg2">
                              <a:lumMod val="90000"/>
                            </a:schemeClr>
                          </a:solidFill>
                        </a:rPr>
                        <a:t>-0.066</a:t>
                      </a:r>
                    </a:p>
                  </a:txBody>
                  <a:tcPr marL="34126" marR="34126" marT="17063" marB="17063" anchor="ctr"/>
                </a:tc>
                <a:tc>
                  <a:txBody>
                    <a:bodyPr/>
                    <a:lstStyle/>
                    <a:p>
                      <a:pPr algn="r">
                        <a:buNone/>
                      </a:pPr>
                      <a:r>
                        <a:rPr lang="en-IN" sz="1600">
                          <a:solidFill>
                            <a:schemeClr val="bg2">
                              <a:lumMod val="90000"/>
                            </a:schemeClr>
                          </a:solidFill>
                        </a:rPr>
                        <a:t>0.008</a:t>
                      </a:r>
                    </a:p>
                  </a:txBody>
                  <a:tcPr marL="34126" marR="34126" marT="17063" marB="17063" anchor="ctr"/>
                </a:tc>
                <a:extLst>
                  <a:ext uri="{0D108BD9-81ED-4DB2-BD59-A6C34878D82A}">
                    <a16:rowId xmlns:a16="http://schemas.microsoft.com/office/drawing/2014/main" val="1297779702"/>
                  </a:ext>
                </a:extLst>
              </a:tr>
              <a:tr h="296726">
                <a:tc>
                  <a:txBody>
                    <a:bodyPr/>
                    <a:lstStyle/>
                    <a:p>
                      <a:pPr>
                        <a:buNone/>
                      </a:pPr>
                      <a:r>
                        <a:rPr lang="en-IN" sz="1400">
                          <a:solidFill>
                            <a:schemeClr val="bg2">
                              <a:lumMod val="90000"/>
                            </a:schemeClr>
                          </a:solidFill>
                        </a:rPr>
                        <a:t>cycle_phase_Menstrual</a:t>
                      </a:r>
                    </a:p>
                  </a:txBody>
                  <a:tcPr marL="34126" marR="34126" marT="17063" marB="17063" anchor="ctr"/>
                </a:tc>
                <a:tc>
                  <a:txBody>
                    <a:bodyPr/>
                    <a:lstStyle/>
                    <a:p>
                      <a:pPr algn="r">
                        <a:buNone/>
                      </a:pPr>
                      <a:r>
                        <a:rPr lang="en-IN" sz="1600" dirty="0">
                          <a:solidFill>
                            <a:schemeClr val="bg2">
                              <a:lumMod val="90000"/>
                            </a:schemeClr>
                          </a:solidFill>
                        </a:rPr>
                        <a:t>-0.006</a:t>
                      </a:r>
                    </a:p>
                  </a:txBody>
                  <a:tcPr marL="34126" marR="34126" marT="17063" marB="17063" anchor="ctr"/>
                </a:tc>
                <a:tc>
                  <a:txBody>
                    <a:bodyPr/>
                    <a:lstStyle/>
                    <a:p>
                      <a:pPr algn="r">
                        <a:buNone/>
                      </a:pPr>
                      <a:r>
                        <a:rPr lang="en-IN" sz="1600" dirty="0">
                          <a:solidFill>
                            <a:schemeClr val="bg2">
                              <a:lumMod val="90000"/>
                            </a:schemeClr>
                          </a:solidFill>
                        </a:rPr>
                        <a:t>0.018</a:t>
                      </a:r>
                    </a:p>
                  </a:txBody>
                  <a:tcPr marL="34126" marR="34126" marT="17063" marB="17063" anchor="ctr"/>
                </a:tc>
                <a:tc>
                  <a:txBody>
                    <a:bodyPr/>
                    <a:lstStyle/>
                    <a:p>
                      <a:pPr algn="r">
                        <a:buNone/>
                      </a:pPr>
                      <a:r>
                        <a:rPr lang="en-IN" sz="1600">
                          <a:solidFill>
                            <a:schemeClr val="bg2">
                              <a:lumMod val="90000"/>
                            </a:schemeClr>
                          </a:solidFill>
                        </a:rPr>
                        <a:t>-0.328</a:t>
                      </a:r>
                    </a:p>
                  </a:txBody>
                  <a:tcPr marL="34126" marR="34126" marT="17063" marB="17063" anchor="ctr"/>
                </a:tc>
                <a:tc>
                  <a:txBody>
                    <a:bodyPr/>
                    <a:lstStyle/>
                    <a:p>
                      <a:pPr algn="r">
                        <a:buNone/>
                      </a:pPr>
                      <a:r>
                        <a:rPr lang="en-IN" sz="1600">
                          <a:solidFill>
                            <a:schemeClr val="bg2">
                              <a:lumMod val="90000"/>
                            </a:schemeClr>
                          </a:solidFill>
                        </a:rPr>
                        <a:t>0.743</a:t>
                      </a:r>
                    </a:p>
                  </a:txBody>
                  <a:tcPr marL="34126" marR="34126" marT="17063" marB="17063" anchor="ctr"/>
                </a:tc>
                <a:tc>
                  <a:txBody>
                    <a:bodyPr/>
                    <a:lstStyle/>
                    <a:p>
                      <a:pPr algn="r">
                        <a:buNone/>
                      </a:pPr>
                      <a:r>
                        <a:rPr lang="en-IN" sz="1600">
                          <a:solidFill>
                            <a:schemeClr val="bg2">
                              <a:lumMod val="90000"/>
                            </a:schemeClr>
                          </a:solidFill>
                        </a:rPr>
                        <a:t>-0.041</a:t>
                      </a:r>
                    </a:p>
                  </a:txBody>
                  <a:tcPr marL="34126" marR="34126" marT="17063" marB="17063" anchor="ctr"/>
                </a:tc>
                <a:tc>
                  <a:txBody>
                    <a:bodyPr/>
                    <a:lstStyle/>
                    <a:p>
                      <a:pPr algn="r">
                        <a:buNone/>
                      </a:pPr>
                      <a:r>
                        <a:rPr lang="en-IN" sz="1600">
                          <a:solidFill>
                            <a:schemeClr val="bg2">
                              <a:lumMod val="90000"/>
                            </a:schemeClr>
                          </a:solidFill>
                        </a:rPr>
                        <a:t>0.029</a:t>
                      </a:r>
                    </a:p>
                  </a:txBody>
                  <a:tcPr marL="34126" marR="34126" marT="17063" marB="17063" anchor="ctr"/>
                </a:tc>
                <a:extLst>
                  <a:ext uri="{0D108BD9-81ED-4DB2-BD59-A6C34878D82A}">
                    <a16:rowId xmlns:a16="http://schemas.microsoft.com/office/drawing/2014/main" val="1620745980"/>
                  </a:ext>
                </a:extLst>
              </a:tr>
              <a:tr h="296726">
                <a:tc>
                  <a:txBody>
                    <a:bodyPr/>
                    <a:lstStyle/>
                    <a:p>
                      <a:pPr>
                        <a:buNone/>
                      </a:pPr>
                      <a:r>
                        <a:rPr lang="en-IN" sz="1400">
                          <a:solidFill>
                            <a:schemeClr val="bg2">
                              <a:lumMod val="90000"/>
                            </a:schemeClr>
                          </a:solidFill>
                        </a:rPr>
                        <a:t>flow_level</a:t>
                      </a:r>
                    </a:p>
                  </a:txBody>
                  <a:tcPr marL="34126" marR="34126" marT="17063" marB="17063" anchor="ctr"/>
                </a:tc>
                <a:tc>
                  <a:txBody>
                    <a:bodyPr/>
                    <a:lstStyle/>
                    <a:p>
                      <a:pPr algn="r">
                        <a:buNone/>
                      </a:pPr>
                      <a:r>
                        <a:rPr lang="en-IN" sz="1600" dirty="0">
                          <a:solidFill>
                            <a:schemeClr val="bg2">
                              <a:lumMod val="90000"/>
                            </a:schemeClr>
                          </a:solidFill>
                        </a:rPr>
                        <a:t>0.292</a:t>
                      </a:r>
                    </a:p>
                  </a:txBody>
                  <a:tcPr marL="34126" marR="34126" marT="17063" marB="17063" anchor="ctr"/>
                </a:tc>
                <a:tc>
                  <a:txBody>
                    <a:bodyPr/>
                    <a:lstStyle/>
                    <a:p>
                      <a:pPr algn="r">
                        <a:buNone/>
                      </a:pPr>
                      <a:r>
                        <a:rPr lang="en-IN" sz="1600" dirty="0">
                          <a:solidFill>
                            <a:schemeClr val="bg2">
                              <a:lumMod val="90000"/>
                            </a:schemeClr>
                          </a:solidFill>
                        </a:rPr>
                        <a:t>0.010</a:t>
                      </a:r>
                    </a:p>
                  </a:txBody>
                  <a:tcPr marL="34126" marR="34126" marT="17063" marB="17063" anchor="ctr"/>
                </a:tc>
                <a:tc>
                  <a:txBody>
                    <a:bodyPr/>
                    <a:lstStyle/>
                    <a:p>
                      <a:pPr algn="r">
                        <a:buNone/>
                      </a:pPr>
                      <a:r>
                        <a:rPr lang="en-IN" sz="1600">
                          <a:solidFill>
                            <a:schemeClr val="bg2">
                              <a:lumMod val="90000"/>
                            </a:schemeClr>
                          </a:solidFill>
                        </a:rPr>
                        <a:t>29.873</a:t>
                      </a:r>
                    </a:p>
                  </a:txBody>
                  <a:tcPr marL="34126" marR="34126" marT="17063" marB="17063" anchor="ctr"/>
                </a:tc>
                <a:tc>
                  <a:txBody>
                    <a:bodyPr/>
                    <a:lstStyle/>
                    <a:p>
                      <a:pPr algn="r">
                        <a:buNone/>
                      </a:pPr>
                      <a:r>
                        <a:rPr lang="en-IN" sz="1600">
                          <a:solidFill>
                            <a:schemeClr val="bg2">
                              <a:lumMod val="90000"/>
                            </a:schemeClr>
                          </a:solidFill>
                        </a:rPr>
                        <a:t>0.000</a:t>
                      </a:r>
                    </a:p>
                  </a:txBody>
                  <a:tcPr marL="34126" marR="34126" marT="17063" marB="17063" anchor="ctr"/>
                </a:tc>
                <a:tc>
                  <a:txBody>
                    <a:bodyPr/>
                    <a:lstStyle/>
                    <a:p>
                      <a:pPr algn="r">
                        <a:buNone/>
                      </a:pPr>
                      <a:r>
                        <a:rPr lang="en-IN" sz="1600">
                          <a:solidFill>
                            <a:schemeClr val="bg2">
                              <a:lumMod val="90000"/>
                            </a:schemeClr>
                          </a:solidFill>
                        </a:rPr>
                        <a:t>0.273</a:t>
                      </a:r>
                    </a:p>
                  </a:txBody>
                  <a:tcPr marL="34126" marR="34126" marT="17063" marB="17063" anchor="ctr"/>
                </a:tc>
                <a:tc>
                  <a:txBody>
                    <a:bodyPr/>
                    <a:lstStyle/>
                    <a:p>
                      <a:pPr algn="r">
                        <a:buNone/>
                      </a:pPr>
                      <a:r>
                        <a:rPr lang="en-IN" sz="1600">
                          <a:solidFill>
                            <a:schemeClr val="bg2">
                              <a:lumMod val="90000"/>
                            </a:schemeClr>
                          </a:solidFill>
                        </a:rPr>
                        <a:t>0.311</a:t>
                      </a:r>
                    </a:p>
                  </a:txBody>
                  <a:tcPr marL="34126" marR="34126" marT="17063" marB="17063" anchor="ctr"/>
                </a:tc>
                <a:extLst>
                  <a:ext uri="{0D108BD9-81ED-4DB2-BD59-A6C34878D82A}">
                    <a16:rowId xmlns:a16="http://schemas.microsoft.com/office/drawing/2014/main" val="260686415"/>
                  </a:ext>
                </a:extLst>
              </a:tr>
              <a:tr h="296726">
                <a:tc>
                  <a:txBody>
                    <a:bodyPr/>
                    <a:lstStyle/>
                    <a:p>
                      <a:pPr>
                        <a:buNone/>
                      </a:pPr>
                      <a:r>
                        <a:rPr lang="en-IN" sz="1400">
                          <a:solidFill>
                            <a:schemeClr val="bg2">
                              <a:lumMod val="90000"/>
                            </a:schemeClr>
                          </a:solidFill>
                        </a:rPr>
                        <a:t>pms_symptoms_Yes</a:t>
                      </a:r>
                    </a:p>
                  </a:txBody>
                  <a:tcPr marL="34126" marR="34126" marT="17063" marB="17063" anchor="ctr"/>
                </a:tc>
                <a:tc>
                  <a:txBody>
                    <a:bodyPr/>
                    <a:lstStyle/>
                    <a:p>
                      <a:pPr algn="r">
                        <a:buNone/>
                      </a:pPr>
                      <a:r>
                        <a:rPr lang="en-IN" sz="1600" dirty="0">
                          <a:solidFill>
                            <a:schemeClr val="bg2">
                              <a:lumMod val="90000"/>
                            </a:schemeClr>
                          </a:solidFill>
                        </a:rPr>
                        <a:t>-0.017</a:t>
                      </a:r>
                    </a:p>
                  </a:txBody>
                  <a:tcPr marL="34126" marR="34126" marT="17063" marB="17063" anchor="ctr"/>
                </a:tc>
                <a:tc>
                  <a:txBody>
                    <a:bodyPr/>
                    <a:lstStyle/>
                    <a:p>
                      <a:pPr algn="r">
                        <a:buNone/>
                      </a:pPr>
                      <a:r>
                        <a:rPr lang="en-IN" sz="1600" dirty="0">
                          <a:solidFill>
                            <a:schemeClr val="bg2">
                              <a:lumMod val="90000"/>
                            </a:schemeClr>
                          </a:solidFill>
                        </a:rPr>
                        <a:t>0.010</a:t>
                      </a:r>
                    </a:p>
                  </a:txBody>
                  <a:tcPr marL="34126" marR="34126" marT="17063" marB="17063" anchor="ctr"/>
                </a:tc>
                <a:tc>
                  <a:txBody>
                    <a:bodyPr/>
                    <a:lstStyle/>
                    <a:p>
                      <a:pPr algn="r">
                        <a:buNone/>
                      </a:pPr>
                      <a:r>
                        <a:rPr lang="en-IN" sz="1600">
                          <a:solidFill>
                            <a:schemeClr val="bg2">
                              <a:lumMod val="90000"/>
                            </a:schemeClr>
                          </a:solidFill>
                        </a:rPr>
                        <a:t>-1.809</a:t>
                      </a:r>
                    </a:p>
                  </a:txBody>
                  <a:tcPr marL="34126" marR="34126" marT="17063" marB="17063" anchor="ctr"/>
                </a:tc>
                <a:tc>
                  <a:txBody>
                    <a:bodyPr/>
                    <a:lstStyle/>
                    <a:p>
                      <a:pPr algn="r">
                        <a:buNone/>
                      </a:pPr>
                      <a:r>
                        <a:rPr lang="en-IN" sz="1600">
                          <a:solidFill>
                            <a:schemeClr val="bg2">
                              <a:lumMod val="90000"/>
                            </a:schemeClr>
                          </a:solidFill>
                        </a:rPr>
                        <a:t>0.070</a:t>
                      </a:r>
                    </a:p>
                  </a:txBody>
                  <a:tcPr marL="34126" marR="34126" marT="17063" marB="17063" anchor="ctr"/>
                </a:tc>
                <a:tc>
                  <a:txBody>
                    <a:bodyPr/>
                    <a:lstStyle/>
                    <a:p>
                      <a:pPr algn="r">
                        <a:buNone/>
                      </a:pPr>
                      <a:r>
                        <a:rPr lang="en-IN" sz="1600">
                          <a:solidFill>
                            <a:schemeClr val="bg2">
                              <a:lumMod val="90000"/>
                            </a:schemeClr>
                          </a:solidFill>
                        </a:rPr>
                        <a:t>-0.036</a:t>
                      </a:r>
                    </a:p>
                  </a:txBody>
                  <a:tcPr marL="34126" marR="34126" marT="17063" marB="17063" anchor="ctr"/>
                </a:tc>
                <a:tc>
                  <a:txBody>
                    <a:bodyPr/>
                    <a:lstStyle/>
                    <a:p>
                      <a:pPr algn="r">
                        <a:buNone/>
                      </a:pPr>
                      <a:r>
                        <a:rPr lang="en-IN" sz="1600">
                          <a:solidFill>
                            <a:schemeClr val="bg2">
                              <a:lumMod val="90000"/>
                            </a:schemeClr>
                          </a:solidFill>
                        </a:rPr>
                        <a:t>0.001</a:t>
                      </a:r>
                    </a:p>
                  </a:txBody>
                  <a:tcPr marL="34126" marR="34126" marT="17063" marB="17063" anchor="ctr"/>
                </a:tc>
                <a:extLst>
                  <a:ext uri="{0D108BD9-81ED-4DB2-BD59-A6C34878D82A}">
                    <a16:rowId xmlns:a16="http://schemas.microsoft.com/office/drawing/2014/main" val="3285571751"/>
                  </a:ext>
                </a:extLst>
              </a:tr>
              <a:tr h="296726">
                <a:tc>
                  <a:txBody>
                    <a:bodyPr/>
                    <a:lstStyle/>
                    <a:p>
                      <a:pPr>
                        <a:buNone/>
                      </a:pPr>
                      <a:r>
                        <a:rPr lang="en-IN" sz="1400">
                          <a:solidFill>
                            <a:schemeClr val="bg2">
                              <a:lumMod val="90000"/>
                            </a:schemeClr>
                          </a:solidFill>
                        </a:rPr>
                        <a:t>estrogen_pgml</a:t>
                      </a:r>
                    </a:p>
                  </a:txBody>
                  <a:tcPr marL="34126" marR="34126" marT="17063" marB="17063" anchor="ctr"/>
                </a:tc>
                <a:tc>
                  <a:txBody>
                    <a:bodyPr/>
                    <a:lstStyle/>
                    <a:p>
                      <a:pPr algn="r">
                        <a:buNone/>
                      </a:pPr>
                      <a:r>
                        <a:rPr lang="en-IN" sz="1600">
                          <a:solidFill>
                            <a:schemeClr val="bg2">
                              <a:lumMod val="90000"/>
                            </a:schemeClr>
                          </a:solidFill>
                        </a:rPr>
                        <a:t>-0.000</a:t>
                      </a:r>
                    </a:p>
                  </a:txBody>
                  <a:tcPr marL="34126" marR="34126" marT="17063" marB="17063" anchor="ctr"/>
                </a:tc>
                <a:tc>
                  <a:txBody>
                    <a:bodyPr/>
                    <a:lstStyle/>
                    <a:p>
                      <a:pPr algn="r">
                        <a:buNone/>
                      </a:pPr>
                      <a:r>
                        <a:rPr lang="en-IN" sz="1600" dirty="0">
                          <a:solidFill>
                            <a:schemeClr val="bg2">
                              <a:lumMod val="90000"/>
                            </a:schemeClr>
                          </a:solidFill>
                        </a:rPr>
                        <a:t>0.000</a:t>
                      </a:r>
                    </a:p>
                  </a:txBody>
                  <a:tcPr marL="34126" marR="34126" marT="17063" marB="17063" anchor="ctr"/>
                </a:tc>
                <a:tc>
                  <a:txBody>
                    <a:bodyPr/>
                    <a:lstStyle/>
                    <a:p>
                      <a:pPr algn="r">
                        <a:buNone/>
                      </a:pPr>
                      <a:r>
                        <a:rPr lang="en-IN" sz="1600" dirty="0">
                          <a:solidFill>
                            <a:schemeClr val="bg2">
                              <a:lumMod val="90000"/>
                            </a:schemeClr>
                          </a:solidFill>
                        </a:rPr>
                        <a:t>-0.119</a:t>
                      </a:r>
                    </a:p>
                  </a:txBody>
                  <a:tcPr marL="34126" marR="34126" marT="17063" marB="17063" anchor="ctr"/>
                </a:tc>
                <a:tc>
                  <a:txBody>
                    <a:bodyPr/>
                    <a:lstStyle/>
                    <a:p>
                      <a:pPr algn="r">
                        <a:buNone/>
                      </a:pPr>
                      <a:r>
                        <a:rPr lang="en-IN" sz="1600">
                          <a:solidFill>
                            <a:schemeClr val="bg2">
                              <a:lumMod val="90000"/>
                            </a:schemeClr>
                          </a:solidFill>
                        </a:rPr>
                        <a:t>0.906</a:t>
                      </a:r>
                    </a:p>
                  </a:txBody>
                  <a:tcPr marL="34126" marR="34126" marT="17063" marB="17063" anchor="ctr"/>
                </a:tc>
                <a:tc>
                  <a:txBody>
                    <a:bodyPr/>
                    <a:lstStyle/>
                    <a:p>
                      <a:pPr algn="r">
                        <a:buNone/>
                      </a:pPr>
                      <a:r>
                        <a:rPr lang="en-IN" sz="1600">
                          <a:solidFill>
                            <a:schemeClr val="bg2">
                              <a:lumMod val="90000"/>
                            </a:schemeClr>
                          </a:solidFill>
                        </a:rPr>
                        <a:t>-0.000</a:t>
                      </a:r>
                    </a:p>
                  </a:txBody>
                  <a:tcPr marL="34126" marR="34126" marT="17063" marB="17063" anchor="ctr"/>
                </a:tc>
                <a:tc>
                  <a:txBody>
                    <a:bodyPr/>
                    <a:lstStyle/>
                    <a:p>
                      <a:pPr algn="r">
                        <a:buNone/>
                      </a:pPr>
                      <a:r>
                        <a:rPr lang="en-IN" sz="1600">
                          <a:solidFill>
                            <a:schemeClr val="bg2">
                              <a:lumMod val="90000"/>
                            </a:schemeClr>
                          </a:solidFill>
                        </a:rPr>
                        <a:t>0.000</a:t>
                      </a:r>
                    </a:p>
                  </a:txBody>
                  <a:tcPr marL="34126" marR="34126" marT="17063" marB="17063" anchor="ctr"/>
                </a:tc>
                <a:extLst>
                  <a:ext uri="{0D108BD9-81ED-4DB2-BD59-A6C34878D82A}">
                    <a16:rowId xmlns:a16="http://schemas.microsoft.com/office/drawing/2014/main" val="2006561533"/>
                  </a:ext>
                </a:extLst>
              </a:tr>
              <a:tr h="250179">
                <a:tc>
                  <a:txBody>
                    <a:bodyPr/>
                    <a:lstStyle/>
                    <a:p>
                      <a:pPr>
                        <a:buNone/>
                      </a:pPr>
                      <a:r>
                        <a:rPr lang="en-IN" sz="1400">
                          <a:solidFill>
                            <a:schemeClr val="bg2">
                              <a:lumMod val="90000"/>
                            </a:schemeClr>
                          </a:solidFill>
                        </a:rPr>
                        <a:t>progesterone_ngml</a:t>
                      </a:r>
                    </a:p>
                  </a:txBody>
                  <a:tcPr marL="34126" marR="34126" marT="17063" marB="17063" anchor="ctr"/>
                </a:tc>
                <a:tc>
                  <a:txBody>
                    <a:bodyPr/>
                    <a:lstStyle/>
                    <a:p>
                      <a:pPr algn="r">
                        <a:buNone/>
                      </a:pPr>
                      <a:r>
                        <a:rPr lang="en-IN" sz="1600">
                          <a:solidFill>
                            <a:schemeClr val="bg2">
                              <a:lumMod val="90000"/>
                            </a:schemeClr>
                          </a:solidFill>
                        </a:rPr>
                        <a:t>0.003</a:t>
                      </a:r>
                    </a:p>
                  </a:txBody>
                  <a:tcPr marL="34126" marR="34126" marT="17063" marB="17063" anchor="ctr"/>
                </a:tc>
                <a:tc>
                  <a:txBody>
                    <a:bodyPr/>
                    <a:lstStyle/>
                    <a:p>
                      <a:pPr algn="r">
                        <a:buNone/>
                      </a:pPr>
                      <a:r>
                        <a:rPr lang="en-IN" sz="1600" dirty="0">
                          <a:solidFill>
                            <a:schemeClr val="bg2">
                              <a:lumMod val="90000"/>
                            </a:schemeClr>
                          </a:solidFill>
                        </a:rPr>
                        <a:t>0.002</a:t>
                      </a:r>
                    </a:p>
                  </a:txBody>
                  <a:tcPr marL="34126" marR="34126" marT="17063" marB="17063" anchor="ctr"/>
                </a:tc>
                <a:tc>
                  <a:txBody>
                    <a:bodyPr/>
                    <a:lstStyle/>
                    <a:p>
                      <a:pPr algn="r">
                        <a:buNone/>
                      </a:pPr>
                      <a:r>
                        <a:rPr lang="en-IN" sz="1600">
                          <a:solidFill>
                            <a:schemeClr val="bg2">
                              <a:lumMod val="90000"/>
                            </a:schemeClr>
                          </a:solidFill>
                        </a:rPr>
                        <a:t>1.382</a:t>
                      </a:r>
                    </a:p>
                  </a:txBody>
                  <a:tcPr marL="34126" marR="34126" marT="17063" marB="17063" anchor="ctr"/>
                </a:tc>
                <a:tc>
                  <a:txBody>
                    <a:bodyPr/>
                    <a:lstStyle/>
                    <a:p>
                      <a:pPr algn="r">
                        <a:buNone/>
                      </a:pPr>
                      <a:r>
                        <a:rPr lang="en-IN" sz="1600">
                          <a:solidFill>
                            <a:schemeClr val="bg2">
                              <a:lumMod val="90000"/>
                            </a:schemeClr>
                          </a:solidFill>
                        </a:rPr>
                        <a:t>0.167</a:t>
                      </a:r>
                    </a:p>
                  </a:txBody>
                  <a:tcPr marL="34126" marR="34126" marT="17063" marB="17063" anchor="ctr"/>
                </a:tc>
                <a:tc>
                  <a:txBody>
                    <a:bodyPr/>
                    <a:lstStyle/>
                    <a:p>
                      <a:pPr algn="r">
                        <a:buNone/>
                      </a:pPr>
                      <a:r>
                        <a:rPr lang="en-IN" sz="1600">
                          <a:solidFill>
                            <a:schemeClr val="bg2">
                              <a:lumMod val="90000"/>
                            </a:schemeClr>
                          </a:solidFill>
                        </a:rPr>
                        <a:t>-0.001</a:t>
                      </a:r>
                    </a:p>
                  </a:txBody>
                  <a:tcPr marL="34126" marR="34126" marT="17063" marB="17063" anchor="ctr"/>
                </a:tc>
                <a:tc>
                  <a:txBody>
                    <a:bodyPr/>
                    <a:lstStyle/>
                    <a:p>
                      <a:pPr algn="r">
                        <a:buNone/>
                      </a:pPr>
                      <a:r>
                        <a:rPr lang="en-IN" sz="1600">
                          <a:solidFill>
                            <a:schemeClr val="bg2">
                              <a:lumMod val="90000"/>
                            </a:schemeClr>
                          </a:solidFill>
                        </a:rPr>
                        <a:t>0.008</a:t>
                      </a:r>
                    </a:p>
                  </a:txBody>
                  <a:tcPr marL="34126" marR="34126" marT="17063" marB="17063" anchor="ctr"/>
                </a:tc>
                <a:extLst>
                  <a:ext uri="{0D108BD9-81ED-4DB2-BD59-A6C34878D82A}">
                    <a16:rowId xmlns:a16="http://schemas.microsoft.com/office/drawing/2014/main" val="1638277604"/>
                  </a:ext>
                </a:extLst>
              </a:tr>
              <a:tr h="296726">
                <a:tc>
                  <a:txBody>
                    <a:bodyPr/>
                    <a:lstStyle/>
                    <a:p>
                      <a:pPr>
                        <a:buNone/>
                      </a:pPr>
                      <a:r>
                        <a:rPr lang="en-IN" sz="1400">
                          <a:solidFill>
                            <a:schemeClr val="bg2">
                              <a:lumMod val="90000"/>
                            </a:schemeClr>
                          </a:solidFill>
                        </a:rPr>
                        <a:t>ovulation_result_Positive</a:t>
                      </a:r>
                    </a:p>
                  </a:txBody>
                  <a:tcPr marL="34126" marR="34126" marT="17063" marB="17063" anchor="ctr"/>
                </a:tc>
                <a:tc>
                  <a:txBody>
                    <a:bodyPr/>
                    <a:lstStyle/>
                    <a:p>
                      <a:pPr algn="r">
                        <a:buNone/>
                      </a:pPr>
                      <a:r>
                        <a:rPr lang="en-IN" sz="1600">
                          <a:solidFill>
                            <a:schemeClr val="bg2">
                              <a:lumMod val="90000"/>
                            </a:schemeClr>
                          </a:solidFill>
                        </a:rPr>
                        <a:t>0.019</a:t>
                      </a:r>
                    </a:p>
                  </a:txBody>
                  <a:tcPr marL="34126" marR="34126" marT="17063" marB="17063" anchor="ctr"/>
                </a:tc>
                <a:tc>
                  <a:txBody>
                    <a:bodyPr/>
                    <a:lstStyle/>
                    <a:p>
                      <a:pPr algn="r">
                        <a:buNone/>
                      </a:pPr>
                      <a:r>
                        <a:rPr lang="en-IN" sz="1600" dirty="0">
                          <a:solidFill>
                            <a:schemeClr val="bg2">
                              <a:lumMod val="90000"/>
                            </a:schemeClr>
                          </a:solidFill>
                        </a:rPr>
                        <a:t>0.010</a:t>
                      </a:r>
                    </a:p>
                  </a:txBody>
                  <a:tcPr marL="34126" marR="34126" marT="17063" marB="17063" anchor="ctr"/>
                </a:tc>
                <a:tc>
                  <a:txBody>
                    <a:bodyPr/>
                    <a:lstStyle/>
                    <a:p>
                      <a:pPr algn="r">
                        <a:buNone/>
                      </a:pPr>
                      <a:r>
                        <a:rPr lang="en-IN" sz="1600">
                          <a:solidFill>
                            <a:schemeClr val="bg2">
                              <a:lumMod val="90000"/>
                            </a:schemeClr>
                          </a:solidFill>
                        </a:rPr>
                        <a:t>1.927</a:t>
                      </a:r>
                    </a:p>
                  </a:txBody>
                  <a:tcPr marL="34126" marR="34126" marT="17063" marB="17063" anchor="ctr"/>
                </a:tc>
                <a:tc>
                  <a:txBody>
                    <a:bodyPr/>
                    <a:lstStyle/>
                    <a:p>
                      <a:pPr algn="r">
                        <a:buNone/>
                      </a:pPr>
                      <a:r>
                        <a:rPr lang="en-IN" sz="1600">
                          <a:solidFill>
                            <a:schemeClr val="bg2">
                              <a:lumMod val="90000"/>
                            </a:schemeClr>
                          </a:solidFill>
                        </a:rPr>
                        <a:t>0.054</a:t>
                      </a:r>
                    </a:p>
                  </a:txBody>
                  <a:tcPr marL="34126" marR="34126" marT="17063" marB="17063" anchor="ctr"/>
                </a:tc>
                <a:tc>
                  <a:txBody>
                    <a:bodyPr/>
                    <a:lstStyle/>
                    <a:p>
                      <a:pPr algn="r">
                        <a:buNone/>
                      </a:pPr>
                      <a:r>
                        <a:rPr lang="en-IN" sz="1600">
                          <a:solidFill>
                            <a:schemeClr val="bg2">
                              <a:lumMod val="90000"/>
                            </a:schemeClr>
                          </a:solidFill>
                        </a:rPr>
                        <a:t>-0.000</a:t>
                      </a:r>
                    </a:p>
                  </a:txBody>
                  <a:tcPr marL="34126" marR="34126" marT="17063" marB="17063" anchor="ctr"/>
                </a:tc>
                <a:tc>
                  <a:txBody>
                    <a:bodyPr/>
                    <a:lstStyle/>
                    <a:p>
                      <a:pPr algn="r">
                        <a:buNone/>
                      </a:pPr>
                      <a:r>
                        <a:rPr lang="en-IN" sz="1600">
                          <a:solidFill>
                            <a:schemeClr val="bg2">
                              <a:lumMod val="90000"/>
                            </a:schemeClr>
                          </a:solidFill>
                        </a:rPr>
                        <a:t>0.038</a:t>
                      </a:r>
                    </a:p>
                  </a:txBody>
                  <a:tcPr marL="34126" marR="34126" marT="17063" marB="17063" anchor="ctr"/>
                </a:tc>
                <a:extLst>
                  <a:ext uri="{0D108BD9-81ED-4DB2-BD59-A6C34878D82A}">
                    <a16:rowId xmlns:a16="http://schemas.microsoft.com/office/drawing/2014/main" val="1185514438"/>
                  </a:ext>
                </a:extLst>
              </a:tr>
              <a:tr h="296726">
                <a:tc>
                  <a:txBody>
                    <a:bodyPr/>
                    <a:lstStyle/>
                    <a:p>
                      <a:pPr>
                        <a:buNone/>
                      </a:pPr>
                      <a:r>
                        <a:rPr lang="en-IN" sz="1400">
                          <a:solidFill>
                            <a:schemeClr val="bg2">
                              <a:lumMod val="90000"/>
                            </a:schemeClr>
                          </a:solidFill>
                        </a:rPr>
                        <a:t>mood_score</a:t>
                      </a:r>
                    </a:p>
                  </a:txBody>
                  <a:tcPr marL="34126" marR="34126" marT="17063" marB="17063" anchor="ctr"/>
                </a:tc>
                <a:tc>
                  <a:txBody>
                    <a:bodyPr/>
                    <a:lstStyle/>
                    <a:p>
                      <a:pPr algn="r">
                        <a:buNone/>
                      </a:pPr>
                      <a:r>
                        <a:rPr lang="en-IN" sz="1600">
                          <a:solidFill>
                            <a:schemeClr val="bg2">
                              <a:lumMod val="90000"/>
                            </a:schemeClr>
                          </a:solidFill>
                        </a:rPr>
                        <a:t>-0.057</a:t>
                      </a:r>
                    </a:p>
                  </a:txBody>
                  <a:tcPr marL="34126" marR="34126" marT="17063" marB="17063" anchor="ctr"/>
                </a:tc>
                <a:tc>
                  <a:txBody>
                    <a:bodyPr/>
                    <a:lstStyle/>
                    <a:p>
                      <a:pPr algn="r">
                        <a:buNone/>
                      </a:pPr>
                      <a:r>
                        <a:rPr lang="en-IN" sz="1600" dirty="0">
                          <a:solidFill>
                            <a:schemeClr val="bg2">
                              <a:lumMod val="90000"/>
                            </a:schemeClr>
                          </a:solidFill>
                        </a:rPr>
                        <a:t>0.004</a:t>
                      </a:r>
                    </a:p>
                  </a:txBody>
                  <a:tcPr marL="34126" marR="34126" marT="17063" marB="17063" anchor="ctr"/>
                </a:tc>
                <a:tc>
                  <a:txBody>
                    <a:bodyPr/>
                    <a:lstStyle/>
                    <a:p>
                      <a:pPr algn="r">
                        <a:buNone/>
                      </a:pPr>
                      <a:r>
                        <a:rPr lang="en-IN" sz="1600" dirty="0">
                          <a:solidFill>
                            <a:schemeClr val="bg2">
                              <a:lumMod val="90000"/>
                            </a:schemeClr>
                          </a:solidFill>
                        </a:rPr>
                        <a:t>-14.984</a:t>
                      </a:r>
                    </a:p>
                  </a:txBody>
                  <a:tcPr marL="34126" marR="34126" marT="17063" marB="17063" anchor="ctr"/>
                </a:tc>
                <a:tc>
                  <a:txBody>
                    <a:bodyPr/>
                    <a:lstStyle/>
                    <a:p>
                      <a:pPr algn="r">
                        <a:buNone/>
                      </a:pPr>
                      <a:r>
                        <a:rPr lang="en-IN" sz="1600">
                          <a:solidFill>
                            <a:schemeClr val="bg2">
                              <a:lumMod val="90000"/>
                            </a:schemeClr>
                          </a:solidFill>
                        </a:rPr>
                        <a:t>0.000</a:t>
                      </a:r>
                    </a:p>
                  </a:txBody>
                  <a:tcPr marL="34126" marR="34126" marT="17063" marB="17063" anchor="ctr"/>
                </a:tc>
                <a:tc>
                  <a:txBody>
                    <a:bodyPr/>
                    <a:lstStyle/>
                    <a:p>
                      <a:pPr algn="r">
                        <a:buNone/>
                      </a:pPr>
                      <a:r>
                        <a:rPr lang="en-IN" sz="1600">
                          <a:solidFill>
                            <a:schemeClr val="bg2">
                              <a:lumMod val="90000"/>
                            </a:schemeClr>
                          </a:solidFill>
                        </a:rPr>
                        <a:t>-0.064</a:t>
                      </a:r>
                    </a:p>
                  </a:txBody>
                  <a:tcPr marL="34126" marR="34126" marT="17063" marB="17063" anchor="ctr"/>
                </a:tc>
                <a:tc>
                  <a:txBody>
                    <a:bodyPr/>
                    <a:lstStyle/>
                    <a:p>
                      <a:pPr algn="r">
                        <a:buNone/>
                      </a:pPr>
                      <a:r>
                        <a:rPr lang="en-IN" sz="1600">
                          <a:solidFill>
                            <a:schemeClr val="bg2">
                              <a:lumMod val="90000"/>
                            </a:schemeClr>
                          </a:solidFill>
                        </a:rPr>
                        <a:t>-0.049</a:t>
                      </a:r>
                    </a:p>
                  </a:txBody>
                  <a:tcPr marL="34126" marR="34126" marT="17063" marB="17063" anchor="ctr"/>
                </a:tc>
                <a:extLst>
                  <a:ext uri="{0D108BD9-81ED-4DB2-BD59-A6C34878D82A}">
                    <a16:rowId xmlns:a16="http://schemas.microsoft.com/office/drawing/2014/main" val="877681358"/>
                  </a:ext>
                </a:extLst>
              </a:tr>
              <a:tr h="296726">
                <a:tc>
                  <a:txBody>
                    <a:bodyPr/>
                    <a:lstStyle/>
                    <a:p>
                      <a:pPr>
                        <a:buNone/>
                      </a:pPr>
                      <a:r>
                        <a:rPr lang="en-IN" sz="1400">
                          <a:solidFill>
                            <a:schemeClr val="bg2">
                              <a:lumMod val="90000"/>
                            </a:schemeClr>
                          </a:solidFill>
                        </a:rPr>
                        <a:t>stress_score_cycle</a:t>
                      </a:r>
                    </a:p>
                  </a:txBody>
                  <a:tcPr marL="34126" marR="34126" marT="17063" marB="17063" anchor="ctr"/>
                </a:tc>
                <a:tc>
                  <a:txBody>
                    <a:bodyPr/>
                    <a:lstStyle/>
                    <a:p>
                      <a:pPr algn="r">
                        <a:buNone/>
                      </a:pPr>
                      <a:r>
                        <a:rPr lang="en-IN" sz="1600">
                          <a:solidFill>
                            <a:schemeClr val="bg2">
                              <a:lumMod val="90000"/>
                            </a:schemeClr>
                          </a:solidFill>
                        </a:rPr>
                        <a:t>-0.372</a:t>
                      </a:r>
                    </a:p>
                  </a:txBody>
                  <a:tcPr marL="34126" marR="34126" marT="17063" marB="17063" anchor="ctr"/>
                </a:tc>
                <a:tc>
                  <a:txBody>
                    <a:bodyPr/>
                    <a:lstStyle/>
                    <a:p>
                      <a:pPr algn="r">
                        <a:buNone/>
                      </a:pPr>
                      <a:r>
                        <a:rPr lang="en-IN" sz="1600" dirty="0">
                          <a:solidFill>
                            <a:schemeClr val="bg2">
                              <a:lumMod val="90000"/>
                            </a:schemeClr>
                          </a:solidFill>
                        </a:rPr>
                        <a:t>0.006</a:t>
                      </a:r>
                    </a:p>
                  </a:txBody>
                  <a:tcPr marL="34126" marR="34126" marT="17063" marB="17063" anchor="ctr"/>
                </a:tc>
                <a:tc>
                  <a:txBody>
                    <a:bodyPr/>
                    <a:lstStyle/>
                    <a:p>
                      <a:pPr algn="r">
                        <a:buNone/>
                      </a:pPr>
                      <a:r>
                        <a:rPr lang="en-IN" sz="1600" dirty="0">
                          <a:solidFill>
                            <a:schemeClr val="bg2">
                              <a:lumMod val="90000"/>
                            </a:schemeClr>
                          </a:solidFill>
                        </a:rPr>
                        <a:t>-57.437</a:t>
                      </a:r>
                    </a:p>
                  </a:txBody>
                  <a:tcPr marL="34126" marR="34126" marT="17063" marB="17063" anchor="ctr"/>
                </a:tc>
                <a:tc>
                  <a:txBody>
                    <a:bodyPr/>
                    <a:lstStyle/>
                    <a:p>
                      <a:pPr algn="r">
                        <a:buNone/>
                      </a:pPr>
                      <a:r>
                        <a:rPr lang="en-IN" sz="1600">
                          <a:solidFill>
                            <a:schemeClr val="bg2">
                              <a:lumMod val="90000"/>
                            </a:schemeClr>
                          </a:solidFill>
                        </a:rPr>
                        <a:t>0.000</a:t>
                      </a:r>
                    </a:p>
                  </a:txBody>
                  <a:tcPr marL="34126" marR="34126" marT="17063" marB="17063" anchor="ctr"/>
                </a:tc>
                <a:tc>
                  <a:txBody>
                    <a:bodyPr/>
                    <a:lstStyle/>
                    <a:p>
                      <a:pPr algn="r">
                        <a:buNone/>
                      </a:pPr>
                      <a:r>
                        <a:rPr lang="en-IN" sz="1600">
                          <a:solidFill>
                            <a:schemeClr val="bg2">
                              <a:lumMod val="90000"/>
                            </a:schemeClr>
                          </a:solidFill>
                        </a:rPr>
                        <a:t>-0.385</a:t>
                      </a:r>
                    </a:p>
                  </a:txBody>
                  <a:tcPr marL="34126" marR="34126" marT="17063" marB="17063" anchor="ctr"/>
                </a:tc>
                <a:tc>
                  <a:txBody>
                    <a:bodyPr/>
                    <a:lstStyle/>
                    <a:p>
                      <a:pPr algn="r">
                        <a:buNone/>
                      </a:pPr>
                      <a:r>
                        <a:rPr lang="en-IN" sz="1600">
                          <a:solidFill>
                            <a:schemeClr val="bg2">
                              <a:lumMod val="90000"/>
                            </a:schemeClr>
                          </a:solidFill>
                        </a:rPr>
                        <a:t>-0.359</a:t>
                      </a:r>
                    </a:p>
                  </a:txBody>
                  <a:tcPr marL="34126" marR="34126" marT="17063" marB="17063" anchor="ctr"/>
                </a:tc>
                <a:extLst>
                  <a:ext uri="{0D108BD9-81ED-4DB2-BD59-A6C34878D82A}">
                    <a16:rowId xmlns:a16="http://schemas.microsoft.com/office/drawing/2014/main" val="1453414630"/>
                  </a:ext>
                </a:extLst>
              </a:tr>
              <a:tr h="296726">
                <a:tc>
                  <a:txBody>
                    <a:bodyPr/>
                    <a:lstStyle/>
                    <a:p>
                      <a:pPr>
                        <a:buNone/>
                      </a:pPr>
                      <a:r>
                        <a:rPr lang="en-IN" sz="1400">
                          <a:solidFill>
                            <a:schemeClr val="bg2">
                              <a:lumMod val="90000"/>
                            </a:schemeClr>
                          </a:solidFill>
                        </a:rPr>
                        <a:t>stress_score_baseline</a:t>
                      </a:r>
                    </a:p>
                  </a:txBody>
                  <a:tcPr marL="34126" marR="34126" marT="17063" marB="17063" anchor="ctr"/>
                </a:tc>
                <a:tc>
                  <a:txBody>
                    <a:bodyPr/>
                    <a:lstStyle/>
                    <a:p>
                      <a:pPr algn="r">
                        <a:buNone/>
                      </a:pPr>
                      <a:r>
                        <a:rPr lang="en-IN" sz="1600">
                          <a:solidFill>
                            <a:schemeClr val="bg2">
                              <a:lumMod val="90000"/>
                            </a:schemeClr>
                          </a:solidFill>
                        </a:rPr>
                        <a:t>0.005</a:t>
                      </a:r>
                    </a:p>
                  </a:txBody>
                  <a:tcPr marL="34126" marR="34126" marT="17063" marB="17063" anchor="ctr"/>
                </a:tc>
                <a:tc>
                  <a:txBody>
                    <a:bodyPr/>
                    <a:lstStyle/>
                    <a:p>
                      <a:pPr algn="r">
                        <a:buNone/>
                      </a:pPr>
                      <a:r>
                        <a:rPr lang="en-IN" sz="1600">
                          <a:solidFill>
                            <a:schemeClr val="bg2">
                              <a:lumMod val="90000"/>
                            </a:schemeClr>
                          </a:solidFill>
                        </a:rPr>
                        <a:t>0.009</a:t>
                      </a:r>
                    </a:p>
                  </a:txBody>
                  <a:tcPr marL="34126" marR="34126" marT="17063" marB="17063" anchor="ctr"/>
                </a:tc>
                <a:tc>
                  <a:txBody>
                    <a:bodyPr/>
                    <a:lstStyle/>
                    <a:p>
                      <a:pPr algn="r">
                        <a:buNone/>
                      </a:pPr>
                      <a:r>
                        <a:rPr lang="en-IN" sz="1600" dirty="0">
                          <a:solidFill>
                            <a:schemeClr val="bg2">
                              <a:lumMod val="90000"/>
                            </a:schemeClr>
                          </a:solidFill>
                        </a:rPr>
                        <a:t>0.598</a:t>
                      </a:r>
                    </a:p>
                  </a:txBody>
                  <a:tcPr marL="34126" marR="34126" marT="17063" marB="17063" anchor="ctr"/>
                </a:tc>
                <a:tc>
                  <a:txBody>
                    <a:bodyPr/>
                    <a:lstStyle/>
                    <a:p>
                      <a:pPr algn="r">
                        <a:buNone/>
                      </a:pPr>
                      <a:r>
                        <a:rPr lang="en-IN" sz="1600">
                          <a:solidFill>
                            <a:schemeClr val="bg2">
                              <a:lumMod val="90000"/>
                            </a:schemeClr>
                          </a:solidFill>
                        </a:rPr>
                        <a:t>0.550</a:t>
                      </a:r>
                    </a:p>
                  </a:txBody>
                  <a:tcPr marL="34126" marR="34126" marT="17063" marB="17063" anchor="ctr"/>
                </a:tc>
                <a:tc>
                  <a:txBody>
                    <a:bodyPr/>
                    <a:lstStyle/>
                    <a:p>
                      <a:pPr algn="r">
                        <a:buNone/>
                      </a:pPr>
                      <a:r>
                        <a:rPr lang="en-IN" sz="1600">
                          <a:solidFill>
                            <a:schemeClr val="bg2">
                              <a:lumMod val="90000"/>
                            </a:schemeClr>
                          </a:solidFill>
                        </a:rPr>
                        <a:t>-0.012</a:t>
                      </a:r>
                    </a:p>
                  </a:txBody>
                  <a:tcPr marL="34126" marR="34126" marT="17063" marB="17063" anchor="ctr"/>
                </a:tc>
                <a:tc>
                  <a:txBody>
                    <a:bodyPr/>
                    <a:lstStyle/>
                    <a:p>
                      <a:pPr algn="r">
                        <a:buNone/>
                      </a:pPr>
                      <a:r>
                        <a:rPr lang="en-IN" sz="1600">
                          <a:solidFill>
                            <a:schemeClr val="bg2">
                              <a:lumMod val="90000"/>
                            </a:schemeClr>
                          </a:solidFill>
                        </a:rPr>
                        <a:t>0.022</a:t>
                      </a:r>
                    </a:p>
                  </a:txBody>
                  <a:tcPr marL="34126" marR="34126" marT="17063" marB="17063" anchor="ctr"/>
                </a:tc>
                <a:extLst>
                  <a:ext uri="{0D108BD9-81ED-4DB2-BD59-A6C34878D82A}">
                    <a16:rowId xmlns:a16="http://schemas.microsoft.com/office/drawing/2014/main" val="2123299303"/>
                  </a:ext>
                </a:extLst>
              </a:tr>
              <a:tr h="250179">
                <a:tc>
                  <a:txBody>
                    <a:bodyPr/>
                    <a:lstStyle/>
                    <a:p>
                      <a:pPr>
                        <a:buNone/>
                      </a:pPr>
                      <a:r>
                        <a:rPr lang="en-IN" sz="1400">
                          <a:solidFill>
                            <a:schemeClr val="bg2">
                              <a:lumMod val="90000"/>
                            </a:schemeClr>
                          </a:solidFill>
                        </a:rPr>
                        <a:t>energy_level</a:t>
                      </a:r>
                    </a:p>
                  </a:txBody>
                  <a:tcPr marL="34126" marR="34126" marT="17063" marB="17063" anchor="ctr"/>
                </a:tc>
                <a:tc>
                  <a:txBody>
                    <a:bodyPr/>
                    <a:lstStyle/>
                    <a:p>
                      <a:pPr algn="r">
                        <a:buNone/>
                      </a:pPr>
                      <a:r>
                        <a:rPr lang="en-IN" sz="1600">
                          <a:solidFill>
                            <a:schemeClr val="bg2">
                              <a:lumMod val="90000"/>
                            </a:schemeClr>
                          </a:solidFill>
                        </a:rPr>
                        <a:t>-0.059</a:t>
                      </a:r>
                    </a:p>
                  </a:txBody>
                  <a:tcPr marL="34126" marR="34126" marT="17063" marB="17063" anchor="ctr"/>
                </a:tc>
                <a:tc>
                  <a:txBody>
                    <a:bodyPr/>
                    <a:lstStyle/>
                    <a:p>
                      <a:pPr algn="r">
                        <a:buNone/>
                      </a:pPr>
                      <a:r>
                        <a:rPr lang="en-IN" sz="1600">
                          <a:solidFill>
                            <a:schemeClr val="bg2">
                              <a:lumMod val="90000"/>
                            </a:schemeClr>
                          </a:solidFill>
                        </a:rPr>
                        <a:t>0.004</a:t>
                      </a:r>
                    </a:p>
                  </a:txBody>
                  <a:tcPr marL="34126" marR="34126" marT="17063" marB="17063" anchor="ctr"/>
                </a:tc>
                <a:tc>
                  <a:txBody>
                    <a:bodyPr/>
                    <a:lstStyle/>
                    <a:p>
                      <a:pPr algn="r">
                        <a:buNone/>
                      </a:pPr>
                      <a:r>
                        <a:rPr lang="en-IN" sz="1600" dirty="0">
                          <a:solidFill>
                            <a:schemeClr val="bg2">
                              <a:lumMod val="90000"/>
                            </a:schemeClr>
                          </a:solidFill>
                        </a:rPr>
                        <a:t>-15.703</a:t>
                      </a:r>
                    </a:p>
                  </a:txBody>
                  <a:tcPr marL="34126" marR="34126" marT="17063" marB="17063" anchor="ctr"/>
                </a:tc>
                <a:tc>
                  <a:txBody>
                    <a:bodyPr/>
                    <a:lstStyle/>
                    <a:p>
                      <a:pPr algn="r">
                        <a:buNone/>
                      </a:pPr>
                      <a:r>
                        <a:rPr lang="en-IN" sz="1600">
                          <a:solidFill>
                            <a:schemeClr val="bg2">
                              <a:lumMod val="90000"/>
                            </a:schemeClr>
                          </a:solidFill>
                        </a:rPr>
                        <a:t>0.000</a:t>
                      </a:r>
                    </a:p>
                  </a:txBody>
                  <a:tcPr marL="34126" marR="34126" marT="17063" marB="17063" anchor="ctr"/>
                </a:tc>
                <a:tc>
                  <a:txBody>
                    <a:bodyPr/>
                    <a:lstStyle/>
                    <a:p>
                      <a:pPr algn="r">
                        <a:buNone/>
                      </a:pPr>
                      <a:r>
                        <a:rPr lang="en-IN" sz="1600">
                          <a:solidFill>
                            <a:schemeClr val="bg2">
                              <a:lumMod val="90000"/>
                            </a:schemeClr>
                          </a:solidFill>
                        </a:rPr>
                        <a:t>-0.067</a:t>
                      </a:r>
                    </a:p>
                  </a:txBody>
                  <a:tcPr marL="34126" marR="34126" marT="17063" marB="17063" anchor="ctr"/>
                </a:tc>
                <a:tc>
                  <a:txBody>
                    <a:bodyPr/>
                    <a:lstStyle/>
                    <a:p>
                      <a:pPr algn="r">
                        <a:buNone/>
                      </a:pPr>
                      <a:r>
                        <a:rPr lang="en-IN" sz="1600">
                          <a:solidFill>
                            <a:schemeClr val="bg2">
                              <a:lumMod val="90000"/>
                            </a:schemeClr>
                          </a:solidFill>
                        </a:rPr>
                        <a:t>-0.052</a:t>
                      </a:r>
                    </a:p>
                  </a:txBody>
                  <a:tcPr marL="34126" marR="34126" marT="17063" marB="17063" anchor="ctr"/>
                </a:tc>
                <a:extLst>
                  <a:ext uri="{0D108BD9-81ED-4DB2-BD59-A6C34878D82A}">
                    <a16:rowId xmlns:a16="http://schemas.microsoft.com/office/drawing/2014/main" val="1119064055"/>
                  </a:ext>
                </a:extLst>
              </a:tr>
              <a:tr h="296726">
                <a:tc>
                  <a:txBody>
                    <a:bodyPr/>
                    <a:lstStyle/>
                    <a:p>
                      <a:pPr>
                        <a:buNone/>
                      </a:pPr>
                      <a:r>
                        <a:rPr lang="en-IN" sz="1400">
                          <a:solidFill>
                            <a:schemeClr val="bg2">
                              <a:lumMod val="90000"/>
                            </a:schemeClr>
                          </a:solidFill>
                        </a:rPr>
                        <a:t>concentration_score</a:t>
                      </a:r>
                    </a:p>
                  </a:txBody>
                  <a:tcPr marL="34126" marR="34126" marT="17063" marB="17063" anchor="ctr"/>
                </a:tc>
                <a:tc>
                  <a:txBody>
                    <a:bodyPr/>
                    <a:lstStyle/>
                    <a:p>
                      <a:pPr algn="r">
                        <a:buNone/>
                      </a:pPr>
                      <a:r>
                        <a:rPr lang="en-IN" sz="1600">
                          <a:solidFill>
                            <a:schemeClr val="bg2">
                              <a:lumMod val="90000"/>
                            </a:schemeClr>
                          </a:solidFill>
                        </a:rPr>
                        <a:t>-0.087</a:t>
                      </a:r>
                    </a:p>
                  </a:txBody>
                  <a:tcPr marL="34126" marR="34126" marT="17063" marB="17063" anchor="ctr"/>
                </a:tc>
                <a:tc>
                  <a:txBody>
                    <a:bodyPr/>
                    <a:lstStyle/>
                    <a:p>
                      <a:pPr algn="r">
                        <a:buNone/>
                      </a:pPr>
                      <a:r>
                        <a:rPr lang="en-IN" sz="1600">
                          <a:solidFill>
                            <a:schemeClr val="bg2">
                              <a:lumMod val="90000"/>
                            </a:schemeClr>
                          </a:solidFill>
                        </a:rPr>
                        <a:t>0.005</a:t>
                      </a:r>
                    </a:p>
                  </a:txBody>
                  <a:tcPr marL="34126" marR="34126" marT="17063" marB="17063" anchor="ctr"/>
                </a:tc>
                <a:tc>
                  <a:txBody>
                    <a:bodyPr/>
                    <a:lstStyle/>
                    <a:p>
                      <a:pPr algn="r">
                        <a:buNone/>
                      </a:pPr>
                      <a:r>
                        <a:rPr lang="en-IN" sz="1600" dirty="0">
                          <a:solidFill>
                            <a:schemeClr val="bg2">
                              <a:lumMod val="90000"/>
                            </a:schemeClr>
                          </a:solidFill>
                        </a:rPr>
                        <a:t>-18.922</a:t>
                      </a:r>
                    </a:p>
                  </a:txBody>
                  <a:tcPr marL="34126" marR="34126" marT="17063" marB="17063" anchor="ctr"/>
                </a:tc>
                <a:tc>
                  <a:txBody>
                    <a:bodyPr/>
                    <a:lstStyle/>
                    <a:p>
                      <a:pPr algn="r">
                        <a:buNone/>
                      </a:pPr>
                      <a:r>
                        <a:rPr lang="en-IN" sz="1600">
                          <a:solidFill>
                            <a:schemeClr val="bg2">
                              <a:lumMod val="90000"/>
                            </a:schemeClr>
                          </a:solidFill>
                        </a:rPr>
                        <a:t>0.000</a:t>
                      </a:r>
                    </a:p>
                  </a:txBody>
                  <a:tcPr marL="34126" marR="34126" marT="17063" marB="17063" anchor="ctr"/>
                </a:tc>
                <a:tc>
                  <a:txBody>
                    <a:bodyPr/>
                    <a:lstStyle/>
                    <a:p>
                      <a:pPr algn="r">
                        <a:buNone/>
                      </a:pPr>
                      <a:r>
                        <a:rPr lang="en-IN" sz="1600">
                          <a:solidFill>
                            <a:schemeClr val="bg2">
                              <a:lumMod val="90000"/>
                            </a:schemeClr>
                          </a:solidFill>
                        </a:rPr>
                        <a:t>-0.096</a:t>
                      </a:r>
                    </a:p>
                  </a:txBody>
                  <a:tcPr marL="34126" marR="34126" marT="17063" marB="17063" anchor="ctr"/>
                </a:tc>
                <a:tc>
                  <a:txBody>
                    <a:bodyPr/>
                    <a:lstStyle/>
                    <a:p>
                      <a:pPr algn="r">
                        <a:buNone/>
                      </a:pPr>
                      <a:r>
                        <a:rPr lang="en-IN" sz="1600">
                          <a:solidFill>
                            <a:schemeClr val="bg2">
                              <a:lumMod val="90000"/>
                            </a:schemeClr>
                          </a:solidFill>
                        </a:rPr>
                        <a:t>-0.078</a:t>
                      </a:r>
                    </a:p>
                  </a:txBody>
                  <a:tcPr marL="34126" marR="34126" marT="17063" marB="17063" anchor="ctr"/>
                </a:tc>
                <a:extLst>
                  <a:ext uri="{0D108BD9-81ED-4DB2-BD59-A6C34878D82A}">
                    <a16:rowId xmlns:a16="http://schemas.microsoft.com/office/drawing/2014/main" val="2223116683"/>
                  </a:ext>
                </a:extLst>
              </a:tr>
              <a:tr h="296726">
                <a:tc>
                  <a:txBody>
                    <a:bodyPr/>
                    <a:lstStyle/>
                    <a:p>
                      <a:pPr>
                        <a:buNone/>
                      </a:pPr>
                      <a:r>
                        <a:rPr lang="en-IN" sz="1400">
                          <a:solidFill>
                            <a:schemeClr val="bg2">
                              <a:lumMod val="90000"/>
                            </a:schemeClr>
                          </a:solidFill>
                        </a:rPr>
                        <a:t>overall_health_score</a:t>
                      </a:r>
                    </a:p>
                  </a:txBody>
                  <a:tcPr marL="34126" marR="34126" marT="17063" marB="17063" anchor="ctr"/>
                </a:tc>
                <a:tc>
                  <a:txBody>
                    <a:bodyPr/>
                    <a:lstStyle/>
                    <a:p>
                      <a:pPr algn="r">
                        <a:buNone/>
                      </a:pPr>
                      <a:r>
                        <a:rPr lang="en-IN" sz="1600">
                          <a:solidFill>
                            <a:schemeClr val="bg2">
                              <a:lumMod val="90000"/>
                            </a:schemeClr>
                          </a:solidFill>
                        </a:rPr>
                        <a:t>-1.914</a:t>
                      </a:r>
                    </a:p>
                  </a:txBody>
                  <a:tcPr marL="34126" marR="34126" marT="17063" marB="17063" anchor="ctr"/>
                </a:tc>
                <a:tc>
                  <a:txBody>
                    <a:bodyPr/>
                    <a:lstStyle/>
                    <a:p>
                      <a:pPr algn="r">
                        <a:buNone/>
                      </a:pPr>
                      <a:r>
                        <a:rPr lang="en-IN" sz="1600">
                          <a:solidFill>
                            <a:schemeClr val="bg2">
                              <a:lumMod val="90000"/>
                            </a:schemeClr>
                          </a:solidFill>
                        </a:rPr>
                        <a:t>0.014</a:t>
                      </a:r>
                    </a:p>
                  </a:txBody>
                  <a:tcPr marL="34126" marR="34126" marT="17063" marB="17063" anchor="ctr"/>
                </a:tc>
                <a:tc>
                  <a:txBody>
                    <a:bodyPr/>
                    <a:lstStyle/>
                    <a:p>
                      <a:pPr algn="r">
                        <a:buNone/>
                      </a:pPr>
                      <a:r>
                        <a:rPr lang="en-IN" sz="1600" dirty="0">
                          <a:solidFill>
                            <a:schemeClr val="bg2">
                              <a:lumMod val="90000"/>
                            </a:schemeClr>
                          </a:solidFill>
                        </a:rPr>
                        <a:t>-132.562</a:t>
                      </a:r>
                    </a:p>
                  </a:txBody>
                  <a:tcPr marL="34126" marR="34126" marT="17063" marB="17063" anchor="ctr"/>
                </a:tc>
                <a:tc>
                  <a:txBody>
                    <a:bodyPr/>
                    <a:lstStyle/>
                    <a:p>
                      <a:pPr algn="r">
                        <a:buNone/>
                      </a:pPr>
                      <a:r>
                        <a:rPr lang="en-IN" sz="1600">
                          <a:solidFill>
                            <a:schemeClr val="bg2">
                              <a:lumMod val="90000"/>
                            </a:schemeClr>
                          </a:solidFill>
                        </a:rPr>
                        <a:t>0.000</a:t>
                      </a:r>
                    </a:p>
                  </a:txBody>
                  <a:tcPr marL="34126" marR="34126" marT="17063" marB="17063" anchor="ctr"/>
                </a:tc>
                <a:tc>
                  <a:txBody>
                    <a:bodyPr/>
                    <a:lstStyle/>
                    <a:p>
                      <a:pPr algn="r">
                        <a:buNone/>
                      </a:pPr>
                      <a:r>
                        <a:rPr lang="en-IN" sz="1600">
                          <a:solidFill>
                            <a:schemeClr val="bg2">
                              <a:lumMod val="90000"/>
                            </a:schemeClr>
                          </a:solidFill>
                        </a:rPr>
                        <a:t>-1.942</a:t>
                      </a:r>
                    </a:p>
                  </a:txBody>
                  <a:tcPr marL="34126" marR="34126" marT="17063" marB="17063" anchor="ctr"/>
                </a:tc>
                <a:tc>
                  <a:txBody>
                    <a:bodyPr/>
                    <a:lstStyle/>
                    <a:p>
                      <a:pPr algn="r">
                        <a:buNone/>
                      </a:pPr>
                      <a:r>
                        <a:rPr lang="en-IN" sz="1600">
                          <a:solidFill>
                            <a:schemeClr val="bg2">
                              <a:lumMod val="90000"/>
                            </a:schemeClr>
                          </a:solidFill>
                        </a:rPr>
                        <a:t>-1.886</a:t>
                      </a:r>
                    </a:p>
                  </a:txBody>
                  <a:tcPr marL="34126" marR="34126" marT="17063" marB="17063" anchor="ctr"/>
                </a:tc>
                <a:extLst>
                  <a:ext uri="{0D108BD9-81ED-4DB2-BD59-A6C34878D82A}">
                    <a16:rowId xmlns:a16="http://schemas.microsoft.com/office/drawing/2014/main" val="4179396046"/>
                  </a:ext>
                </a:extLst>
              </a:tr>
              <a:tr h="296726">
                <a:tc>
                  <a:txBody>
                    <a:bodyPr/>
                    <a:lstStyle/>
                    <a:p>
                      <a:pPr>
                        <a:buNone/>
                      </a:pPr>
                      <a:r>
                        <a:rPr lang="en-IN" sz="1400">
                          <a:solidFill>
                            <a:schemeClr val="bg2">
                              <a:lumMod val="90000"/>
                            </a:schemeClr>
                          </a:solidFill>
                        </a:rPr>
                        <a:t>prepared_before_period</a:t>
                      </a:r>
                    </a:p>
                  </a:txBody>
                  <a:tcPr marL="34126" marR="34126" marT="17063" marB="17063" anchor="ctr"/>
                </a:tc>
                <a:tc>
                  <a:txBody>
                    <a:bodyPr/>
                    <a:lstStyle/>
                    <a:p>
                      <a:pPr algn="r">
                        <a:buNone/>
                      </a:pPr>
                      <a:r>
                        <a:rPr lang="en-IN" sz="1600">
                          <a:solidFill>
                            <a:schemeClr val="bg2">
                              <a:lumMod val="90000"/>
                            </a:schemeClr>
                          </a:solidFill>
                        </a:rPr>
                        <a:t>0.006</a:t>
                      </a:r>
                    </a:p>
                  </a:txBody>
                  <a:tcPr marL="34126" marR="34126" marT="17063" marB="17063" anchor="ctr"/>
                </a:tc>
                <a:tc>
                  <a:txBody>
                    <a:bodyPr/>
                    <a:lstStyle/>
                    <a:p>
                      <a:pPr algn="r">
                        <a:buNone/>
                      </a:pPr>
                      <a:r>
                        <a:rPr lang="en-IN" sz="1600">
                          <a:solidFill>
                            <a:schemeClr val="bg2">
                              <a:lumMod val="90000"/>
                            </a:schemeClr>
                          </a:solidFill>
                        </a:rPr>
                        <a:t>0.009</a:t>
                      </a:r>
                    </a:p>
                  </a:txBody>
                  <a:tcPr marL="34126" marR="34126" marT="17063" marB="17063" anchor="ctr"/>
                </a:tc>
                <a:tc>
                  <a:txBody>
                    <a:bodyPr/>
                    <a:lstStyle/>
                    <a:p>
                      <a:pPr algn="r">
                        <a:buNone/>
                      </a:pPr>
                      <a:r>
                        <a:rPr lang="en-IN" sz="1600" dirty="0">
                          <a:solidFill>
                            <a:schemeClr val="bg2">
                              <a:lumMod val="90000"/>
                            </a:schemeClr>
                          </a:solidFill>
                        </a:rPr>
                        <a:t>0.599</a:t>
                      </a:r>
                    </a:p>
                  </a:txBody>
                  <a:tcPr marL="34126" marR="34126" marT="17063" marB="17063" anchor="ctr"/>
                </a:tc>
                <a:tc>
                  <a:txBody>
                    <a:bodyPr/>
                    <a:lstStyle/>
                    <a:p>
                      <a:pPr algn="r">
                        <a:buNone/>
                      </a:pPr>
                      <a:r>
                        <a:rPr lang="en-IN" sz="1600">
                          <a:solidFill>
                            <a:schemeClr val="bg2">
                              <a:lumMod val="90000"/>
                            </a:schemeClr>
                          </a:solidFill>
                        </a:rPr>
                        <a:t>0.549</a:t>
                      </a:r>
                    </a:p>
                  </a:txBody>
                  <a:tcPr marL="34126" marR="34126" marT="17063" marB="17063" anchor="ctr"/>
                </a:tc>
                <a:tc>
                  <a:txBody>
                    <a:bodyPr/>
                    <a:lstStyle/>
                    <a:p>
                      <a:pPr algn="r">
                        <a:buNone/>
                      </a:pPr>
                      <a:r>
                        <a:rPr lang="en-IN" sz="1600">
                          <a:solidFill>
                            <a:schemeClr val="bg2">
                              <a:lumMod val="90000"/>
                            </a:schemeClr>
                          </a:solidFill>
                        </a:rPr>
                        <a:t>-0.013</a:t>
                      </a:r>
                    </a:p>
                  </a:txBody>
                  <a:tcPr marL="34126" marR="34126" marT="17063" marB="17063" anchor="ctr"/>
                </a:tc>
                <a:tc>
                  <a:txBody>
                    <a:bodyPr/>
                    <a:lstStyle/>
                    <a:p>
                      <a:pPr algn="r">
                        <a:buNone/>
                      </a:pPr>
                      <a:r>
                        <a:rPr lang="en-IN" sz="1600">
                          <a:solidFill>
                            <a:schemeClr val="bg2">
                              <a:lumMod val="90000"/>
                            </a:schemeClr>
                          </a:solidFill>
                        </a:rPr>
                        <a:t>0.024</a:t>
                      </a:r>
                    </a:p>
                  </a:txBody>
                  <a:tcPr marL="34126" marR="34126" marT="17063" marB="17063" anchor="ctr"/>
                </a:tc>
                <a:extLst>
                  <a:ext uri="{0D108BD9-81ED-4DB2-BD59-A6C34878D82A}">
                    <a16:rowId xmlns:a16="http://schemas.microsoft.com/office/drawing/2014/main" val="40806061"/>
                  </a:ext>
                </a:extLst>
              </a:tr>
              <a:tr h="250179">
                <a:tc>
                  <a:txBody>
                    <a:bodyPr/>
                    <a:lstStyle/>
                    <a:p>
                      <a:pPr>
                        <a:buNone/>
                      </a:pPr>
                      <a:r>
                        <a:rPr lang="en-IN" sz="1400">
                          <a:solidFill>
                            <a:schemeClr val="bg2">
                              <a:lumMod val="90000"/>
                            </a:schemeClr>
                          </a:solidFill>
                        </a:rPr>
                        <a:t>sleep_hours</a:t>
                      </a:r>
                    </a:p>
                  </a:txBody>
                  <a:tcPr marL="34126" marR="34126" marT="17063" marB="17063" anchor="ctr"/>
                </a:tc>
                <a:tc>
                  <a:txBody>
                    <a:bodyPr/>
                    <a:lstStyle/>
                    <a:p>
                      <a:pPr algn="r">
                        <a:buNone/>
                      </a:pPr>
                      <a:r>
                        <a:rPr lang="en-IN" sz="1600">
                          <a:solidFill>
                            <a:schemeClr val="bg2">
                              <a:lumMod val="90000"/>
                            </a:schemeClr>
                          </a:solidFill>
                        </a:rPr>
                        <a:t>0.136</a:t>
                      </a:r>
                    </a:p>
                  </a:txBody>
                  <a:tcPr marL="34126" marR="34126" marT="17063" marB="17063" anchor="ctr"/>
                </a:tc>
                <a:tc>
                  <a:txBody>
                    <a:bodyPr/>
                    <a:lstStyle/>
                    <a:p>
                      <a:pPr algn="r">
                        <a:buNone/>
                      </a:pPr>
                      <a:r>
                        <a:rPr lang="en-IN" sz="1600">
                          <a:solidFill>
                            <a:schemeClr val="bg2">
                              <a:lumMod val="90000"/>
                            </a:schemeClr>
                          </a:solidFill>
                        </a:rPr>
                        <a:t>0.012</a:t>
                      </a:r>
                    </a:p>
                  </a:txBody>
                  <a:tcPr marL="34126" marR="34126" marT="17063" marB="17063" anchor="ctr"/>
                </a:tc>
                <a:tc>
                  <a:txBody>
                    <a:bodyPr/>
                    <a:lstStyle/>
                    <a:p>
                      <a:pPr algn="r">
                        <a:buNone/>
                      </a:pPr>
                      <a:r>
                        <a:rPr lang="en-IN" sz="1600" dirty="0">
                          <a:solidFill>
                            <a:schemeClr val="bg2">
                              <a:lumMod val="90000"/>
                            </a:schemeClr>
                          </a:solidFill>
                        </a:rPr>
                        <a:t>11.531</a:t>
                      </a:r>
                    </a:p>
                  </a:txBody>
                  <a:tcPr marL="34126" marR="34126" marT="17063" marB="17063" anchor="ctr"/>
                </a:tc>
                <a:tc>
                  <a:txBody>
                    <a:bodyPr/>
                    <a:lstStyle/>
                    <a:p>
                      <a:pPr algn="r">
                        <a:buNone/>
                      </a:pPr>
                      <a:r>
                        <a:rPr lang="en-IN" sz="1600">
                          <a:solidFill>
                            <a:schemeClr val="bg2">
                              <a:lumMod val="90000"/>
                            </a:schemeClr>
                          </a:solidFill>
                        </a:rPr>
                        <a:t>0.000</a:t>
                      </a:r>
                    </a:p>
                  </a:txBody>
                  <a:tcPr marL="34126" marR="34126" marT="17063" marB="17063" anchor="ctr"/>
                </a:tc>
                <a:tc>
                  <a:txBody>
                    <a:bodyPr/>
                    <a:lstStyle/>
                    <a:p>
                      <a:pPr algn="r">
                        <a:buNone/>
                      </a:pPr>
                      <a:r>
                        <a:rPr lang="en-IN" sz="1600">
                          <a:solidFill>
                            <a:schemeClr val="bg2">
                              <a:lumMod val="90000"/>
                            </a:schemeClr>
                          </a:solidFill>
                        </a:rPr>
                        <a:t>0.113</a:t>
                      </a:r>
                    </a:p>
                  </a:txBody>
                  <a:tcPr marL="34126" marR="34126" marT="17063" marB="17063" anchor="ctr"/>
                </a:tc>
                <a:tc>
                  <a:txBody>
                    <a:bodyPr/>
                    <a:lstStyle/>
                    <a:p>
                      <a:pPr algn="r">
                        <a:buNone/>
                      </a:pPr>
                      <a:r>
                        <a:rPr lang="en-IN" sz="1600">
                          <a:solidFill>
                            <a:schemeClr val="bg2">
                              <a:lumMod val="90000"/>
                            </a:schemeClr>
                          </a:solidFill>
                        </a:rPr>
                        <a:t>0.160</a:t>
                      </a:r>
                    </a:p>
                  </a:txBody>
                  <a:tcPr marL="34126" marR="34126" marT="17063" marB="17063" anchor="ctr"/>
                </a:tc>
                <a:extLst>
                  <a:ext uri="{0D108BD9-81ED-4DB2-BD59-A6C34878D82A}">
                    <a16:rowId xmlns:a16="http://schemas.microsoft.com/office/drawing/2014/main" val="3556086053"/>
                  </a:ext>
                </a:extLst>
              </a:tr>
              <a:tr h="296726">
                <a:tc>
                  <a:txBody>
                    <a:bodyPr/>
                    <a:lstStyle/>
                    <a:p>
                      <a:pPr>
                        <a:buNone/>
                      </a:pPr>
                      <a:r>
                        <a:rPr lang="en-IN" sz="1400">
                          <a:solidFill>
                            <a:schemeClr val="bg2">
                              <a:lumMod val="90000"/>
                            </a:schemeClr>
                          </a:solidFill>
                        </a:rPr>
                        <a:t>diet_quality</a:t>
                      </a:r>
                    </a:p>
                  </a:txBody>
                  <a:tcPr marL="34126" marR="34126" marT="17063" marB="17063" anchor="ctr"/>
                </a:tc>
                <a:tc>
                  <a:txBody>
                    <a:bodyPr/>
                    <a:lstStyle/>
                    <a:p>
                      <a:pPr algn="r">
                        <a:buNone/>
                      </a:pPr>
                      <a:r>
                        <a:rPr lang="en-IN" sz="1600">
                          <a:solidFill>
                            <a:schemeClr val="bg2">
                              <a:lumMod val="90000"/>
                            </a:schemeClr>
                          </a:solidFill>
                        </a:rPr>
                        <a:t>-0.004</a:t>
                      </a:r>
                    </a:p>
                  </a:txBody>
                  <a:tcPr marL="34126" marR="34126" marT="17063" marB="17063" anchor="ctr"/>
                </a:tc>
                <a:tc>
                  <a:txBody>
                    <a:bodyPr/>
                    <a:lstStyle/>
                    <a:p>
                      <a:pPr algn="r">
                        <a:buNone/>
                      </a:pPr>
                      <a:r>
                        <a:rPr lang="en-IN" sz="1600">
                          <a:solidFill>
                            <a:schemeClr val="bg2">
                              <a:lumMod val="90000"/>
                            </a:schemeClr>
                          </a:solidFill>
                        </a:rPr>
                        <a:t>0.014</a:t>
                      </a:r>
                    </a:p>
                  </a:txBody>
                  <a:tcPr marL="34126" marR="34126" marT="17063" marB="17063" anchor="ctr"/>
                </a:tc>
                <a:tc>
                  <a:txBody>
                    <a:bodyPr/>
                    <a:lstStyle/>
                    <a:p>
                      <a:pPr algn="r">
                        <a:buNone/>
                      </a:pPr>
                      <a:r>
                        <a:rPr lang="en-IN" sz="1600" dirty="0">
                          <a:solidFill>
                            <a:schemeClr val="bg2">
                              <a:lumMod val="90000"/>
                            </a:schemeClr>
                          </a:solidFill>
                        </a:rPr>
                        <a:t>-0.275</a:t>
                      </a:r>
                    </a:p>
                  </a:txBody>
                  <a:tcPr marL="34126" marR="34126" marT="17063" marB="17063" anchor="ctr"/>
                </a:tc>
                <a:tc>
                  <a:txBody>
                    <a:bodyPr/>
                    <a:lstStyle/>
                    <a:p>
                      <a:pPr algn="r">
                        <a:buNone/>
                      </a:pPr>
                      <a:r>
                        <a:rPr lang="en-IN" sz="1600">
                          <a:solidFill>
                            <a:schemeClr val="bg2">
                              <a:lumMod val="90000"/>
                            </a:schemeClr>
                          </a:solidFill>
                        </a:rPr>
                        <a:t>0.784</a:t>
                      </a:r>
                    </a:p>
                  </a:txBody>
                  <a:tcPr marL="34126" marR="34126" marT="17063" marB="17063" anchor="ctr"/>
                </a:tc>
                <a:tc>
                  <a:txBody>
                    <a:bodyPr/>
                    <a:lstStyle/>
                    <a:p>
                      <a:pPr algn="r">
                        <a:buNone/>
                      </a:pPr>
                      <a:r>
                        <a:rPr lang="en-IN" sz="1600">
                          <a:solidFill>
                            <a:schemeClr val="bg2">
                              <a:lumMod val="90000"/>
                            </a:schemeClr>
                          </a:solidFill>
                        </a:rPr>
                        <a:t>-0.031</a:t>
                      </a:r>
                    </a:p>
                  </a:txBody>
                  <a:tcPr marL="34126" marR="34126" marT="17063" marB="17063" anchor="ctr"/>
                </a:tc>
                <a:tc>
                  <a:txBody>
                    <a:bodyPr/>
                    <a:lstStyle/>
                    <a:p>
                      <a:pPr algn="r">
                        <a:buNone/>
                      </a:pPr>
                      <a:r>
                        <a:rPr lang="en-IN" sz="1600">
                          <a:solidFill>
                            <a:schemeClr val="bg2">
                              <a:lumMod val="90000"/>
                            </a:schemeClr>
                          </a:solidFill>
                        </a:rPr>
                        <a:t>0.023</a:t>
                      </a:r>
                    </a:p>
                  </a:txBody>
                  <a:tcPr marL="34126" marR="34126" marT="17063" marB="17063" anchor="ctr"/>
                </a:tc>
                <a:extLst>
                  <a:ext uri="{0D108BD9-81ED-4DB2-BD59-A6C34878D82A}">
                    <a16:rowId xmlns:a16="http://schemas.microsoft.com/office/drawing/2014/main" val="1952317884"/>
                  </a:ext>
                </a:extLst>
              </a:tr>
              <a:tr h="296726">
                <a:tc>
                  <a:txBody>
                    <a:bodyPr/>
                    <a:lstStyle/>
                    <a:p>
                      <a:pPr>
                        <a:buNone/>
                      </a:pPr>
                      <a:r>
                        <a:rPr lang="en-IN" sz="1400">
                          <a:solidFill>
                            <a:schemeClr val="bg2">
                              <a:lumMod val="90000"/>
                            </a:schemeClr>
                          </a:solidFill>
                        </a:rPr>
                        <a:t>exercise_frequency</a:t>
                      </a:r>
                    </a:p>
                  </a:txBody>
                  <a:tcPr marL="34126" marR="34126" marT="17063" marB="17063" anchor="ctr"/>
                </a:tc>
                <a:tc>
                  <a:txBody>
                    <a:bodyPr/>
                    <a:lstStyle/>
                    <a:p>
                      <a:pPr algn="r">
                        <a:buNone/>
                      </a:pPr>
                      <a:r>
                        <a:rPr lang="en-IN" sz="1600">
                          <a:solidFill>
                            <a:schemeClr val="bg2">
                              <a:lumMod val="90000"/>
                            </a:schemeClr>
                          </a:solidFill>
                        </a:rPr>
                        <a:t>-0.017</a:t>
                      </a:r>
                    </a:p>
                  </a:txBody>
                  <a:tcPr marL="34126" marR="34126" marT="17063" marB="17063" anchor="ctr"/>
                </a:tc>
                <a:tc>
                  <a:txBody>
                    <a:bodyPr/>
                    <a:lstStyle/>
                    <a:p>
                      <a:pPr algn="r">
                        <a:buNone/>
                      </a:pPr>
                      <a:r>
                        <a:rPr lang="en-IN" sz="1600">
                          <a:solidFill>
                            <a:schemeClr val="bg2">
                              <a:lumMod val="90000"/>
                            </a:schemeClr>
                          </a:solidFill>
                        </a:rPr>
                        <a:t>0.015</a:t>
                      </a:r>
                    </a:p>
                  </a:txBody>
                  <a:tcPr marL="34126" marR="34126" marT="17063" marB="17063" anchor="ctr"/>
                </a:tc>
                <a:tc>
                  <a:txBody>
                    <a:bodyPr/>
                    <a:lstStyle/>
                    <a:p>
                      <a:pPr algn="r">
                        <a:buNone/>
                      </a:pPr>
                      <a:r>
                        <a:rPr lang="en-IN" sz="1600" dirty="0">
                          <a:solidFill>
                            <a:schemeClr val="bg2">
                              <a:lumMod val="90000"/>
                            </a:schemeClr>
                          </a:solidFill>
                        </a:rPr>
                        <a:t>-1.089</a:t>
                      </a:r>
                    </a:p>
                  </a:txBody>
                  <a:tcPr marL="34126" marR="34126" marT="17063" marB="17063" anchor="ctr"/>
                </a:tc>
                <a:tc>
                  <a:txBody>
                    <a:bodyPr/>
                    <a:lstStyle/>
                    <a:p>
                      <a:pPr algn="r">
                        <a:buNone/>
                      </a:pPr>
                      <a:r>
                        <a:rPr lang="en-IN" sz="1600" dirty="0">
                          <a:solidFill>
                            <a:schemeClr val="bg2">
                              <a:lumMod val="90000"/>
                            </a:schemeClr>
                          </a:solidFill>
                        </a:rPr>
                        <a:t>0.276</a:t>
                      </a:r>
                    </a:p>
                  </a:txBody>
                  <a:tcPr marL="34126" marR="34126" marT="17063" marB="17063" anchor="ctr"/>
                </a:tc>
                <a:tc>
                  <a:txBody>
                    <a:bodyPr/>
                    <a:lstStyle/>
                    <a:p>
                      <a:pPr algn="r">
                        <a:buNone/>
                      </a:pPr>
                      <a:r>
                        <a:rPr lang="en-IN" sz="1600">
                          <a:solidFill>
                            <a:schemeClr val="bg2">
                              <a:lumMod val="90000"/>
                            </a:schemeClr>
                          </a:solidFill>
                        </a:rPr>
                        <a:t>-0.047</a:t>
                      </a:r>
                    </a:p>
                  </a:txBody>
                  <a:tcPr marL="34126" marR="34126" marT="17063" marB="17063" anchor="ctr"/>
                </a:tc>
                <a:tc>
                  <a:txBody>
                    <a:bodyPr/>
                    <a:lstStyle/>
                    <a:p>
                      <a:pPr algn="r">
                        <a:buNone/>
                      </a:pPr>
                      <a:r>
                        <a:rPr lang="en-IN" sz="1600">
                          <a:solidFill>
                            <a:schemeClr val="bg2">
                              <a:lumMod val="90000"/>
                            </a:schemeClr>
                          </a:solidFill>
                        </a:rPr>
                        <a:t>0.013</a:t>
                      </a:r>
                    </a:p>
                  </a:txBody>
                  <a:tcPr marL="34126" marR="34126" marT="17063" marB="17063" anchor="ctr"/>
                </a:tc>
                <a:extLst>
                  <a:ext uri="{0D108BD9-81ED-4DB2-BD59-A6C34878D82A}">
                    <a16:rowId xmlns:a16="http://schemas.microsoft.com/office/drawing/2014/main" val="2586545579"/>
                  </a:ext>
                </a:extLst>
              </a:tr>
              <a:tr h="296726">
                <a:tc>
                  <a:txBody>
                    <a:bodyPr/>
                    <a:lstStyle/>
                    <a:p>
                      <a:pPr>
                        <a:buNone/>
                      </a:pPr>
                      <a:r>
                        <a:rPr lang="en-IN" sz="1400">
                          <a:solidFill>
                            <a:schemeClr val="bg2">
                              <a:lumMod val="90000"/>
                            </a:schemeClr>
                          </a:solidFill>
                        </a:rPr>
                        <a:t>sleep_hours_cycle</a:t>
                      </a:r>
                    </a:p>
                  </a:txBody>
                  <a:tcPr marL="34126" marR="34126" marT="17063" marB="17063" anchor="ctr"/>
                </a:tc>
                <a:tc>
                  <a:txBody>
                    <a:bodyPr/>
                    <a:lstStyle/>
                    <a:p>
                      <a:pPr algn="r">
                        <a:buNone/>
                      </a:pPr>
                      <a:r>
                        <a:rPr lang="en-IN" sz="1600">
                          <a:solidFill>
                            <a:schemeClr val="bg2">
                              <a:lumMod val="90000"/>
                            </a:schemeClr>
                          </a:solidFill>
                        </a:rPr>
                        <a:t>0.202</a:t>
                      </a:r>
                    </a:p>
                  </a:txBody>
                  <a:tcPr marL="34126" marR="34126" marT="17063" marB="17063" anchor="ctr"/>
                </a:tc>
                <a:tc>
                  <a:txBody>
                    <a:bodyPr/>
                    <a:lstStyle/>
                    <a:p>
                      <a:pPr algn="r">
                        <a:buNone/>
                      </a:pPr>
                      <a:r>
                        <a:rPr lang="en-IN" sz="1600" dirty="0">
                          <a:solidFill>
                            <a:schemeClr val="bg2">
                              <a:lumMod val="90000"/>
                            </a:schemeClr>
                          </a:solidFill>
                        </a:rPr>
                        <a:t>0.008</a:t>
                      </a:r>
                    </a:p>
                  </a:txBody>
                  <a:tcPr marL="34126" marR="34126" marT="17063" marB="17063" anchor="ctr"/>
                </a:tc>
                <a:tc>
                  <a:txBody>
                    <a:bodyPr/>
                    <a:lstStyle/>
                    <a:p>
                      <a:pPr algn="r">
                        <a:buNone/>
                      </a:pPr>
                      <a:r>
                        <a:rPr lang="en-IN" sz="1600" dirty="0">
                          <a:solidFill>
                            <a:schemeClr val="bg2">
                              <a:lumMod val="90000"/>
                            </a:schemeClr>
                          </a:solidFill>
                        </a:rPr>
                        <a:t>24.438</a:t>
                      </a:r>
                    </a:p>
                  </a:txBody>
                  <a:tcPr marL="34126" marR="34126" marT="17063" marB="17063" anchor="ctr"/>
                </a:tc>
                <a:tc>
                  <a:txBody>
                    <a:bodyPr/>
                    <a:lstStyle/>
                    <a:p>
                      <a:pPr algn="r">
                        <a:buNone/>
                      </a:pPr>
                      <a:r>
                        <a:rPr lang="en-IN" sz="1600" dirty="0">
                          <a:solidFill>
                            <a:schemeClr val="bg2">
                              <a:lumMod val="90000"/>
                            </a:schemeClr>
                          </a:solidFill>
                        </a:rPr>
                        <a:t>0.000</a:t>
                      </a:r>
                    </a:p>
                  </a:txBody>
                  <a:tcPr marL="34126" marR="34126" marT="17063" marB="17063" anchor="ctr"/>
                </a:tc>
                <a:tc>
                  <a:txBody>
                    <a:bodyPr/>
                    <a:lstStyle/>
                    <a:p>
                      <a:pPr algn="r">
                        <a:buNone/>
                      </a:pPr>
                      <a:r>
                        <a:rPr lang="en-IN" sz="1600" dirty="0">
                          <a:solidFill>
                            <a:schemeClr val="bg2">
                              <a:lumMod val="90000"/>
                            </a:schemeClr>
                          </a:solidFill>
                        </a:rPr>
                        <a:t>0.186</a:t>
                      </a:r>
                    </a:p>
                  </a:txBody>
                  <a:tcPr marL="34126" marR="34126" marT="17063" marB="17063" anchor="ctr"/>
                </a:tc>
                <a:tc>
                  <a:txBody>
                    <a:bodyPr/>
                    <a:lstStyle/>
                    <a:p>
                      <a:pPr algn="r">
                        <a:buNone/>
                      </a:pPr>
                      <a:r>
                        <a:rPr lang="en-IN" sz="1600">
                          <a:solidFill>
                            <a:schemeClr val="bg2">
                              <a:lumMod val="90000"/>
                            </a:schemeClr>
                          </a:solidFill>
                        </a:rPr>
                        <a:t>0.218</a:t>
                      </a:r>
                    </a:p>
                  </a:txBody>
                  <a:tcPr marL="34126" marR="34126" marT="17063" marB="17063" anchor="ctr"/>
                </a:tc>
                <a:extLst>
                  <a:ext uri="{0D108BD9-81ED-4DB2-BD59-A6C34878D82A}">
                    <a16:rowId xmlns:a16="http://schemas.microsoft.com/office/drawing/2014/main" val="2156891754"/>
                  </a:ext>
                </a:extLst>
              </a:tr>
              <a:tr h="296726">
                <a:tc>
                  <a:txBody>
                    <a:bodyPr/>
                    <a:lstStyle/>
                    <a:p>
                      <a:pPr>
                        <a:buNone/>
                      </a:pPr>
                      <a:r>
                        <a:rPr lang="en-IN" sz="1400">
                          <a:solidFill>
                            <a:schemeClr val="bg2">
                              <a:lumMod val="90000"/>
                            </a:schemeClr>
                          </a:solidFill>
                        </a:rPr>
                        <a:t>caffeine_intake</a:t>
                      </a:r>
                    </a:p>
                  </a:txBody>
                  <a:tcPr marL="34126" marR="34126" marT="17063" marB="17063" anchor="ctr"/>
                </a:tc>
                <a:tc>
                  <a:txBody>
                    <a:bodyPr/>
                    <a:lstStyle/>
                    <a:p>
                      <a:pPr algn="r">
                        <a:buNone/>
                      </a:pPr>
                      <a:r>
                        <a:rPr lang="en-IN" sz="1600">
                          <a:solidFill>
                            <a:schemeClr val="bg2">
                              <a:lumMod val="90000"/>
                            </a:schemeClr>
                          </a:solidFill>
                        </a:rPr>
                        <a:t>0.005</a:t>
                      </a:r>
                    </a:p>
                  </a:txBody>
                  <a:tcPr marL="34126" marR="34126" marT="17063" marB="17063" anchor="ctr"/>
                </a:tc>
                <a:tc>
                  <a:txBody>
                    <a:bodyPr/>
                    <a:lstStyle/>
                    <a:p>
                      <a:pPr algn="r">
                        <a:buNone/>
                      </a:pPr>
                      <a:r>
                        <a:rPr lang="en-IN" sz="1600" dirty="0">
                          <a:solidFill>
                            <a:schemeClr val="bg2">
                              <a:lumMod val="90000"/>
                            </a:schemeClr>
                          </a:solidFill>
                        </a:rPr>
                        <a:t>0.010</a:t>
                      </a:r>
                    </a:p>
                  </a:txBody>
                  <a:tcPr marL="34126" marR="34126" marT="17063" marB="17063" anchor="ctr"/>
                </a:tc>
                <a:tc>
                  <a:txBody>
                    <a:bodyPr/>
                    <a:lstStyle/>
                    <a:p>
                      <a:pPr algn="r">
                        <a:buNone/>
                      </a:pPr>
                      <a:r>
                        <a:rPr lang="en-IN" sz="1600">
                          <a:solidFill>
                            <a:schemeClr val="bg2">
                              <a:lumMod val="90000"/>
                            </a:schemeClr>
                          </a:solidFill>
                        </a:rPr>
                        <a:t>0.451</a:t>
                      </a:r>
                    </a:p>
                  </a:txBody>
                  <a:tcPr marL="34126" marR="34126" marT="17063" marB="17063" anchor="ctr"/>
                </a:tc>
                <a:tc>
                  <a:txBody>
                    <a:bodyPr/>
                    <a:lstStyle/>
                    <a:p>
                      <a:pPr algn="r">
                        <a:buNone/>
                      </a:pPr>
                      <a:r>
                        <a:rPr lang="en-IN" sz="1600" dirty="0">
                          <a:solidFill>
                            <a:schemeClr val="bg2">
                              <a:lumMod val="90000"/>
                            </a:schemeClr>
                          </a:solidFill>
                        </a:rPr>
                        <a:t>0.652</a:t>
                      </a:r>
                    </a:p>
                  </a:txBody>
                  <a:tcPr marL="34126" marR="34126" marT="17063" marB="17063" anchor="ctr"/>
                </a:tc>
                <a:tc>
                  <a:txBody>
                    <a:bodyPr/>
                    <a:lstStyle/>
                    <a:p>
                      <a:pPr algn="r">
                        <a:buNone/>
                      </a:pPr>
                      <a:r>
                        <a:rPr lang="en-IN" sz="1600" dirty="0">
                          <a:solidFill>
                            <a:schemeClr val="bg2">
                              <a:lumMod val="90000"/>
                            </a:schemeClr>
                          </a:solidFill>
                        </a:rPr>
                        <a:t>-0.015</a:t>
                      </a:r>
                    </a:p>
                  </a:txBody>
                  <a:tcPr marL="34126" marR="34126" marT="17063" marB="17063" anchor="ctr"/>
                </a:tc>
                <a:tc>
                  <a:txBody>
                    <a:bodyPr/>
                    <a:lstStyle/>
                    <a:p>
                      <a:pPr algn="r">
                        <a:buNone/>
                      </a:pPr>
                      <a:r>
                        <a:rPr lang="en-IN" sz="1600">
                          <a:solidFill>
                            <a:schemeClr val="bg2">
                              <a:lumMod val="90000"/>
                            </a:schemeClr>
                          </a:solidFill>
                        </a:rPr>
                        <a:t>0.025</a:t>
                      </a:r>
                    </a:p>
                  </a:txBody>
                  <a:tcPr marL="34126" marR="34126" marT="17063" marB="17063" anchor="ctr"/>
                </a:tc>
                <a:extLst>
                  <a:ext uri="{0D108BD9-81ED-4DB2-BD59-A6C34878D82A}">
                    <a16:rowId xmlns:a16="http://schemas.microsoft.com/office/drawing/2014/main" val="2414368125"/>
                  </a:ext>
                </a:extLst>
              </a:tr>
              <a:tr h="296726">
                <a:tc>
                  <a:txBody>
                    <a:bodyPr/>
                    <a:lstStyle/>
                    <a:p>
                      <a:pPr>
                        <a:buNone/>
                      </a:pPr>
                      <a:r>
                        <a:rPr lang="en-IN" sz="1400">
                          <a:solidFill>
                            <a:schemeClr val="bg2">
                              <a:lumMod val="90000"/>
                            </a:schemeClr>
                          </a:solidFill>
                        </a:rPr>
                        <a:t>alcohol_consumption</a:t>
                      </a:r>
                    </a:p>
                  </a:txBody>
                  <a:tcPr marL="34126" marR="34126" marT="17063" marB="17063" anchor="ctr"/>
                </a:tc>
                <a:tc>
                  <a:txBody>
                    <a:bodyPr/>
                    <a:lstStyle/>
                    <a:p>
                      <a:pPr algn="r">
                        <a:buNone/>
                      </a:pPr>
                      <a:r>
                        <a:rPr lang="en-IN" sz="1600">
                          <a:solidFill>
                            <a:schemeClr val="bg2">
                              <a:lumMod val="90000"/>
                            </a:schemeClr>
                          </a:solidFill>
                        </a:rPr>
                        <a:t>-0.003</a:t>
                      </a:r>
                    </a:p>
                  </a:txBody>
                  <a:tcPr marL="34126" marR="34126" marT="17063" marB="17063" anchor="ctr"/>
                </a:tc>
                <a:tc>
                  <a:txBody>
                    <a:bodyPr/>
                    <a:lstStyle/>
                    <a:p>
                      <a:pPr algn="r">
                        <a:buNone/>
                      </a:pPr>
                      <a:r>
                        <a:rPr lang="en-IN" sz="1600">
                          <a:solidFill>
                            <a:schemeClr val="bg2">
                              <a:lumMod val="90000"/>
                            </a:schemeClr>
                          </a:solidFill>
                        </a:rPr>
                        <a:t>0.016</a:t>
                      </a:r>
                    </a:p>
                  </a:txBody>
                  <a:tcPr marL="34126" marR="34126" marT="17063" marB="17063" anchor="ctr"/>
                </a:tc>
                <a:tc>
                  <a:txBody>
                    <a:bodyPr/>
                    <a:lstStyle/>
                    <a:p>
                      <a:pPr algn="r">
                        <a:buNone/>
                      </a:pPr>
                      <a:r>
                        <a:rPr lang="en-IN" sz="1600" dirty="0">
                          <a:solidFill>
                            <a:schemeClr val="bg2">
                              <a:lumMod val="90000"/>
                            </a:schemeClr>
                          </a:solidFill>
                        </a:rPr>
                        <a:t>-0.173</a:t>
                      </a:r>
                    </a:p>
                  </a:txBody>
                  <a:tcPr marL="34126" marR="34126" marT="17063" marB="17063" anchor="ctr"/>
                </a:tc>
                <a:tc>
                  <a:txBody>
                    <a:bodyPr/>
                    <a:lstStyle/>
                    <a:p>
                      <a:pPr algn="r">
                        <a:buNone/>
                      </a:pPr>
                      <a:r>
                        <a:rPr lang="en-IN" sz="1600" dirty="0">
                          <a:solidFill>
                            <a:schemeClr val="bg2">
                              <a:lumMod val="90000"/>
                            </a:schemeClr>
                          </a:solidFill>
                        </a:rPr>
                        <a:t>0.862</a:t>
                      </a:r>
                    </a:p>
                  </a:txBody>
                  <a:tcPr marL="34126" marR="34126" marT="17063" marB="17063" anchor="ctr"/>
                </a:tc>
                <a:tc>
                  <a:txBody>
                    <a:bodyPr/>
                    <a:lstStyle/>
                    <a:p>
                      <a:pPr algn="r">
                        <a:buNone/>
                      </a:pPr>
                      <a:r>
                        <a:rPr lang="en-IN" sz="1600" dirty="0">
                          <a:solidFill>
                            <a:schemeClr val="bg2">
                              <a:lumMod val="90000"/>
                            </a:schemeClr>
                          </a:solidFill>
                        </a:rPr>
                        <a:t>-0.035</a:t>
                      </a:r>
                    </a:p>
                  </a:txBody>
                  <a:tcPr marL="34126" marR="34126" marT="17063" marB="17063" anchor="ctr"/>
                </a:tc>
                <a:tc>
                  <a:txBody>
                    <a:bodyPr/>
                    <a:lstStyle/>
                    <a:p>
                      <a:pPr algn="r">
                        <a:buNone/>
                      </a:pPr>
                      <a:r>
                        <a:rPr lang="en-IN" sz="1600" dirty="0">
                          <a:solidFill>
                            <a:schemeClr val="bg2">
                              <a:lumMod val="90000"/>
                            </a:schemeClr>
                          </a:solidFill>
                        </a:rPr>
                        <a:t>0.029</a:t>
                      </a:r>
                    </a:p>
                  </a:txBody>
                  <a:tcPr marL="34126" marR="34126" marT="17063" marB="17063" anchor="ctr"/>
                </a:tc>
                <a:extLst>
                  <a:ext uri="{0D108BD9-81ED-4DB2-BD59-A6C34878D82A}">
                    <a16:rowId xmlns:a16="http://schemas.microsoft.com/office/drawing/2014/main" val="775794007"/>
                  </a:ext>
                </a:extLst>
              </a:tr>
              <a:tr h="296726">
                <a:tc>
                  <a:txBody>
                    <a:bodyPr/>
                    <a:lstStyle/>
                    <a:p>
                      <a:pPr>
                        <a:buNone/>
                      </a:pPr>
                      <a:r>
                        <a:rPr lang="en-IN" sz="1400">
                          <a:solidFill>
                            <a:schemeClr val="bg2">
                              <a:lumMod val="90000"/>
                            </a:schemeClr>
                          </a:solidFill>
                        </a:rPr>
                        <a:t>smoking_status</a:t>
                      </a:r>
                    </a:p>
                  </a:txBody>
                  <a:tcPr marL="34126" marR="34126" marT="17063" marB="17063" anchor="ctr"/>
                </a:tc>
                <a:tc>
                  <a:txBody>
                    <a:bodyPr/>
                    <a:lstStyle/>
                    <a:p>
                      <a:pPr algn="r">
                        <a:buNone/>
                      </a:pPr>
                      <a:r>
                        <a:rPr lang="en-IN" sz="1600">
                          <a:solidFill>
                            <a:schemeClr val="bg2">
                              <a:lumMod val="90000"/>
                            </a:schemeClr>
                          </a:solidFill>
                        </a:rPr>
                        <a:t>-0.020</a:t>
                      </a:r>
                    </a:p>
                  </a:txBody>
                  <a:tcPr marL="34126" marR="34126" marT="17063" marB="17063" anchor="ctr"/>
                </a:tc>
                <a:tc>
                  <a:txBody>
                    <a:bodyPr/>
                    <a:lstStyle/>
                    <a:p>
                      <a:pPr algn="r">
                        <a:buNone/>
                      </a:pPr>
                      <a:r>
                        <a:rPr lang="en-IN" sz="1600">
                          <a:solidFill>
                            <a:schemeClr val="bg2">
                              <a:lumMod val="90000"/>
                            </a:schemeClr>
                          </a:solidFill>
                        </a:rPr>
                        <a:t>0.036</a:t>
                      </a:r>
                    </a:p>
                  </a:txBody>
                  <a:tcPr marL="34126" marR="34126" marT="17063" marB="17063" anchor="ctr"/>
                </a:tc>
                <a:tc>
                  <a:txBody>
                    <a:bodyPr/>
                    <a:lstStyle/>
                    <a:p>
                      <a:pPr algn="r">
                        <a:buNone/>
                      </a:pPr>
                      <a:r>
                        <a:rPr lang="en-IN" sz="1600">
                          <a:solidFill>
                            <a:schemeClr val="bg2">
                              <a:lumMod val="90000"/>
                            </a:schemeClr>
                          </a:solidFill>
                        </a:rPr>
                        <a:t>-0.558</a:t>
                      </a:r>
                    </a:p>
                  </a:txBody>
                  <a:tcPr marL="34126" marR="34126" marT="17063" marB="17063" anchor="ctr"/>
                </a:tc>
                <a:tc>
                  <a:txBody>
                    <a:bodyPr/>
                    <a:lstStyle/>
                    <a:p>
                      <a:pPr algn="r">
                        <a:buNone/>
                      </a:pPr>
                      <a:r>
                        <a:rPr lang="en-IN" sz="1600" dirty="0">
                          <a:solidFill>
                            <a:schemeClr val="bg2">
                              <a:lumMod val="90000"/>
                            </a:schemeClr>
                          </a:solidFill>
                        </a:rPr>
                        <a:t>0.577</a:t>
                      </a:r>
                    </a:p>
                  </a:txBody>
                  <a:tcPr marL="34126" marR="34126" marT="17063" marB="17063" anchor="ctr"/>
                </a:tc>
                <a:tc>
                  <a:txBody>
                    <a:bodyPr/>
                    <a:lstStyle/>
                    <a:p>
                      <a:pPr algn="r">
                        <a:buNone/>
                      </a:pPr>
                      <a:r>
                        <a:rPr lang="en-IN" sz="1600">
                          <a:solidFill>
                            <a:schemeClr val="bg2">
                              <a:lumMod val="90000"/>
                            </a:schemeClr>
                          </a:solidFill>
                        </a:rPr>
                        <a:t>-0.091</a:t>
                      </a:r>
                    </a:p>
                  </a:txBody>
                  <a:tcPr marL="34126" marR="34126" marT="17063" marB="17063" anchor="ctr"/>
                </a:tc>
                <a:tc>
                  <a:txBody>
                    <a:bodyPr/>
                    <a:lstStyle/>
                    <a:p>
                      <a:pPr algn="r">
                        <a:buNone/>
                      </a:pPr>
                      <a:r>
                        <a:rPr lang="en-IN" sz="1600" dirty="0">
                          <a:solidFill>
                            <a:schemeClr val="bg2">
                              <a:lumMod val="90000"/>
                            </a:schemeClr>
                          </a:solidFill>
                        </a:rPr>
                        <a:t>0.050</a:t>
                      </a:r>
                    </a:p>
                  </a:txBody>
                  <a:tcPr marL="34126" marR="34126" marT="17063" marB="17063" anchor="ctr"/>
                </a:tc>
                <a:extLst>
                  <a:ext uri="{0D108BD9-81ED-4DB2-BD59-A6C34878D82A}">
                    <a16:rowId xmlns:a16="http://schemas.microsoft.com/office/drawing/2014/main" val="2814683734"/>
                  </a:ext>
                </a:extLst>
              </a:tr>
              <a:tr h="296726">
                <a:tc>
                  <a:txBody>
                    <a:bodyPr/>
                    <a:lstStyle/>
                    <a:p>
                      <a:pPr>
                        <a:buNone/>
                      </a:pPr>
                      <a:r>
                        <a:rPr lang="en-IN" sz="1400">
                          <a:solidFill>
                            <a:schemeClr val="bg2">
                              <a:lumMod val="90000"/>
                            </a:schemeClr>
                          </a:solidFill>
                        </a:rPr>
                        <a:t>work_hours_lost</a:t>
                      </a:r>
                    </a:p>
                  </a:txBody>
                  <a:tcPr marL="34126" marR="34126" marT="17063" marB="17063" anchor="ctr"/>
                </a:tc>
                <a:tc>
                  <a:txBody>
                    <a:bodyPr/>
                    <a:lstStyle/>
                    <a:p>
                      <a:pPr algn="r">
                        <a:buNone/>
                      </a:pPr>
                      <a:r>
                        <a:rPr lang="en-IN" sz="1600">
                          <a:solidFill>
                            <a:schemeClr val="bg2">
                              <a:lumMod val="90000"/>
                            </a:schemeClr>
                          </a:solidFill>
                        </a:rPr>
                        <a:t>0.250</a:t>
                      </a:r>
                    </a:p>
                  </a:txBody>
                  <a:tcPr marL="34126" marR="34126" marT="17063" marB="17063" anchor="ctr"/>
                </a:tc>
                <a:tc>
                  <a:txBody>
                    <a:bodyPr/>
                    <a:lstStyle/>
                    <a:p>
                      <a:pPr algn="r">
                        <a:buNone/>
                      </a:pPr>
                      <a:r>
                        <a:rPr lang="en-IN" sz="1600">
                          <a:solidFill>
                            <a:schemeClr val="bg2">
                              <a:lumMod val="90000"/>
                            </a:schemeClr>
                          </a:solidFill>
                        </a:rPr>
                        <a:t>0.007</a:t>
                      </a:r>
                    </a:p>
                  </a:txBody>
                  <a:tcPr marL="34126" marR="34126" marT="17063" marB="17063" anchor="ctr"/>
                </a:tc>
                <a:tc>
                  <a:txBody>
                    <a:bodyPr/>
                    <a:lstStyle/>
                    <a:p>
                      <a:pPr algn="r">
                        <a:buNone/>
                      </a:pPr>
                      <a:r>
                        <a:rPr lang="en-IN" sz="1600">
                          <a:solidFill>
                            <a:schemeClr val="bg2">
                              <a:lumMod val="90000"/>
                            </a:schemeClr>
                          </a:solidFill>
                        </a:rPr>
                        <a:t>36.377</a:t>
                      </a:r>
                    </a:p>
                  </a:txBody>
                  <a:tcPr marL="34126" marR="34126" marT="17063" marB="17063" anchor="ctr"/>
                </a:tc>
                <a:tc>
                  <a:txBody>
                    <a:bodyPr/>
                    <a:lstStyle/>
                    <a:p>
                      <a:pPr algn="r">
                        <a:buNone/>
                      </a:pPr>
                      <a:r>
                        <a:rPr lang="en-IN" sz="1600" dirty="0">
                          <a:solidFill>
                            <a:schemeClr val="bg2">
                              <a:lumMod val="90000"/>
                            </a:schemeClr>
                          </a:solidFill>
                        </a:rPr>
                        <a:t>0.000</a:t>
                      </a:r>
                    </a:p>
                  </a:txBody>
                  <a:tcPr marL="34126" marR="34126" marT="17063" marB="17063" anchor="ctr"/>
                </a:tc>
                <a:tc>
                  <a:txBody>
                    <a:bodyPr/>
                    <a:lstStyle/>
                    <a:p>
                      <a:pPr algn="r">
                        <a:buNone/>
                      </a:pPr>
                      <a:r>
                        <a:rPr lang="en-IN" sz="1600" dirty="0">
                          <a:solidFill>
                            <a:schemeClr val="bg2">
                              <a:lumMod val="90000"/>
                            </a:schemeClr>
                          </a:solidFill>
                        </a:rPr>
                        <a:t>0.237</a:t>
                      </a:r>
                    </a:p>
                  </a:txBody>
                  <a:tcPr marL="34126" marR="34126" marT="17063" marB="17063" anchor="ctr"/>
                </a:tc>
                <a:tc>
                  <a:txBody>
                    <a:bodyPr/>
                    <a:lstStyle/>
                    <a:p>
                      <a:pPr algn="r">
                        <a:buNone/>
                      </a:pPr>
                      <a:r>
                        <a:rPr lang="en-IN" sz="1600" dirty="0">
                          <a:solidFill>
                            <a:schemeClr val="bg2">
                              <a:lumMod val="90000"/>
                            </a:schemeClr>
                          </a:solidFill>
                        </a:rPr>
                        <a:t>0.264</a:t>
                      </a:r>
                    </a:p>
                  </a:txBody>
                  <a:tcPr marL="34126" marR="34126" marT="17063" marB="17063" anchor="ctr"/>
                </a:tc>
                <a:extLst>
                  <a:ext uri="{0D108BD9-81ED-4DB2-BD59-A6C34878D82A}">
                    <a16:rowId xmlns:a16="http://schemas.microsoft.com/office/drawing/2014/main" val="2793679415"/>
                  </a:ext>
                </a:extLst>
              </a:tr>
              <a:tr h="296726">
                <a:tc>
                  <a:txBody>
                    <a:bodyPr/>
                    <a:lstStyle/>
                    <a:p>
                      <a:pPr>
                        <a:buNone/>
                      </a:pPr>
                      <a:r>
                        <a:rPr lang="en-IN" sz="1400">
                          <a:solidFill>
                            <a:schemeClr val="bg2">
                              <a:lumMod val="90000"/>
                            </a:schemeClr>
                          </a:solidFill>
                        </a:rPr>
                        <a:t>log_consistency_score</a:t>
                      </a:r>
                    </a:p>
                  </a:txBody>
                  <a:tcPr marL="34126" marR="34126" marT="17063" marB="17063" anchor="ctr"/>
                </a:tc>
                <a:tc>
                  <a:txBody>
                    <a:bodyPr/>
                    <a:lstStyle/>
                    <a:p>
                      <a:pPr algn="r">
                        <a:buNone/>
                      </a:pPr>
                      <a:r>
                        <a:rPr lang="en-IN" sz="1600">
                          <a:solidFill>
                            <a:schemeClr val="bg2">
                              <a:lumMod val="90000"/>
                            </a:schemeClr>
                          </a:solidFill>
                        </a:rPr>
                        <a:t>0.888</a:t>
                      </a:r>
                    </a:p>
                  </a:txBody>
                  <a:tcPr marL="34126" marR="34126" marT="17063" marB="17063" anchor="ctr"/>
                </a:tc>
                <a:tc>
                  <a:txBody>
                    <a:bodyPr/>
                    <a:lstStyle/>
                    <a:p>
                      <a:pPr algn="r">
                        <a:buNone/>
                      </a:pPr>
                      <a:r>
                        <a:rPr lang="en-IN" sz="1600">
                          <a:solidFill>
                            <a:schemeClr val="bg2">
                              <a:lumMod val="90000"/>
                            </a:schemeClr>
                          </a:solidFill>
                        </a:rPr>
                        <a:t>0.547</a:t>
                      </a:r>
                    </a:p>
                  </a:txBody>
                  <a:tcPr marL="34126" marR="34126" marT="17063" marB="17063" anchor="ctr"/>
                </a:tc>
                <a:tc>
                  <a:txBody>
                    <a:bodyPr/>
                    <a:lstStyle/>
                    <a:p>
                      <a:pPr algn="r">
                        <a:buNone/>
                      </a:pPr>
                      <a:r>
                        <a:rPr lang="en-IN" sz="1600">
                          <a:solidFill>
                            <a:schemeClr val="bg2">
                              <a:lumMod val="90000"/>
                            </a:schemeClr>
                          </a:solidFill>
                        </a:rPr>
                        <a:t>1.623</a:t>
                      </a:r>
                    </a:p>
                  </a:txBody>
                  <a:tcPr marL="34126" marR="34126" marT="17063" marB="17063" anchor="ctr"/>
                </a:tc>
                <a:tc>
                  <a:txBody>
                    <a:bodyPr/>
                    <a:lstStyle/>
                    <a:p>
                      <a:pPr algn="r">
                        <a:buNone/>
                      </a:pPr>
                      <a:r>
                        <a:rPr lang="en-IN" sz="1600">
                          <a:solidFill>
                            <a:schemeClr val="bg2">
                              <a:lumMod val="90000"/>
                            </a:schemeClr>
                          </a:solidFill>
                        </a:rPr>
                        <a:t>0.105</a:t>
                      </a:r>
                    </a:p>
                  </a:txBody>
                  <a:tcPr marL="34126" marR="34126" marT="17063" marB="17063" anchor="ctr"/>
                </a:tc>
                <a:tc>
                  <a:txBody>
                    <a:bodyPr/>
                    <a:lstStyle/>
                    <a:p>
                      <a:pPr algn="r">
                        <a:buNone/>
                      </a:pPr>
                      <a:r>
                        <a:rPr lang="en-IN" sz="1600" dirty="0">
                          <a:solidFill>
                            <a:schemeClr val="bg2">
                              <a:lumMod val="90000"/>
                            </a:schemeClr>
                          </a:solidFill>
                        </a:rPr>
                        <a:t>-0.184</a:t>
                      </a:r>
                    </a:p>
                  </a:txBody>
                  <a:tcPr marL="34126" marR="34126" marT="17063" marB="17063" anchor="ctr"/>
                </a:tc>
                <a:tc>
                  <a:txBody>
                    <a:bodyPr/>
                    <a:lstStyle/>
                    <a:p>
                      <a:pPr algn="r">
                        <a:buNone/>
                      </a:pPr>
                      <a:r>
                        <a:rPr lang="en-IN" sz="1600" dirty="0">
                          <a:solidFill>
                            <a:schemeClr val="bg2">
                              <a:lumMod val="90000"/>
                            </a:schemeClr>
                          </a:solidFill>
                        </a:rPr>
                        <a:t>1.960</a:t>
                      </a:r>
                    </a:p>
                  </a:txBody>
                  <a:tcPr marL="34126" marR="34126" marT="17063" marB="17063" anchor="ctr"/>
                </a:tc>
                <a:extLst>
                  <a:ext uri="{0D108BD9-81ED-4DB2-BD59-A6C34878D82A}">
                    <a16:rowId xmlns:a16="http://schemas.microsoft.com/office/drawing/2014/main" val="4028096580"/>
                  </a:ext>
                </a:extLst>
              </a:tr>
              <a:tr h="250179">
                <a:tc>
                  <a:txBody>
                    <a:bodyPr/>
                    <a:lstStyle/>
                    <a:p>
                      <a:pPr>
                        <a:buNone/>
                      </a:pPr>
                      <a:r>
                        <a:rPr lang="en-IN" sz="1400">
                          <a:solidFill>
                            <a:schemeClr val="bg2">
                              <a:lumMod val="90000"/>
                            </a:schemeClr>
                          </a:solidFill>
                        </a:rPr>
                        <a:t>Group Var</a:t>
                      </a:r>
                    </a:p>
                  </a:txBody>
                  <a:tcPr marL="34126" marR="34126" marT="17063" marB="17063" anchor="ctr"/>
                </a:tc>
                <a:tc>
                  <a:txBody>
                    <a:bodyPr/>
                    <a:lstStyle/>
                    <a:p>
                      <a:pPr algn="r">
                        <a:buNone/>
                      </a:pPr>
                      <a:r>
                        <a:rPr lang="en-IN" sz="1600">
                          <a:solidFill>
                            <a:schemeClr val="bg2">
                              <a:lumMod val="90000"/>
                            </a:schemeClr>
                          </a:solidFill>
                        </a:rPr>
                        <a:t>0.163</a:t>
                      </a:r>
                    </a:p>
                  </a:txBody>
                  <a:tcPr marL="34126" marR="34126" marT="17063" marB="17063" anchor="ctr"/>
                </a:tc>
                <a:tc>
                  <a:txBody>
                    <a:bodyPr/>
                    <a:lstStyle/>
                    <a:p>
                      <a:pPr algn="r">
                        <a:buNone/>
                      </a:pPr>
                      <a:r>
                        <a:rPr lang="en-IN" sz="1600">
                          <a:solidFill>
                            <a:schemeClr val="bg2">
                              <a:lumMod val="90000"/>
                            </a:schemeClr>
                          </a:solidFill>
                        </a:rPr>
                        <a:t>0.017</a:t>
                      </a:r>
                    </a:p>
                  </a:txBody>
                  <a:tcPr marL="34126" marR="34126" marT="17063" marB="17063" anchor="ctr"/>
                </a:tc>
                <a:tc>
                  <a:txBody>
                    <a:bodyPr/>
                    <a:lstStyle/>
                    <a:p>
                      <a:pPr algn="r">
                        <a:buNone/>
                      </a:pPr>
                      <a:r>
                        <a:rPr lang="en-IN" sz="1600">
                          <a:solidFill>
                            <a:schemeClr val="bg2">
                              <a:lumMod val="90000"/>
                            </a:schemeClr>
                          </a:solidFill>
                        </a:rPr>
                        <a:t>—</a:t>
                      </a:r>
                    </a:p>
                  </a:txBody>
                  <a:tcPr marL="34126" marR="34126" marT="17063" marB="17063" anchor="ctr"/>
                </a:tc>
                <a:tc>
                  <a:txBody>
                    <a:bodyPr/>
                    <a:lstStyle/>
                    <a:p>
                      <a:pPr algn="r">
                        <a:buNone/>
                      </a:pPr>
                      <a:r>
                        <a:rPr lang="en-IN" sz="1600">
                          <a:solidFill>
                            <a:schemeClr val="bg2">
                              <a:lumMod val="90000"/>
                            </a:schemeClr>
                          </a:solidFill>
                        </a:rPr>
                        <a:t>—</a:t>
                      </a:r>
                    </a:p>
                  </a:txBody>
                  <a:tcPr marL="34126" marR="34126" marT="17063" marB="17063" anchor="ctr"/>
                </a:tc>
                <a:tc>
                  <a:txBody>
                    <a:bodyPr/>
                    <a:lstStyle/>
                    <a:p>
                      <a:pPr algn="r">
                        <a:buNone/>
                      </a:pPr>
                      <a:r>
                        <a:rPr lang="en-IN" sz="1600" dirty="0">
                          <a:solidFill>
                            <a:schemeClr val="bg2">
                              <a:lumMod val="90000"/>
                            </a:schemeClr>
                          </a:solidFill>
                        </a:rPr>
                        <a:t>—</a:t>
                      </a:r>
                    </a:p>
                  </a:txBody>
                  <a:tcPr marL="34126" marR="34126" marT="17063" marB="17063" anchor="ctr"/>
                </a:tc>
                <a:tc>
                  <a:txBody>
                    <a:bodyPr/>
                    <a:lstStyle/>
                    <a:p>
                      <a:pPr algn="r">
                        <a:buNone/>
                      </a:pPr>
                      <a:r>
                        <a:rPr lang="en-IN" sz="1600" dirty="0">
                          <a:solidFill>
                            <a:schemeClr val="bg2">
                              <a:lumMod val="90000"/>
                            </a:schemeClr>
                          </a:solidFill>
                        </a:rPr>
                        <a:t>—</a:t>
                      </a:r>
                    </a:p>
                  </a:txBody>
                  <a:tcPr marL="34126" marR="34126" marT="17063" marB="17063" anchor="ctr"/>
                </a:tc>
                <a:extLst>
                  <a:ext uri="{0D108BD9-81ED-4DB2-BD59-A6C34878D82A}">
                    <a16:rowId xmlns:a16="http://schemas.microsoft.com/office/drawing/2014/main" val="2773254755"/>
                  </a:ext>
                </a:extLst>
              </a:tr>
            </a:tbl>
          </a:graphicData>
        </a:graphic>
      </p:graphicFrame>
    </p:spTree>
    <p:extLst>
      <p:ext uri="{BB962C8B-B14F-4D97-AF65-F5344CB8AC3E}">
        <p14:creationId xmlns:p14="http://schemas.microsoft.com/office/powerpoint/2010/main" val="3610179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4F7F0-4C96-5562-30C6-450DA04D7D9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B6D7189-A0C6-E805-7805-68D6B1A12F00}"/>
              </a:ext>
            </a:extLst>
          </p:cNvPr>
          <p:cNvSpPr/>
          <p:nvPr/>
        </p:nvSpPr>
        <p:spPr>
          <a:xfrm>
            <a:off x="3613530" y="107815"/>
            <a:ext cx="6404627" cy="708779"/>
          </a:xfrm>
          <a:prstGeom prst="rect">
            <a:avLst/>
          </a:prstGeom>
          <a:noFill/>
          <a:ln/>
        </p:spPr>
        <p:txBody>
          <a:bodyPr wrap="none" lIns="0" tIns="0" rIns="0" bIns="0" rtlCol="0" anchor="t"/>
          <a:lstStyle/>
          <a:p>
            <a:pPr>
              <a:lnSpc>
                <a:spcPts val="5550"/>
              </a:lnSpc>
            </a:pPr>
            <a:r>
              <a:rPr lang="en-US" sz="3600" b="1" u="sng" dirty="0">
                <a:solidFill>
                  <a:srgbClr val="FFF8F5"/>
                </a:solidFill>
                <a:latin typeface="Algerian" panose="04020705040A02060702" pitchFamily="82" charset="0"/>
                <a:ea typeface="Noto Serif HK Bold" pitchFamily="34" charset="-122"/>
                <a:cs typeface="Noto Serif HK Bold" pitchFamily="34" charset="-120"/>
              </a:rPr>
              <a:t>Model 4: ALL VARIABLEs</a:t>
            </a:r>
            <a:endParaRPr lang="en-US" sz="3600" b="1" u="sng" dirty="0">
              <a:latin typeface="Algerian" panose="04020705040A02060702" pitchFamily="82" charset="0"/>
            </a:endParaRPr>
          </a:p>
          <a:p>
            <a:pPr marL="0" indent="0" algn="l">
              <a:lnSpc>
                <a:spcPts val="5550"/>
              </a:lnSpc>
              <a:buNone/>
            </a:pPr>
            <a:endParaRPr lang="en-US" sz="3600" dirty="0">
              <a:latin typeface="Algerian" panose="04020705040A02060702" pitchFamily="82" charset="0"/>
            </a:endParaRPr>
          </a:p>
        </p:txBody>
      </p:sp>
      <p:sp>
        <p:nvSpPr>
          <p:cNvPr id="4" name="Text 2">
            <a:extLst>
              <a:ext uri="{FF2B5EF4-FFF2-40B4-BE49-F238E27FC236}">
                <a16:creationId xmlns:a16="http://schemas.microsoft.com/office/drawing/2014/main" id="{B46B8813-AF1B-8B73-C2A0-31C963A4A431}"/>
              </a:ext>
            </a:extLst>
          </p:cNvPr>
          <p:cNvSpPr/>
          <p:nvPr/>
        </p:nvSpPr>
        <p:spPr>
          <a:xfrm>
            <a:off x="1133951" y="1893570"/>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5" name="Text 3">
            <a:extLst>
              <a:ext uri="{FF2B5EF4-FFF2-40B4-BE49-F238E27FC236}">
                <a16:creationId xmlns:a16="http://schemas.microsoft.com/office/drawing/2014/main" id="{46EC418A-CC98-4544-8AC8-E422BAB55E7B}"/>
              </a:ext>
            </a:extLst>
          </p:cNvPr>
          <p:cNvSpPr/>
          <p:nvPr/>
        </p:nvSpPr>
        <p:spPr>
          <a:xfrm>
            <a:off x="458487" y="1206981"/>
            <a:ext cx="3818453" cy="371957"/>
          </a:xfrm>
          <a:prstGeom prst="rect">
            <a:avLst/>
          </a:prstGeom>
          <a:noFill/>
          <a:ln/>
        </p:spPr>
        <p:txBody>
          <a:bodyPr wrap="square" lIns="0" tIns="0" rIns="0" bIns="0" rtlCol="0" anchor="t"/>
          <a:lstStyle/>
          <a:p>
            <a:pPr>
              <a:lnSpc>
                <a:spcPts val="2150"/>
              </a:lnSpc>
            </a:pPr>
            <a:endParaRPr lang="en-US" sz="2400" dirty="0">
              <a:solidFill>
                <a:schemeClr val="bg2"/>
              </a:solidFill>
              <a:latin typeface="Times New Roman" panose="02020603050405020304" pitchFamily="18" charset="0"/>
              <a:cs typeface="Times New Roman" panose="02020603050405020304" pitchFamily="18" charset="0"/>
            </a:endParaRPr>
          </a:p>
        </p:txBody>
      </p:sp>
      <p:sp>
        <p:nvSpPr>
          <p:cNvPr id="7" name="Text 5">
            <a:extLst>
              <a:ext uri="{FF2B5EF4-FFF2-40B4-BE49-F238E27FC236}">
                <a16:creationId xmlns:a16="http://schemas.microsoft.com/office/drawing/2014/main" id="{572266AF-1A71-4174-9820-D13C3D5E2036}"/>
              </a:ext>
            </a:extLst>
          </p:cNvPr>
          <p:cNvSpPr/>
          <p:nvPr/>
        </p:nvSpPr>
        <p:spPr>
          <a:xfrm>
            <a:off x="5576054" y="1893570"/>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8" name="Text 6">
            <a:extLst>
              <a:ext uri="{FF2B5EF4-FFF2-40B4-BE49-F238E27FC236}">
                <a16:creationId xmlns:a16="http://schemas.microsoft.com/office/drawing/2014/main" id="{147FF133-512F-5986-A1DA-0A13DB38061E}"/>
              </a:ext>
            </a:extLst>
          </p:cNvPr>
          <p:cNvSpPr/>
          <p:nvPr/>
        </p:nvSpPr>
        <p:spPr>
          <a:xfrm>
            <a:off x="5576055" y="2383988"/>
            <a:ext cx="2965374" cy="2990742"/>
          </a:xfrm>
          <a:prstGeom prst="rect">
            <a:avLst/>
          </a:prstGeom>
          <a:noFill/>
          <a:ln/>
        </p:spPr>
        <p:txBody>
          <a:bodyPr wrap="none" lIns="0" tIns="0" rIns="0" bIns="0" rtlCol="0" anchor="t"/>
          <a:lstStyle/>
          <a:p>
            <a:pPr>
              <a:lnSpc>
                <a:spcPts val="2850"/>
              </a:lnSpc>
            </a:pPr>
            <a:endParaRPr lang="en-US" sz="1750" dirty="0">
              <a:solidFill>
                <a:schemeClr val="bg2"/>
              </a:solidFill>
            </a:endParaRPr>
          </a:p>
        </p:txBody>
      </p:sp>
      <p:sp>
        <p:nvSpPr>
          <p:cNvPr id="10" name="Text 8">
            <a:extLst>
              <a:ext uri="{FF2B5EF4-FFF2-40B4-BE49-F238E27FC236}">
                <a16:creationId xmlns:a16="http://schemas.microsoft.com/office/drawing/2014/main" id="{3E8C157D-C5F0-89D7-1DE1-44028488FFE5}"/>
              </a:ext>
            </a:extLst>
          </p:cNvPr>
          <p:cNvSpPr/>
          <p:nvPr/>
        </p:nvSpPr>
        <p:spPr>
          <a:xfrm>
            <a:off x="10018157" y="1893570"/>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1" name="Text 9">
            <a:extLst>
              <a:ext uri="{FF2B5EF4-FFF2-40B4-BE49-F238E27FC236}">
                <a16:creationId xmlns:a16="http://schemas.microsoft.com/office/drawing/2014/main" id="{DC42E775-4CB5-25B5-F862-9BC6192B17CD}"/>
              </a:ext>
            </a:extLst>
          </p:cNvPr>
          <p:cNvSpPr/>
          <p:nvPr/>
        </p:nvSpPr>
        <p:spPr>
          <a:xfrm>
            <a:off x="9394507" y="3551347"/>
            <a:ext cx="3818453"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3" name="Text 11">
            <a:extLst>
              <a:ext uri="{FF2B5EF4-FFF2-40B4-BE49-F238E27FC236}">
                <a16:creationId xmlns:a16="http://schemas.microsoft.com/office/drawing/2014/main" id="{4884C4EC-1BD5-7153-4176-5FD2288460A1}"/>
              </a:ext>
            </a:extLst>
          </p:cNvPr>
          <p:cNvSpPr/>
          <p:nvPr/>
        </p:nvSpPr>
        <p:spPr>
          <a:xfrm>
            <a:off x="1133951" y="3563422"/>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4" name="Text 12">
            <a:extLst>
              <a:ext uri="{FF2B5EF4-FFF2-40B4-BE49-F238E27FC236}">
                <a16:creationId xmlns:a16="http://schemas.microsoft.com/office/drawing/2014/main" id="{1C356FC6-5950-983B-E00C-977E941312E0}"/>
              </a:ext>
            </a:extLst>
          </p:cNvPr>
          <p:cNvSpPr/>
          <p:nvPr/>
        </p:nvSpPr>
        <p:spPr>
          <a:xfrm>
            <a:off x="-4039298" y="4479576"/>
            <a:ext cx="12702659"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16" name="Text 14">
            <a:extLst>
              <a:ext uri="{FF2B5EF4-FFF2-40B4-BE49-F238E27FC236}">
                <a16:creationId xmlns:a16="http://schemas.microsoft.com/office/drawing/2014/main" id="{BD53AB45-3479-6972-7ABF-3D3B923C4FDC}"/>
              </a:ext>
            </a:extLst>
          </p:cNvPr>
          <p:cNvSpPr/>
          <p:nvPr/>
        </p:nvSpPr>
        <p:spPr>
          <a:xfrm>
            <a:off x="793790" y="5479852"/>
            <a:ext cx="6243280" cy="1247299"/>
          </a:xfrm>
          <a:prstGeom prst="rect">
            <a:avLst/>
          </a:prstGeom>
          <a:noFill/>
          <a:ln/>
        </p:spPr>
        <p:txBody>
          <a:bodyPr wrap="square" lIns="0" tIns="0" rIns="0" bIns="0" rtlCol="0" anchor="t"/>
          <a:lstStyle/>
          <a:p>
            <a:pPr marL="342900" indent="-342900" algn="l">
              <a:lnSpc>
                <a:spcPts val="2850"/>
              </a:lnSpc>
              <a:buSzPct val="100000"/>
              <a:buChar char="•"/>
            </a:pPr>
            <a:endParaRPr lang="en-US" sz="1750" dirty="0"/>
          </a:p>
        </p:txBody>
      </p:sp>
      <p:sp>
        <p:nvSpPr>
          <p:cNvPr id="17" name="Text 15">
            <a:extLst>
              <a:ext uri="{FF2B5EF4-FFF2-40B4-BE49-F238E27FC236}">
                <a16:creationId xmlns:a16="http://schemas.microsoft.com/office/drawing/2014/main" id="{9D4F6AF6-09AE-20AD-480E-CC8B01826646}"/>
              </a:ext>
            </a:extLst>
          </p:cNvPr>
          <p:cNvSpPr/>
          <p:nvPr/>
        </p:nvSpPr>
        <p:spPr>
          <a:xfrm>
            <a:off x="7598092" y="4898708"/>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8" name="Text 16">
            <a:extLst>
              <a:ext uri="{FF2B5EF4-FFF2-40B4-BE49-F238E27FC236}">
                <a16:creationId xmlns:a16="http://schemas.microsoft.com/office/drawing/2014/main" id="{E17920FA-C329-865E-946F-BC5DD2560A7F}"/>
              </a:ext>
            </a:extLst>
          </p:cNvPr>
          <p:cNvSpPr/>
          <p:nvPr/>
        </p:nvSpPr>
        <p:spPr>
          <a:xfrm>
            <a:off x="7598092" y="5479852"/>
            <a:ext cx="6246019" cy="1814513"/>
          </a:xfrm>
          <a:prstGeom prst="rect">
            <a:avLst/>
          </a:prstGeom>
          <a:noFill/>
          <a:ln/>
        </p:spPr>
        <p:txBody>
          <a:bodyPr wrap="square" lIns="0" tIns="0" rIns="0" bIns="0" rtlCol="0" anchor="t"/>
          <a:lstStyle/>
          <a:p>
            <a:pPr marL="0" indent="0" algn="l">
              <a:lnSpc>
                <a:spcPts val="2850"/>
              </a:lnSpc>
              <a:buNone/>
            </a:pPr>
            <a:endParaRPr lang="en-US" sz="1750" dirty="0"/>
          </a:p>
        </p:txBody>
      </p:sp>
      <p:pic>
        <p:nvPicPr>
          <p:cNvPr id="26" name="Image 4" descr="preencoded.png">
            <a:extLst>
              <a:ext uri="{FF2B5EF4-FFF2-40B4-BE49-F238E27FC236}">
                <a16:creationId xmlns:a16="http://schemas.microsoft.com/office/drawing/2014/main" id="{8D8CCE2B-1F1C-4CD2-005E-A42F19906E93}"/>
              </a:ext>
            </a:extLst>
          </p:cNvPr>
          <p:cNvPicPr>
            <a:picLocks noChangeAspect="1"/>
          </p:cNvPicPr>
          <p:nvPr/>
        </p:nvPicPr>
        <p:blipFill>
          <a:blip r:embed="rId3"/>
          <a:stretch>
            <a:fillRect/>
          </a:stretch>
        </p:blipFill>
        <p:spPr>
          <a:xfrm rot="20336408">
            <a:off x="533526" y="1185695"/>
            <a:ext cx="1695359" cy="1691418"/>
          </a:xfrm>
          <a:prstGeom prst="rect">
            <a:avLst/>
          </a:prstGeom>
        </p:spPr>
      </p:pic>
      <p:pic>
        <p:nvPicPr>
          <p:cNvPr id="33" name="Image 4" descr="preencoded.png">
            <a:extLst>
              <a:ext uri="{FF2B5EF4-FFF2-40B4-BE49-F238E27FC236}">
                <a16:creationId xmlns:a16="http://schemas.microsoft.com/office/drawing/2014/main" id="{BFFF88DD-FC7F-A473-E40B-552E5F2A4973}"/>
              </a:ext>
            </a:extLst>
          </p:cNvPr>
          <p:cNvPicPr>
            <a:picLocks noChangeAspect="1"/>
          </p:cNvPicPr>
          <p:nvPr/>
        </p:nvPicPr>
        <p:blipFill>
          <a:blip r:embed="rId3"/>
          <a:stretch>
            <a:fillRect/>
          </a:stretch>
        </p:blipFill>
        <p:spPr>
          <a:xfrm rot="20336408">
            <a:off x="3696781" y="980855"/>
            <a:ext cx="1791593" cy="1813230"/>
          </a:xfrm>
          <a:prstGeom prst="rect">
            <a:avLst/>
          </a:prstGeom>
        </p:spPr>
      </p:pic>
      <p:sp>
        <p:nvSpPr>
          <p:cNvPr id="37" name="TextBox 36">
            <a:extLst>
              <a:ext uri="{FF2B5EF4-FFF2-40B4-BE49-F238E27FC236}">
                <a16:creationId xmlns:a16="http://schemas.microsoft.com/office/drawing/2014/main" id="{6A51983D-0881-0980-7676-CDF25E0D8471}"/>
              </a:ext>
            </a:extLst>
          </p:cNvPr>
          <p:cNvSpPr txBox="1"/>
          <p:nvPr/>
        </p:nvSpPr>
        <p:spPr>
          <a:xfrm>
            <a:off x="11881414" y="6391168"/>
            <a:ext cx="2556125" cy="369332"/>
          </a:xfrm>
          <a:prstGeom prst="rect">
            <a:avLst/>
          </a:prstGeom>
          <a:noFill/>
        </p:spPr>
        <p:txBody>
          <a:bodyPr wrap="square">
            <a:spAutoFit/>
          </a:bodyPr>
          <a:lstStyle/>
          <a:p>
            <a:r>
              <a:rPr lang="en-IN" sz="1800" b="1" i="0" dirty="0">
                <a:solidFill>
                  <a:schemeClr val="bg2"/>
                </a:solidFill>
                <a:effectLst/>
                <a:latin typeface="Times New Roman" panose="02020603050405020304" pitchFamily="18" charset="0"/>
                <a:cs typeface="Times New Roman" panose="02020603050405020304" pitchFamily="18" charset="0"/>
              </a:rPr>
              <a:t> </a:t>
            </a:r>
            <a:endParaRPr lang="en-IN" sz="1800" b="1" dirty="0">
              <a:solidFill>
                <a:schemeClr val="bg2"/>
              </a:solidFill>
              <a:latin typeface="Times New Roman" panose="02020603050405020304" pitchFamily="18" charset="0"/>
              <a:cs typeface="Times New Roman" panose="02020603050405020304" pitchFamily="18" charset="0"/>
            </a:endParaRPr>
          </a:p>
        </p:txBody>
      </p:sp>
      <p:sp>
        <p:nvSpPr>
          <p:cNvPr id="3" name="Shape 1">
            <a:extLst>
              <a:ext uri="{FF2B5EF4-FFF2-40B4-BE49-F238E27FC236}">
                <a16:creationId xmlns:a16="http://schemas.microsoft.com/office/drawing/2014/main" id="{935AFB15-9085-1903-20F3-BF9BB15DF81E}"/>
              </a:ext>
            </a:extLst>
          </p:cNvPr>
          <p:cNvSpPr/>
          <p:nvPr/>
        </p:nvSpPr>
        <p:spPr>
          <a:xfrm>
            <a:off x="272286" y="6361967"/>
            <a:ext cx="6980181" cy="1588233"/>
          </a:xfrm>
          <a:prstGeom prst="roundRect">
            <a:avLst>
              <a:gd name="adj" fmla="val 2117"/>
            </a:avLst>
          </a:prstGeom>
          <a:solidFill>
            <a:srgbClr val="5F5153"/>
          </a:solidFill>
          <a:ln/>
        </p:spPr>
        <p:txBody>
          <a:bodyPr/>
          <a:lstStyle/>
          <a:p>
            <a:pPr eaLnBrk="0" fontAlgn="base" hangingPunct="0">
              <a:spcBef>
                <a:spcPct val="0"/>
              </a:spcBef>
              <a:spcAft>
                <a:spcPct val="0"/>
              </a:spcAft>
            </a:pPr>
            <a:r>
              <a:rPr lang="en-US" sz="2000" b="1" dirty="0">
                <a:solidFill>
                  <a:schemeClr val="bg1"/>
                </a:solidFill>
                <a:latin typeface="Times New Roman" panose="02020603050405020304" pitchFamily="18" charset="0"/>
                <a:cs typeface="Times New Roman" panose="02020603050405020304" pitchFamily="18" charset="0"/>
              </a:rPr>
              <a:t>Marginal R² (~0.925) and Adjusted Marginal R² (~0.925)</a:t>
            </a:r>
            <a:r>
              <a:rPr lang="en-US" sz="2000" dirty="0">
                <a:solidFill>
                  <a:schemeClr val="bg1"/>
                </a:solidFill>
                <a:latin typeface="Times New Roman" panose="02020603050405020304" pitchFamily="18" charset="0"/>
                <a:cs typeface="Times New Roman" panose="02020603050405020304" pitchFamily="18" charset="0"/>
              </a:rPr>
              <a:t> show that about </a:t>
            </a:r>
            <a:r>
              <a:rPr lang="en-US" sz="2000" b="1" dirty="0">
                <a:solidFill>
                  <a:schemeClr val="bg1"/>
                </a:solidFill>
                <a:latin typeface="Times New Roman" panose="02020603050405020304" pitchFamily="18" charset="0"/>
                <a:cs typeface="Times New Roman" panose="02020603050405020304" pitchFamily="18" charset="0"/>
              </a:rPr>
              <a:t>92.5% of the variation in </a:t>
            </a:r>
            <a:r>
              <a:rPr lang="en-US" sz="2000" b="1" dirty="0" err="1">
                <a:solidFill>
                  <a:schemeClr val="bg1"/>
                </a:solidFill>
                <a:latin typeface="Times New Roman" panose="02020603050405020304" pitchFamily="18" charset="0"/>
                <a:cs typeface="Times New Roman" panose="02020603050405020304" pitchFamily="18" charset="0"/>
              </a:rPr>
              <a:t>pain_level</a:t>
            </a:r>
            <a:r>
              <a:rPr lang="en-US" sz="2000" b="1" dirty="0">
                <a:solidFill>
                  <a:schemeClr val="bg1"/>
                </a:solidFill>
                <a:latin typeface="Times New Roman" panose="02020603050405020304" pitchFamily="18" charset="0"/>
                <a:cs typeface="Times New Roman" panose="02020603050405020304" pitchFamily="18" charset="0"/>
              </a:rPr>
              <a:t> is explained by the predictors. Conditional R² (~0.955)</a:t>
            </a:r>
            <a:r>
              <a:rPr lang="en-US" sz="2000" dirty="0">
                <a:solidFill>
                  <a:schemeClr val="bg1"/>
                </a:solidFill>
                <a:latin typeface="Times New Roman" panose="02020603050405020304" pitchFamily="18" charset="0"/>
                <a:cs typeface="Times New Roman" panose="02020603050405020304" pitchFamily="18" charset="0"/>
              </a:rPr>
              <a:t> indicates that including </a:t>
            </a:r>
            <a:r>
              <a:rPr lang="en-US" sz="2000" b="1" dirty="0">
                <a:solidFill>
                  <a:schemeClr val="bg1"/>
                </a:solidFill>
                <a:latin typeface="Times New Roman" panose="02020603050405020304" pitchFamily="18" charset="0"/>
                <a:cs typeface="Times New Roman" panose="02020603050405020304" pitchFamily="18" charset="0"/>
              </a:rPr>
              <a:t>group-level (random) effects increases explained variance to 95.5%.</a:t>
            </a:r>
            <a:endParaRPr lang="en-IN" sz="2000"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sz="2000" dirty="0">
              <a:solidFill>
                <a:schemeClr val="bg1"/>
              </a:solidFill>
            </a:endParaRPr>
          </a:p>
        </p:txBody>
      </p:sp>
      <p:sp>
        <p:nvSpPr>
          <p:cNvPr id="20" name="TextBox 19">
            <a:extLst>
              <a:ext uri="{FF2B5EF4-FFF2-40B4-BE49-F238E27FC236}">
                <a16:creationId xmlns:a16="http://schemas.microsoft.com/office/drawing/2014/main" id="{D9C3E7C7-8F3F-368D-5304-BCFF03628DE6}"/>
              </a:ext>
            </a:extLst>
          </p:cNvPr>
          <p:cNvSpPr txBox="1"/>
          <p:nvPr/>
        </p:nvSpPr>
        <p:spPr>
          <a:xfrm>
            <a:off x="1103892" y="1819768"/>
            <a:ext cx="749300" cy="338554"/>
          </a:xfrm>
          <a:prstGeom prst="rect">
            <a:avLst/>
          </a:prstGeom>
          <a:noFill/>
        </p:spPr>
        <p:txBody>
          <a:bodyPr wrap="square" rtlCol="0">
            <a:spAutoFit/>
          </a:bodyPr>
          <a:lstStyle/>
          <a:p>
            <a:r>
              <a:rPr lang="en-IN" sz="1600" dirty="0">
                <a:solidFill>
                  <a:schemeClr val="bg1"/>
                </a:solidFill>
              </a:rPr>
              <a:t>92.5%</a:t>
            </a:r>
          </a:p>
        </p:txBody>
      </p:sp>
      <p:sp>
        <p:nvSpPr>
          <p:cNvPr id="22" name="TextBox 21">
            <a:extLst>
              <a:ext uri="{FF2B5EF4-FFF2-40B4-BE49-F238E27FC236}">
                <a16:creationId xmlns:a16="http://schemas.microsoft.com/office/drawing/2014/main" id="{96129F86-CF42-5115-F4F2-EED89FC32ED9}"/>
              </a:ext>
            </a:extLst>
          </p:cNvPr>
          <p:cNvSpPr txBox="1"/>
          <p:nvPr/>
        </p:nvSpPr>
        <p:spPr>
          <a:xfrm>
            <a:off x="4199948" y="1743736"/>
            <a:ext cx="683158" cy="307777"/>
          </a:xfrm>
          <a:prstGeom prst="rect">
            <a:avLst/>
          </a:prstGeom>
          <a:noFill/>
        </p:spPr>
        <p:txBody>
          <a:bodyPr wrap="square" rtlCol="0">
            <a:spAutoFit/>
          </a:bodyPr>
          <a:lstStyle/>
          <a:p>
            <a:r>
              <a:rPr lang="en-IN" sz="1400" dirty="0">
                <a:solidFill>
                  <a:schemeClr val="bg1"/>
                </a:solidFill>
              </a:rPr>
              <a:t>95.5%</a:t>
            </a:r>
          </a:p>
        </p:txBody>
      </p:sp>
      <p:sp>
        <p:nvSpPr>
          <p:cNvPr id="24" name="TextBox 23">
            <a:extLst>
              <a:ext uri="{FF2B5EF4-FFF2-40B4-BE49-F238E27FC236}">
                <a16:creationId xmlns:a16="http://schemas.microsoft.com/office/drawing/2014/main" id="{4D55CE59-F4D6-787E-9CAA-4D8B6052EF18}"/>
              </a:ext>
            </a:extLst>
          </p:cNvPr>
          <p:cNvSpPr txBox="1"/>
          <p:nvPr/>
        </p:nvSpPr>
        <p:spPr>
          <a:xfrm>
            <a:off x="3001030" y="4440048"/>
            <a:ext cx="914400" cy="338554"/>
          </a:xfrm>
          <a:prstGeom prst="rect">
            <a:avLst/>
          </a:prstGeom>
          <a:noFill/>
        </p:spPr>
        <p:txBody>
          <a:bodyPr wrap="square" rtlCol="0">
            <a:spAutoFit/>
          </a:bodyPr>
          <a:lstStyle/>
          <a:p>
            <a:r>
              <a:rPr lang="en-IN" sz="1600" dirty="0">
                <a:solidFill>
                  <a:schemeClr val="bg1"/>
                </a:solidFill>
              </a:rPr>
              <a:t>92.5%</a:t>
            </a:r>
          </a:p>
        </p:txBody>
      </p:sp>
      <p:sp>
        <p:nvSpPr>
          <p:cNvPr id="27" name="Shape 1">
            <a:extLst>
              <a:ext uri="{FF2B5EF4-FFF2-40B4-BE49-F238E27FC236}">
                <a16:creationId xmlns:a16="http://schemas.microsoft.com/office/drawing/2014/main" id="{1371399D-F065-054E-677A-1020AFBBE6E3}"/>
              </a:ext>
            </a:extLst>
          </p:cNvPr>
          <p:cNvSpPr/>
          <p:nvPr/>
        </p:nvSpPr>
        <p:spPr>
          <a:xfrm>
            <a:off x="3552761" y="3017693"/>
            <a:ext cx="2548638" cy="445893"/>
          </a:xfrm>
          <a:prstGeom prst="roundRect">
            <a:avLst>
              <a:gd name="adj" fmla="val 2117"/>
            </a:avLst>
          </a:prstGeom>
          <a:solidFill>
            <a:srgbClr val="5F5153"/>
          </a:solidFill>
          <a:ln/>
        </p:spPr>
        <p:txBody>
          <a:bodyPr/>
          <a:lstStyle/>
          <a:p>
            <a:pPr lvl="0" algn="ctr" eaLnBrk="0" fontAlgn="base" hangingPunct="0">
              <a:spcBef>
                <a:spcPct val="0"/>
              </a:spcBef>
              <a:spcAft>
                <a:spcPct val="0"/>
              </a:spcAft>
            </a:pPr>
            <a:r>
              <a:rPr lang="en-US" sz="2000" dirty="0">
                <a:solidFill>
                  <a:schemeClr val="bg1"/>
                </a:solidFill>
                <a:latin typeface="Times New Roman" panose="02020603050405020304" pitchFamily="18" charset="0"/>
                <a:cs typeface="Times New Roman" panose="02020603050405020304" pitchFamily="18" charset="0"/>
              </a:rPr>
              <a:t>Conditional</a:t>
            </a:r>
            <a:r>
              <a:rPr lang="en-US" sz="2000" dirty="0">
                <a:solidFill>
                  <a:schemeClr val="bg1"/>
                </a:solidFill>
              </a:rPr>
              <a:t> </a:t>
            </a:r>
            <a:r>
              <a:rPr lang="en-IN" sz="2000" b="1" dirty="0">
                <a:solidFill>
                  <a:schemeClr val="bg2"/>
                </a:solidFill>
                <a:latin typeface="Times New Roman" panose="02020603050405020304" pitchFamily="18" charset="0"/>
                <a:cs typeface="Times New Roman" panose="02020603050405020304" pitchFamily="18" charset="0"/>
              </a:rPr>
              <a:t>R²</a:t>
            </a:r>
            <a:endParaRPr lang="en-US" sz="2000" dirty="0">
              <a:solidFill>
                <a:schemeClr val="bg1"/>
              </a:solidFill>
            </a:endParaRPr>
          </a:p>
        </p:txBody>
      </p:sp>
      <p:sp>
        <p:nvSpPr>
          <p:cNvPr id="28" name="Shape 1">
            <a:extLst>
              <a:ext uri="{FF2B5EF4-FFF2-40B4-BE49-F238E27FC236}">
                <a16:creationId xmlns:a16="http://schemas.microsoft.com/office/drawing/2014/main" id="{48AD567C-FCC5-3D5F-629B-350117F2D977}"/>
              </a:ext>
            </a:extLst>
          </p:cNvPr>
          <p:cNvSpPr/>
          <p:nvPr/>
        </p:nvSpPr>
        <p:spPr>
          <a:xfrm>
            <a:off x="326357" y="3001598"/>
            <a:ext cx="2548638" cy="445893"/>
          </a:xfrm>
          <a:prstGeom prst="roundRect">
            <a:avLst>
              <a:gd name="adj" fmla="val 2117"/>
            </a:avLst>
          </a:prstGeom>
          <a:solidFill>
            <a:srgbClr val="5F5153"/>
          </a:solidFill>
          <a:ln/>
        </p:spPr>
        <p:txBody>
          <a:bodyPr/>
          <a:lstStyle/>
          <a:p>
            <a:pPr lvl="0" algn="ctr" eaLnBrk="0" fontAlgn="base" hangingPunct="0">
              <a:spcBef>
                <a:spcPct val="0"/>
              </a:spcBef>
              <a:spcAft>
                <a:spcPct val="0"/>
              </a:spcAft>
            </a:pPr>
            <a:r>
              <a:rPr lang="en-US" sz="2000" dirty="0">
                <a:solidFill>
                  <a:schemeClr val="bg1"/>
                </a:solidFill>
                <a:latin typeface="Times New Roman" panose="02020603050405020304" pitchFamily="18" charset="0"/>
                <a:cs typeface="Times New Roman" panose="02020603050405020304" pitchFamily="18" charset="0"/>
              </a:rPr>
              <a:t>Marginal</a:t>
            </a:r>
            <a:r>
              <a:rPr lang="en-US" sz="2000" dirty="0">
                <a:solidFill>
                  <a:schemeClr val="bg1"/>
                </a:solidFill>
              </a:rPr>
              <a:t> </a:t>
            </a:r>
            <a:r>
              <a:rPr lang="en-IN" sz="2000" b="1" dirty="0">
                <a:solidFill>
                  <a:schemeClr val="bg2"/>
                </a:solidFill>
                <a:latin typeface="Times New Roman" panose="02020603050405020304" pitchFamily="18" charset="0"/>
                <a:cs typeface="Times New Roman" panose="02020603050405020304" pitchFamily="18" charset="0"/>
              </a:rPr>
              <a:t>R²</a:t>
            </a:r>
            <a:endParaRPr lang="en-US" sz="2000" dirty="0">
              <a:solidFill>
                <a:schemeClr val="bg1"/>
              </a:solidFill>
            </a:endParaRPr>
          </a:p>
        </p:txBody>
      </p:sp>
      <p:sp>
        <p:nvSpPr>
          <p:cNvPr id="29" name="Shape 1">
            <a:extLst>
              <a:ext uri="{FF2B5EF4-FFF2-40B4-BE49-F238E27FC236}">
                <a16:creationId xmlns:a16="http://schemas.microsoft.com/office/drawing/2014/main" id="{0713B8A4-B63D-5E7F-DED3-B660837DA5F4}"/>
              </a:ext>
            </a:extLst>
          </p:cNvPr>
          <p:cNvSpPr/>
          <p:nvPr/>
        </p:nvSpPr>
        <p:spPr>
          <a:xfrm>
            <a:off x="2039302" y="5573204"/>
            <a:ext cx="2548638" cy="445893"/>
          </a:xfrm>
          <a:prstGeom prst="roundRect">
            <a:avLst>
              <a:gd name="adj" fmla="val 2117"/>
            </a:avLst>
          </a:prstGeom>
          <a:solidFill>
            <a:srgbClr val="5F5153"/>
          </a:solidFill>
          <a:ln/>
        </p:spPr>
        <p:txBody>
          <a:bodyPr/>
          <a:lstStyle/>
          <a:p>
            <a:pPr lvl="0" algn="ctr" eaLnBrk="0" fontAlgn="base" hangingPunct="0">
              <a:spcBef>
                <a:spcPct val="0"/>
              </a:spcBef>
              <a:spcAft>
                <a:spcPct val="0"/>
              </a:spcAft>
            </a:pPr>
            <a:r>
              <a:rPr lang="en-US" sz="2000" dirty="0">
                <a:solidFill>
                  <a:schemeClr val="bg1"/>
                </a:solidFill>
                <a:latin typeface="Times New Roman" panose="02020603050405020304" pitchFamily="18" charset="0"/>
                <a:cs typeface="Times New Roman" panose="02020603050405020304" pitchFamily="18" charset="0"/>
              </a:rPr>
              <a:t>Adjusted</a:t>
            </a:r>
            <a:r>
              <a:rPr lang="en-US" sz="2000" dirty="0">
                <a:solidFill>
                  <a:schemeClr val="bg1"/>
                </a:solidFill>
              </a:rPr>
              <a:t> </a:t>
            </a:r>
            <a:r>
              <a:rPr lang="en-IN" sz="2000" b="1" dirty="0">
                <a:solidFill>
                  <a:schemeClr val="bg2"/>
                </a:solidFill>
                <a:latin typeface="Times New Roman" panose="02020603050405020304" pitchFamily="18" charset="0"/>
                <a:cs typeface="Times New Roman" panose="02020603050405020304" pitchFamily="18" charset="0"/>
              </a:rPr>
              <a:t>R²</a:t>
            </a:r>
            <a:endParaRPr lang="en-US" sz="2000" dirty="0">
              <a:solidFill>
                <a:schemeClr val="bg1"/>
              </a:solidFill>
            </a:endParaRPr>
          </a:p>
        </p:txBody>
      </p:sp>
      <p:sp>
        <p:nvSpPr>
          <p:cNvPr id="31" name="Shape 1">
            <a:extLst>
              <a:ext uri="{FF2B5EF4-FFF2-40B4-BE49-F238E27FC236}">
                <a16:creationId xmlns:a16="http://schemas.microsoft.com/office/drawing/2014/main" id="{24BC11D0-C7B7-9CB7-2717-22BA726BE674}"/>
              </a:ext>
            </a:extLst>
          </p:cNvPr>
          <p:cNvSpPr/>
          <p:nvPr/>
        </p:nvSpPr>
        <p:spPr>
          <a:xfrm>
            <a:off x="7830033" y="875885"/>
            <a:ext cx="6359703" cy="7074314"/>
          </a:xfrm>
          <a:prstGeom prst="roundRect">
            <a:avLst>
              <a:gd name="adj" fmla="val 2117"/>
            </a:avLst>
          </a:prstGeom>
          <a:solidFill>
            <a:srgbClr val="5F5153"/>
          </a:solidFill>
          <a:ln/>
        </p:spPr>
        <p:txBody>
          <a:bodyPr/>
          <a:lstStyle/>
          <a:p>
            <a:pPr eaLnBrk="0" fontAlgn="base" hangingPunct="0">
              <a:spcBef>
                <a:spcPct val="0"/>
              </a:spcBef>
              <a:spcAft>
                <a:spcPct val="0"/>
              </a:spcAft>
            </a:pPr>
            <a:r>
              <a:rPr lang="en-IN" sz="2000" dirty="0">
                <a:solidFill>
                  <a:schemeClr val="bg1"/>
                </a:solidFill>
                <a:latin typeface="Times New Roman" panose="02020603050405020304" pitchFamily="18" charset="0"/>
                <a:cs typeface="Times New Roman" panose="02020603050405020304" pitchFamily="18" charset="0"/>
              </a:rPr>
              <a:t>The model </a:t>
            </a:r>
            <a:r>
              <a:rPr lang="en-IN" sz="2000" b="1" dirty="0">
                <a:solidFill>
                  <a:schemeClr val="bg1"/>
                </a:solidFill>
                <a:latin typeface="Times New Roman" panose="02020603050405020304" pitchFamily="18" charset="0"/>
                <a:cs typeface="Times New Roman" panose="02020603050405020304" pitchFamily="18" charset="0"/>
              </a:rPr>
              <a:t>converged successfully</a:t>
            </a:r>
            <a:r>
              <a:rPr lang="en-IN" sz="2000" dirty="0">
                <a:solidFill>
                  <a:schemeClr val="bg1"/>
                </a:solidFill>
                <a:latin typeface="Times New Roman" panose="02020603050405020304" pitchFamily="18" charset="0"/>
                <a:cs typeface="Times New Roman" panose="02020603050405020304" pitchFamily="18" charset="0"/>
              </a:rPr>
              <a:t>, so estimates are reliable. </a:t>
            </a:r>
          </a:p>
          <a:p>
            <a:r>
              <a:rPr lang="en-IN" sz="2000" b="1" dirty="0">
                <a:solidFill>
                  <a:schemeClr val="bg1"/>
                </a:solidFill>
                <a:latin typeface="Times New Roman" panose="02020603050405020304" pitchFamily="18" charset="0"/>
                <a:cs typeface="Times New Roman" panose="02020603050405020304" pitchFamily="18" charset="0"/>
              </a:rPr>
              <a:t>Statistically Significant Variables (p &lt; 0.05)</a:t>
            </a:r>
          </a:p>
          <a:p>
            <a:endParaRPr lang="en-IN" sz="2000" dirty="0">
              <a:solidFill>
                <a:schemeClr val="bg1"/>
              </a:solidFill>
              <a:latin typeface="Times New Roman" panose="02020603050405020304" pitchFamily="18" charset="0"/>
              <a:cs typeface="Times New Roman" panose="02020603050405020304" pitchFamily="18" charset="0"/>
            </a:endParaRPr>
          </a:p>
          <a:p>
            <a:r>
              <a:rPr lang="en-IN" sz="2000" b="1" dirty="0">
                <a:solidFill>
                  <a:schemeClr val="bg1"/>
                </a:solidFill>
                <a:latin typeface="Times New Roman" panose="02020603050405020304" pitchFamily="18" charset="0"/>
                <a:cs typeface="Times New Roman" panose="02020603050405020304" pitchFamily="18" charset="0"/>
              </a:rPr>
              <a:t>Strong Positive Effects (increase pain level):</a:t>
            </a:r>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 flow level   sleep hours cycle   sleep hours</a:t>
            </a:r>
          </a:p>
          <a:p>
            <a:endParaRPr lang="en-IN" sz="2000" dirty="0">
              <a:solidFill>
                <a:schemeClr val="bg1"/>
              </a:solidFill>
              <a:latin typeface="Times New Roman" panose="02020603050405020304" pitchFamily="18" charset="0"/>
              <a:cs typeface="Times New Roman" panose="02020603050405020304" pitchFamily="18" charset="0"/>
            </a:endParaRPr>
          </a:p>
          <a:p>
            <a:r>
              <a:rPr lang="en-IN" sz="2000" b="1" dirty="0">
                <a:solidFill>
                  <a:schemeClr val="bg1"/>
                </a:solidFill>
                <a:latin typeface="Times New Roman" panose="02020603050405020304" pitchFamily="18" charset="0"/>
                <a:cs typeface="Times New Roman" panose="02020603050405020304" pitchFamily="18" charset="0"/>
              </a:rPr>
              <a:t>Strong Negative Effects (reduce pain level)</a:t>
            </a:r>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  mood score   stress score cycle  energy level  </a:t>
            </a:r>
          </a:p>
          <a:p>
            <a:r>
              <a:rPr lang="en-IN" sz="2000" dirty="0">
                <a:solidFill>
                  <a:schemeClr val="bg1"/>
                </a:solidFill>
                <a:latin typeface="Times New Roman" panose="02020603050405020304" pitchFamily="18" charset="0"/>
                <a:cs typeface="Times New Roman" panose="02020603050405020304" pitchFamily="18" charset="0"/>
              </a:rPr>
              <a:t>  concentration score  overall health score   </a:t>
            </a:r>
            <a:r>
              <a:rPr lang="en-IN" sz="2000" dirty="0" err="1">
                <a:solidFill>
                  <a:schemeClr val="bg1"/>
                </a:solidFill>
                <a:latin typeface="Times New Roman" panose="02020603050405020304" pitchFamily="18" charset="0"/>
                <a:cs typeface="Times New Roman" panose="02020603050405020304" pitchFamily="18" charset="0"/>
              </a:rPr>
              <a:t>bmi</a:t>
            </a:r>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   </a:t>
            </a:r>
            <a:r>
              <a:rPr lang="en-IN" sz="2000" dirty="0" err="1">
                <a:solidFill>
                  <a:schemeClr val="bg1"/>
                </a:solidFill>
                <a:latin typeface="Times New Roman" panose="02020603050405020304" pitchFamily="18" charset="0"/>
                <a:cs typeface="Times New Roman" panose="02020603050405020304" pitchFamily="18" charset="0"/>
              </a:rPr>
              <a:t>pcos</a:t>
            </a:r>
            <a:r>
              <a:rPr lang="en-IN" sz="2000" dirty="0">
                <a:solidFill>
                  <a:schemeClr val="bg1"/>
                </a:solidFill>
                <a:latin typeface="Times New Roman" panose="02020603050405020304" pitchFamily="18" charset="0"/>
                <a:cs typeface="Times New Roman" panose="02020603050405020304" pitchFamily="18" charset="0"/>
              </a:rPr>
              <a:t> diagnosed</a:t>
            </a:r>
          </a:p>
          <a:p>
            <a:endParaRPr lang="en-IN" sz="20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 </a:t>
            </a:r>
            <a:r>
              <a:rPr lang="en-IN" sz="2000" b="1" dirty="0">
                <a:solidFill>
                  <a:schemeClr val="bg1"/>
                </a:solidFill>
                <a:latin typeface="Times New Roman" panose="02020603050405020304" pitchFamily="18" charset="0"/>
                <a:cs typeface="Times New Roman" panose="02020603050405020304" pitchFamily="18" charset="0"/>
              </a:rPr>
              <a:t>Not Statistically Significant Variables (p &gt; 0.05):</a:t>
            </a:r>
            <a:endParaRPr lang="en-IN" sz="2000" dirty="0">
              <a:solidFill>
                <a:schemeClr val="bg1"/>
              </a:solidFill>
              <a:latin typeface="Times New Roman" panose="02020603050405020304" pitchFamily="18" charset="0"/>
              <a:cs typeface="Times New Roman" panose="02020603050405020304" pitchFamily="18" charset="0"/>
            </a:endParaRPr>
          </a:p>
          <a:p>
            <a:r>
              <a:rPr lang="en-IN" sz="2000" b="1" dirty="0">
                <a:solidFill>
                  <a:schemeClr val="bg1"/>
                </a:solidFill>
                <a:latin typeface="Times New Roman" panose="02020603050405020304" pitchFamily="18" charset="0"/>
                <a:cs typeface="Times New Roman" panose="02020603050405020304" pitchFamily="18" charset="0"/>
              </a:rPr>
              <a:t>These variables do not show strong evidence of impact on pain:</a:t>
            </a:r>
            <a:endParaRPr lang="en-IN" sz="2000" dirty="0">
              <a:solidFill>
                <a:schemeClr val="bg1"/>
              </a:solidFill>
              <a:latin typeface="Times New Roman" panose="02020603050405020304" pitchFamily="18" charset="0"/>
              <a:cs typeface="Times New Roman" panose="02020603050405020304" pitchFamily="18" charset="0"/>
            </a:endParaRPr>
          </a:p>
          <a:p>
            <a:pPr lvl="0"/>
            <a:r>
              <a:rPr lang="en-IN" sz="2000" dirty="0">
                <a:solidFill>
                  <a:schemeClr val="bg1"/>
                </a:solidFill>
                <a:latin typeface="Times New Roman" panose="02020603050405020304" pitchFamily="18" charset="0"/>
                <a:cs typeface="Times New Roman" panose="02020603050405020304" pitchFamily="18" charset="0"/>
              </a:rPr>
              <a:t> Cycle phase (Luteal, Menstrual)  PMS symptoms </a:t>
            </a:r>
          </a:p>
          <a:p>
            <a:pPr lvl="0"/>
            <a:r>
              <a:rPr lang="en-IN" sz="2000" dirty="0">
                <a:solidFill>
                  <a:schemeClr val="bg1"/>
                </a:solidFill>
                <a:latin typeface="Times New Roman" panose="02020603050405020304" pitchFamily="18" charset="0"/>
                <a:cs typeface="Times New Roman" panose="02020603050405020304" pitchFamily="18" charset="0"/>
              </a:rPr>
              <a:t> Ovulation result Hormones (</a:t>
            </a:r>
            <a:r>
              <a:rPr lang="en-IN" sz="2000" dirty="0" err="1">
                <a:solidFill>
                  <a:schemeClr val="bg1"/>
                </a:solidFill>
                <a:latin typeface="Times New Roman" panose="02020603050405020304" pitchFamily="18" charset="0"/>
                <a:cs typeface="Times New Roman" panose="02020603050405020304" pitchFamily="18" charset="0"/>
              </a:rPr>
              <a:t>estrogen</a:t>
            </a:r>
            <a:r>
              <a:rPr lang="en-IN" sz="2000" dirty="0">
                <a:solidFill>
                  <a:schemeClr val="bg1"/>
                </a:solidFill>
                <a:latin typeface="Times New Roman" panose="02020603050405020304" pitchFamily="18" charset="0"/>
                <a:cs typeface="Times New Roman" panose="02020603050405020304" pitchFamily="18" charset="0"/>
              </a:rPr>
              <a:t>, progesterone) </a:t>
            </a:r>
          </a:p>
          <a:p>
            <a:pPr lvl="0"/>
            <a:r>
              <a:rPr lang="en-IN" sz="2000" dirty="0">
                <a:solidFill>
                  <a:schemeClr val="bg1"/>
                </a:solidFill>
                <a:latin typeface="Times New Roman" panose="02020603050405020304" pitchFamily="18" charset="0"/>
                <a:cs typeface="Times New Roman" panose="02020603050405020304" pitchFamily="18" charset="0"/>
              </a:rPr>
              <a:t> Age Diet quality Exercise frequency Caffeine water intake Alcohol consumption Smoking status </a:t>
            </a:r>
          </a:p>
          <a:p>
            <a:pPr lvl="0"/>
            <a:r>
              <a:rPr lang="en-IN" sz="2000" dirty="0">
                <a:solidFill>
                  <a:schemeClr val="bg1"/>
                </a:solidFill>
                <a:latin typeface="Times New Roman" panose="02020603050405020304" pitchFamily="18" charset="0"/>
                <a:cs typeface="Times New Roman" panose="02020603050405020304" pitchFamily="18" charset="0"/>
              </a:rPr>
              <a:t> Birth control use Baseline stress Cycle number </a:t>
            </a:r>
          </a:p>
          <a:p>
            <a:pPr lvl="0"/>
            <a:r>
              <a:rPr lang="en-IN" sz="2000" dirty="0">
                <a:solidFill>
                  <a:schemeClr val="bg1"/>
                </a:solidFill>
                <a:latin typeface="Times New Roman" panose="02020603050405020304" pitchFamily="18" charset="0"/>
                <a:cs typeface="Times New Roman" panose="02020603050405020304" pitchFamily="18" charset="0"/>
              </a:rPr>
              <a:t> Log consistency</a:t>
            </a:r>
          </a:p>
          <a:p>
            <a:pPr eaLnBrk="0" fontAlgn="base" hangingPunct="0">
              <a:spcBef>
                <a:spcPct val="0"/>
              </a:spcBef>
              <a:spcAft>
                <a:spcPct val="0"/>
              </a:spcAft>
            </a:pPr>
            <a:endParaRPr lang="en-IN" dirty="0"/>
          </a:p>
          <a:p>
            <a:pPr lvl="0" eaLnBrk="0" fontAlgn="base" hangingPunct="0">
              <a:spcBef>
                <a:spcPct val="0"/>
              </a:spcBef>
              <a:spcAft>
                <a:spcPct val="0"/>
              </a:spcAft>
            </a:pPr>
            <a:endParaRPr lang="en-US" sz="2000" dirty="0">
              <a:solidFill>
                <a:schemeClr val="bg1"/>
              </a:solidFill>
            </a:endParaRPr>
          </a:p>
        </p:txBody>
      </p:sp>
      <p:pic>
        <p:nvPicPr>
          <p:cNvPr id="9" name="Image 4" descr="preencoded.png">
            <a:extLst>
              <a:ext uri="{FF2B5EF4-FFF2-40B4-BE49-F238E27FC236}">
                <a16:creationId xmlns:a16="http://schemas.microsoft.com/office/drawing/2014/main" id="{E9678F14-514B-3359-BB1B-B3145D3AFA59}"/>
              </a:ext>
            </a:extLst>
          </p:cNvPr>
          <p:cNvPicPr>
            <a:picLocks noChangeAspect="1"/>
          </p:cNvPicPr>
          <p:nvPr/>
        </p:nvPicPr>
        <p:blipFill>
          <a:blip r:embed="rId3"/>
          <a:stretch>
            <a:fillRect/>
          </a:stretch>
        </p:blipFill>
        <p:spPr>
          <a:xfrm rot="20336408">
            <a:off x="2453086" y="3729206"/>
            <a:ext cx="1695359" cy="1691418"/>
          </a:xfrm>
          <a:prstGeom prst="rect">
            <a:avLst/>
          </a:prstGeom>
        </p:spPr>
      </p:pic>
    </p:spTree>
    <p:extLst>
      <p:ext uri="{BB962C8B-B14F-4D97-AF65-F5344CB8AC3E}">
        <p14:creationId xmlns:p14="http://schemas.microsoft.com/office/powerpoint/2010/main" val="2847887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3493223"/>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graphicFrame>
        <p:nvGraphicFramePr>
          <p:cNvPr id="3" name="Table 2">
            <a:extLst>
              <a:ext uri="{FF2B5EF4-FFF2-40B4-BE49-F238E27FC236}">
                <a16:creationId xmlns:a16="http://schemas.microsoft.com/office/drawing/2014/main" id="{735C9462-E25B-1D8C-4B17-B40589CCAAC8}"/>
              </a:ext>
            </a:extLst>
          </p:cNvPr>
          <p:cNvGraphicFramePr>
            <a:graphicFrameLocks noGrp="1"/>
          </p:cNvGraphicFramePr>
          <p:nvPr>
            <p:extLst>
              <p:ext uri="{D42A27DB-BD31-4B8C-83A1-F6EECF244321}">
                <p14:modId xmlns:p14="http://schemas.microsoft.com/office/powerpoint/2010/main" val="4084253909"/>
              </p:ext>
            </p:extLst>
          </p:nvPr>
        </p:nvGraphicFramePr>
        <p:xfrm>
          <a:off x="529389" y="240632"/>
          <a:ext cx="12933949" cy="7668517"/>
        </p:xfrm>
        <a:graphic>
          <a:graphicData uri="http://schemas.openxmlformats.org/drawingml/2006/table">
            <a:tbl>
              <a:tblPr firstRow="1" bandRow="1">
                <a:tableStyleId>{616DA210-FB5B-4158-B5E0-FEB733F419BA}</a:tableStyleId>
              </a:tblPr>
              <a:tblGrid>
                <a:gridCol w="1847707">
                  <a:extLst>
                    <a:ext uri="{9D8B030D-6E8A-4147-A177-3AD203B41FA5}">
                      <a16:colId xmlns:a16="http://schemas.microsoft.com/office/drawing/2014/main" val="1322178563"/>
                    </a:ext>
                  </a:extLst>
                </a:gridCol>
                <a:gridCol w="1847707">
                  <a:extLst>
                    <a:ext uri="{9D8B030D-6E8A-4147-A177-3AD203B41FA5}">
                      <a16:colId xmlns:a16="http://schemas.microsoft.com/office/drawing/2014/main" val="1552341301"/>
                    </a:ext>
                  </a:extLst>
                </a:gridCol>
                <a:gridCol w="1847707">
                  <a:extLst>
                    <a:ext uri="{9D8B030D-6E8A-4147-A177-3AD203B41FA5}">
                      <a16:colId xmlns:a16="http://schemas.microsoft.com/office/drawing/2014/main" val="488436161"/>
                    </a:ext>
                  </a:extLst>
                </a:gridCol>
                <a:gridCol w="1847707">
                  <a:extLst>
                    <a:ext uri="{9D8B030D-6E8A-4147-A177-3AD203B41FA5}">
                      <a16:colId xmlns:a16="http://schemas.microsoft.com/office/drawing/2014/main" val="2212681164"/>
                    </a:ext>
                  </a:extLst>
                </a:gridCol>
                <a:gridCol w="1847707">
                  <a:extLst>
                    <a:ext uri="{9D8B030D-6E8A-4147-A177-3AD203B41FA5}">
                      <a16:colId xmlns:a16="http://schemas.microsoft.com/office/drawing/2014/main" val="1085641139"/>
                    </a:ext>
                  </a:extLst>
                </a:gridCol>
                <a:gridCol w="1847707">
                  <a:extLst>
                    <a:ext uri="{9D8B030D-6E8A-4147-A177-3AD203B41FA5}">
                      <a16:colId xmlns:a16="http://schemas.microsoft.com/office/drawing/2014/main" val="1912714300"/>
                    </a:ext>
                  </a:extLst>
                </a:gridCol>
                <a:gridCol w="1847707">
                  <a:extLst>
                    <a:ext uri="{9D8B030D-6E8A-4147-A177-3AD203B41FA5}">
                      <a16:colId xmlns:a16="http://schemas.microsoft.com/office/drawing/2014/main" val="1867706668"/>
                    </a:ext>
                  </a:extLst>
                </a:gridCol>
              </a:tblGrid>
              <a:tr h="260758">
                <a:tc>
                  <a:txBody>
                    <a:bodyPr/>
                    <a:lstStyle/>
                    <a:p>
                      <a:pPr>
                        <a:buNone/>
                      </a:pPr>
                      <a:r>
                        <a:rPr lang="en-IN" sz="1800" dirty="0">
                          <a:solidFill>
                            <a:schemeClr val="bg1"/>
                          </a:solidFill>
                          <a:latin typeface="+mn-lt"/>
                        </a:rPr>
                        <a:t>Variable</a:t>
                      </a:r>
                    </a:p>
                  </a:txBody>
                  <a:tcPr marL="38965" marR="38965" marT="19482" marB="19482" anchor="ctr"/>
                </a:tc>
                <a:tc>
                  <a:txBody>
                    <a:bodyPr/>
                    <a:lstStyle/>
                    <a:p>
                      <a:pPr>
                        <a:buNone/>
                      </a:pPr>
                      <a:r>
                        <a:rPr lang="en-IN" sz="1800" dirty="0">
                          <a:solidFill>
                            <a:schemeClr val="bg1"/>
                          </a:solidFill>
                          <a:latin typeface="+mn-lt"/>
                        </a:rPr>
                        <a:t>Coefficient</a:t>
                      </a:r>
                    </a:p>
                  </a:txBody>
                  <a:tcPr marL="38965" marR="38965" marT="19482" marB="19482" anchor="ctr"/>
                </a:tc>
                <a:tc>
                  <a:txBody>
                    <a:bodyPr/>
                    <a:lstStyle/>
                    <a:p>
                      <a:pPr>
                        <a:buNone/>
                      </a:pPr>
                      <a:r>
                        <a:rPr lang="en-IN" sz="1800" dirty="0">
                          <a:solidFill>
                            <a:schemeClr val="bg1"/>
                          </a:solidFill>
                          <a:latin typeface="+mn-lt"/>
                        </a:rPr>
                        <a:t>Std. Error</a:t>
                      </a:r>
                    </a:p>
                  </a:txBody>
                  <a:tcPr marL="38965" marR="38965" marT="19482" marB="19482" anchor="ctr"/>
                </a:tc>
                <a:tc>
                  <a:txBody>
                    <a:bodyPr/>
                    <a:lstStyle/>
                    <a:p>
                      <a:pPr>
                        <a:buNone/>
                      </a:pPr>
                      <a:r>
                        <a:rPr lang="en-IN" sz="1800" dirty="0">
                          <a:solidFill>
                            <a:schemeClr val="bg1"/>
                          </a:solidFill>
                          <a:latin typeface="+mn-lt"/>
                        </a:rPr>
                        <a:t>z-value</a:t>
                      </a:r>
                    </a:p>
                  </a:txBody>
                  <a:tcPr marL="38965" marR="38965" marT="19482" marB="19482" anchor="ctr"/>
                </a:tc>
                <a:tc>
                  <a:txBody>
                    <a:bodyPr/>
                    <a:lstStyle/>
                    <a:p>
                      <a:pPr>
                        <a:buNone/>
                      </a:pPr>
                      <a:r>
                        <a:rPr lang="en-IN" sz="1800" dirty="0">
                          <a:solidFill>
                            <a:schemeClr val="bg1"/>
                          </a:solidFill>
                          <a:latin typeface="+mn-lt"/>
                        </a:rPr>
                        <a:t>p-value</a:t>
                      </a:r>
                    </a:p>
                  </a:txBody>
                  <a:tcPr marL="38965" marR="38965" marT="19482" marB="19482" anchor="ctr"/>
                </a:tc>
                <a:tc>
                  <a:txBody>
                    <a:bodyPr/>
                    <a:lstStyle/>
                    <a:p>
                      <a:pPr>
                        <a:buNone/>
                      </a:pPr>
                      <a:r>
                        <a:rPr lang="en-IN" sz="1800" dirty="0">
                          <a:solidFill>
                            <a:schemeClr val="bg1"/>
                          </a:solidFill>
                          <a:latin typeface="+mn-lt"/>
                        </a:rPr>
                        <a:t>95% CI (Lower)</a:t>
                      </a:r>
                    </a:p>
                  </a:txBody>
                  <a:tcPr marL="38965" marR="38965" marT="19482" marB="19482" anchor="ctr"/>
                </a:tc>
                <a:tc>
                  <a:txBody>
                    <a:bodyPr/>
                    <a:lstStyle/>
                    <a:p>
                      <a:pPr>
                        <a:buNone/>
                      </a:pPr>
                      <a:r>
                        <a:rPr lang="en-IN" sz="1800" dirty="0">
                          <a:solidFill>
                            <a:schemeClr val="bg1"/>
                          </a:solidFill>
                          <a:latin typeface="+mn-lt"/>
                        </a:rPr>
                        <a:t>95% CI (Upper)</a:t>
                      </a:r>
                    </a:p>
                  </a:txBody>
                  <a:tcPr marL="38965" marR="38965" marT="19482" marB="19482" anchor="ctr"/>
                </a:tc>
                <a:extLst>
                  <a:ext uri="{0D108BD9-81ED-4DB2-BD59-A6C34878D82A}">
                    <a16:rowId xmlns:a16="http://schemas.microsoft.com/office/drawing/2014/main" val="798508511"/>
                  </a:ext>
                </a:extLst>
              </a:tr>
              <a:tr h="332946">
                <a:tc>
                  <a:txBody>
                    <a:bodyPr/>
                    <a:lstStyle/>
                    <a:p>
                      <a:pPr>
                        <a:buNone/>
                      </a:pPr>
                      <a:r>
                        <a:rPr lang="en-IN" sz="1200" dirty="0">
                          <a:solidFill>
                            <a:schemeClr val="bg1"/>
                          </a:solidFill>
                        </a:rPr>
                        <a:t>Intercept</a:t>
                      </a:r>
                    </a:p>
                  </a:txBody>
                  <a:tcPr marL="38965" marR="38965" marT="19482" marB="19482" anchor="ctr"/>
                </a:tc>
                <a:tc>
                  <a:txBody>
                    <a:bodyPr/>
                    <a:lstStyle/>
                    <a:p>
                      <a:pPr>
                        <a:buNone/>
                      </a:pPr>
                      <a:r>
                        <a:rPr lang="en-IN" sz="1600" dirty="0">
                          <a:solidFill>
                            <a:schemeClr val="bg1"/>
                          </a:solidFill>
                        </a:rPr>
                        <a:t>20.742</a:t>
                      </a:r>
                    </a:p>
                  </a:txBody>
                  <a:tcPr marL="38965" marR="38965" marT="19482" marB="19482" anchor="ctr"/>
                </a:tc>
                <a:tc>
                  <a:txBody>
                    <a:bodyPr/>
                    <a:lstStyle/>
                    <a:p>
                      <a:pPr>
                        <a:buNone/>
                      </a:pPr>
                      <a:r>
                        <a:rPr lang="en-IN" sz="1600">
                          <a:solidFill>
                            <a:schemeClr val="bg1"/>
                          </a:solidFill>
                        </a:rPr>
                        <a:t>0.543</a:t>
                      </a:r>
                    </a:p>
                  </a:txBody>
                  <a:tcPr marL="38965" marR="38965" marT="19482" marB="19482" anchor="ctr"/>
                </a:tc>
                <a:tc>
                  <a:txBody>
                    <a:bodyPr/>
                    <a:lstStyle/>
                    <a:p>
                      <a:pPr>
                        <a:buNone/>
                      </a:pPr>
                      <a:r>
                        <a:rPr lang="en-IN" sz="1600">
                          <a:solidFill>
                            <a:schemeClr val="bg1"/>
                          </a:solidFill>
                        </a:rPr>
                        <a:t>38.233</a:t>
                      </a:r>
                    </a:p>
                  </a:txBody>
                  <a:tcPr marL="38965" marR="38965" marT="19482" marB="19482" anchor="ctr"/>
                </a:tc>
                <a:tc>
                  <a:txBody>
                    <a:bodyPr/>
                    <a:lstStyle/>
                    <a:p>
                      <a:pPr>
                        <a:buNone/>
                      </a:pPr>
                      <a:r>
                        <a:rPr lang="en-IN" sz="1600" dirty="0">
                          <a:solidFill>
                            <a:schemeClr val="bg1"/>
                          </a:solidFill>
                        </a:rPr>
                        <a:t>0.000</a:t>
                      </a:r>
                    </a:p>
                  </a:txBody>
                  <a:tcPr marL="38965" marR="38965" marT="19482" marB="19482" anchor="ctr"/>
                </a:tc>
                <a:tc>
                  <a:txBody>
                    <a:bodyPr/>
                    <a:lstStyle/>
                    <a:p>
                      <a:pPr>
                        <a:buNone/>
                      </a:pPr>
                      <a:r>
                        <a:rPr lang="en-IN" sz="1600" dirty="0">
                          <a:solidFill>
                            <a:schemeClr val="bg1"/>
                          </a:solidFill>
                        </a:rPr>
                        <a:t>19.678</a:t>
                      </a:r>
                    </a:p>
                  </a:txBody>
                  <a:tcPr marL="38965" marR="38965" marT="19482" marB="19482" anchor="ctr"/>
                </a:tc>
                <a:tc>
                  <a:txBody>
                    <a:bodyPr/>
                    <a:lstStyle/>
                    <a:p>
                      <a:pPr>
                        <a:buNone/>
                      </a:pPr>
                      <a:r>
                        <a:rPr lang="en-IN" sz="1600" dirty="0">
                          <a:solidFill>
                            <a:schemeClr val="bg1"/>
                          </a:solidFill>
                        </a:rPr>
                        <a:t>21.805</a:t>
                      </a:r>
                    </a:p>
                  </a:txBody>
                  <a:tcPr marL="38965" marR="38965" marT="19482" marB="19482" anchor="ctr"/>
                </a:tc>
                <a:extLst>
                  <a:ext uri="{0D108BD9-81ED-4DB2-BD59-A6C34878D82A}">
                    <a16:rowId xmlns:a16="http://schemas.microsoft.com/office/drawing/2014/main" val="297441154"/>
                  </a:ext>
                </a:extLst>
              </a:tr>
              <a:tr h="332946">
                <a:tc>
                  <a:txBody>
                    <a:bodyPr/>
                    <a:lstStyle/>
                    <a:p>
                      <a:pPr>
                        <a:buNone/>
                      </a:pPr>
                      <a:r>
                        <a:rPr lang="en-IN" sz="1200" dirty="0" err="1">
                          <a:solidFill>
                            <a:schemeClr val="bg1"/>
                          </a:solidFill>
                        </a:rPr>
                        <a:t>cycle_length_days</a:t>
                      </a:r>
                      <a:endParaRPr lang="en-IN" sz="1200" dirty="0">
                        <a:solidFill>
                          <a:schemeClr val="bg1"/>
                        </a:solidFill>
                      </a:endParaRPr>
                    </a:p>
                  </a:txBody>
                  <a:tcPr marL="38965" marR="38965" marT="19482" marB="19482" anchor="ctr"/>
                </a:tc>
                <a:tc>
                  <a:txBody>
                    <a:bodyPr/>
                    <a:lstStyle/>
                    <a:p>
                      <a:pPr>
                        <a:buNone/>
                      </a:pPr>
                      <a:r>
                        <a:rPr lang="en-IN" sz="1600" dirty="0">
                          <a:solidFill>
                            <a:schemeClr val="bg1"/>
                          </a:solidFill>
                        </a:rPr>
                        <a:t>-0.008</a:t>
                      </a:r>
                    </a:p>
                  </a:txBody>
                  <a:tcPr marL="38965" marR="38965" marT="19482" marB="19482" anchor="ctr"/>
                </a:tc>
                <a:tc>
                  <a:txBody>
                    <a:bodyPr/>
                    <a:lstStyle/>
                    <a:p>
                      <a:pPr>
                        <a:buNone/>
                      </a:pPr>
                      <a:r>
                        <a:rPr lang="en-IN" sz="1600">
                          <a:solidFill>
                            <a:schemeClr val="bg1"/>
                          </a:solidFill>
                        </a:rPr>
                        <a:t>0.002</a:t>
                      </a:r>
                    </a:p>
                  </a:txBody>
                  <a:tcPr marL="38965" marR="38965" marT="19482" marB="19482" anchor="ctr"/>
                </a:tc>
                <a:tc>
                  <a:txBody>
                    <a:bodyPr/>
                    <a:lstStyle/>
                    <a:p>
                      <a:pPr>
                        <a:buNone/>
                      </a:pPr>
                      <a:r>
                        <a:rPr lang="en-IN" sz="1600">
                          <a:solidFill>
                            <a:schemeClr val="bg1"/>
                          </a:solidFill>
                        </a:rPr>
                        <a:t>-3.909</a:t>
                      </a:r>
                    </a:p>
                  </a:txBody>
                  <a:tcPr marL="38965" marR="38965" marT="19482" marB="19482" anchor="ctr"/>
                </a:tc>
                <a:tc>
                  <a:txBody>
                    <a:bodyPr/>
                    <a:lstStyle/>
                    <a:p>
                      <a:pPr>
                        <a:buNone/>
                      </a:pPr>
                      <a:r>
                        <a:rPr lang="en-IN" sz="1600">
                          <a:solidFill>
                            <a:schemeClr val="bg1"/>
                          </a:solidFill>
                        </a:rPr>
                        <a:t>0.000</a:t>
                      </a:r>
                    </a:p>
                  </a:txBody>
                  <a:tcPr marL="38965" marR="38965" marT="19482" marB="19482" anchor="ctr"/>
                </a:tc>
                <a:tc>
                  <a:txBody>
                    <a:bodyPr/>
                    <a:lstStyle/>
                    <a:p>
                      <a:pPr>
                        <a:buNone/>
                      </a:pPr>
                      <a:r>
                        <a:rPr lang="en-IN" sz="1600" dirty="0">
                          <a:solidFill>
                            <a:schemeClr val="bg1"/>
                          </a:solidFill>
                        </a:rPr>
                        <a:t>-0.012</a:t>
                      </a:r>
                    </a:p>
                  </a:txBody>
                  <a:tcPr marL="38965" marR="38965" marT="19482" marB="19482" anchor="ctr"/>
                </a:tc>
                <a:tc>
                  <a:txBody>
                    <a:bodyPr/>
                    <a:lstStyle/>
                    <a:p>
                      <a:pPr>
                        <a:buNone/>
                      </a:pPr>
                      <a:r>
                        <a:rPr lang="en-IN" sz="1600" dirty="0">
                          <a:solidFill>
                            <a:schemeClr val="bg1"/>
                          </a:solidFill>
                        </a:rPr>
                        <a:t>-0.004</a:t>
                      </a:r>
                    </a:p>
                  </a:txBody>
                  <a:tcPr marL="38965" marR="38965" marT="19482" marB="19482" anchor="ctr"/>
                </a:tc>
                <a:extLst>
                  <a:ext uri="{0D108BD9-81ED-4DB2-BD59-A6C34878D82A}">
                    <a16:rowId xmlns:a16="http://schemas.microsoft.com/office/drawing/2014/main" val="2448455871"/>
                  </a:ext>
                </a:extLst>
              </a:tr>
              <a:tr h="332946">
                <a:tc>
                  <a:txBody>
                    <a:bodyPr/>
                    <a:lstStyle/>
                    <a:p>
                      <a:pPr>
                        <a:buNone/>
                      </a:pPr>
                      <a:r>
                        <a:rPr lang="en-IN" sz="1200">
                          <a:solidFill>
                            <a:schemeClr val="bg1"/>
                          </a:solidFill>
                        </a:rPr>
                        <a:t>cycle_phase_Luteal</a:t>
                      </a:r>
                    </a:p>
                  </a:txBody>
                  <a:tcPr marL="38965" marR="38965" marT="19482" marB="19482" anchor="ctr"/>
                </a:tc>
                <a:tc>
                  <a:txBody>
                    <a:bodyPr/>
                    <a:lstStyle/>
                    <a:p>
                      <a:pPr>
                        <a:buNone/>
                      </a:pPr>
                      <a:r>
                        <a:rPr lang="en-IN" sz="1600" dirty="0">
                          <a:solidFill>
                            <a:schemeClr val="bg1"/>
                          </a:solidFill>
                        </a:rPr>
                        <a:t>-0.029</a:t>
                      </a:r>
                    </a:p>
                  </a:txBody>
                  <a:tcPr marL="38965" marR="38965" marT="19482" marB="19482" anchor="ctr"/>
                </a:tc>
                <a:tc>
                  <a:txBody>
                    <a:bodyPr/>
                    <a:lstStyle/>
                    <a:p>
                      <a:pPr>
                        <a:buNone/>
                      </a:pPr>
                      <a:r>
                        <a:rPr lang="en-IN" sz="1600" dirty="0">
                          <a:solidFill>
                            <a:schemeClr val="bg1"/>
                          </a:solidFill>
                        </a:rPr>
                        <a:t>0.019</a:t>
                      </a:r>
                    </a:p>
                  </a:txBody>
                  <a:tcPr marL="38965" marR="38965" marT="19482" marB="19482" anchor="ctr"/>
                </a:tc>
                <a:tc>
                  <a:txBody>
                    <a:bodyPr/>
                    <a:lstStyle/>
                    <a:p>
                      <a:pPr>
                        <a:buNone/>
                      </a:pPr>
                      <a:r>
                        <a:rPr lang="en-IN" sz="1600">
                          <a:solidFill>
                            <a:schemeClr val="bg1"/>
                          </a:solidFill>
                        </a:rPr>
                        <a:t>-1.527</a:t>
                      </a:r>
                    </a:p>
                  </a:txBody>
                  <a:tcPr marL="38965" marR="38965" marT="19482" marB="19482" anchor="ctr"/>
                </a:tc>
                <a:tc>
                  <a:txBody>
                    <a:bodyPr/>
                    <a:lstStyle/>
                    <a:p>
                      <a:pPr>
                        <a:buNone/>
                      </a:pPr>
                      <a:r>
                        <a:rPr lang="en-IN" sz="1600">
                          <a:solidFill>
                            <a:schemeClr val="bg1"/>
                          </a:solidFill>
                        </a:rPr>
                        <a:t>0.127</a:t>
                      </a:r>
                    </a:p>
                  </a:txBody>
                  <a:tcPr marL="38965" marR="38965" marT="19482" marB="19482" anchor="ctr"/>
                </a:tc>
                <a:tc>
                  <a:txBody>
                    <a:bodyPr/>
                    <a:lstStyle/>
                    <a:p>
                      <a:pPr>
                        <a:buNone/>
                      </a:pPr>
                      <a:r>
                        <a:rPr lang="en-IN" sz="1600">
                          <a:solidFill>
                            <a:schemeClr val="bg1"/>
                          </a:solidFill>
                        </a:rPr>
                        <a:t>-0.066</a:t>
                      </a:r>
                    </a:p>
                  </a:txBody>
                  <a:tcPr marL="38965" marR="38965" marT="19482" marB="19482" anchor="ctr"/>
                </a:tc>
                <a:tc>
                  <a:txBody>
                    <a:bodyPr/>
                    <a:lstStyle/>
                    <a:p>
                      <a:pPr>
                        <a:buNone/>
                      </a:pPr>
                      <a:r>
                        <a:rPr lang="en-IN" sz="1600" dirty="0">
                          <a:solidFill>
                            <a:schemeClr val="bg1"/>
                          </a:solidFill>
                        </a:rPr>
                        <a:t>0.008</a:t>
                      </a:r>
                    </a:p>
                  </a:txBody>
                  <a:tcPr marL="38965" marR="38965" marT="19482" marB="19482" anchor="ctr"/>
                </a:tc>
                <a:extLst>
                  <a:ext uri="{0D108BD9-81ED-4DB2-BD59-A6C34878D82A}">
                    <a16:rowId xmlns:a16="http://schemas.microsoft.com/office/drawing/2014/main" val="4016906665"/>
                  </a:ext>
                </a:extLst>
              </a:tr>
              <a:tr h="332946">
                <a:tc>
                  <a:txBody>
                    <a:bodyPr/>
                    <a:lstStyle/>
                    <a:p>
                      <a:pPr>
                        <a:buNone/>
                      </a:pPr>
                      <a:r>
                        <a:rPr lang="en-IN" sz="1200">
                          <a:solidFill>
                            <a:schemeClr val="bg1"/>
                          </a:solidFill>
                        </a:rPr>
                        <a:t>cycle_phase_Menstrual</a:t>
                      </a:r>
                    </a:p>
                  </a:txBody>
                  <a:tcPr marL="38965" marR="38965" marT="19482" marB="19482" anchor="ctr"/>
                </a:tc>
                <a:tc>
                  <a:txBody>
                    <a:bodyPr/>
                    <a:lstStyle/>
                    <a:p>
                      <a:pPr>
                        <a:buNone/>
                      </a:pPr>
                      <a:r>
                        <a:rPr lang="en-IN" sz="1600" dirty="0">
                          <a:solidFill>
                            <a:schemeClr val="bg1"/>
                          </a:solidFill>
                        </a:rPr>
                        <a:t>-0.006</a:t>
                      </a:r>
                    </a:p>
                  </a:txBody>
                  <a:tcPr marL="38965" marR="38965" marT="19482" marB="19482" anchor="ctr"/>
                </a:tc>
                <a:tc>
                  <a:txBody>
                    <a:bodyPr/>
                    <a:lstStyle/>
                    <a:p>
                      <a:pPr>
                        <a:buNone/>
                      </a:pPr>
                      <a:r>
                        <a:rPr lang="en-IN" sz="1600" dirty="0">
                          <a:solidFill>
                            <a:schemeClr val="bg1"/>
                          </a:solidFill>
                        </a:rPr>
                        <a:t>0.018</a:t>
                      </a:r>
                    </a:p>
                  </a:txBody>
                  <a:tcPr marL="38965" marR="38965" marT="19482" marB="19482" anchor="ctr"/>
                </a:tc>
                <a:tc>
                  <a:txBody>
                    <a:bodyPr/>
                    <a:lstStyle/>
                    <a:p>
                      <a:pPr>
                        <a:buNone/>
                      </a:pPr>
                      <a:r>
                        <a:rPr lang="en-IN" sz="1600">
                          <a:solidFill>
                            <a:schemeClr val="bg1"/>
                          </a:solidFill>
                        </a:rPr>
                        <a:t>-0.328</a:t>
                      </a:r>
                    </a:p>
                  </a:txBody>
                  <a:tcPr marL="38965" marR="38965" marT="19482" marB="19482" anchor="ctr"/>
                </a:tc>
                <a:tc>
                  <a:txBody>
                    <a:bodyPr/>
                    <a:lstStyle/>
                    <a:p>
                      <a:pPr>
                        <a:buNone/>
                      </a:pPr>
                      <a:r>
                        <a:rPr lang="en-IN" sz="1600">
                          <a:solidFill>
                            <a:schemeClr val="bg1"/>
                          </a:solidFill>
                        </a:rPr>
                        <a:t>0.743</a:t>
                      </a:r>
                    </a:p>
                  </a:txBody>
                  <a:tcPr marL="38965" marR="38965" marT="19482" marB="19482" anchor="ctr"/>
                </a:tc>
                <a:tc>
                  <a:txBody>
                    <a:bodyPr/>
                    <a:lstStyle/>
                    <a:p>
                      <a:pPr>
                        <a:buNone/>
                      </a:pPr>
                      <a:r>
                        <a:rPr lang="en-IN" sz="1600">
                          <a:solidFill>
                            <a:schemeClr val="bg1"/>
                          </a:solidFill>
                        </a:rPr>
                        <a:t>-0.041</a:t>
                      </a:r>
                    </a:p>
                  </a:txBody>
                  <a:tcPr marL="38965" marR="38965" marT="19482" marB="19482" anchor="ctr"/>
                </a:tc>
                <a:tc>
                  <a:txBody>
                    <a:bodyPr/>
                    <a:lstStyle/>
                    <a:p>
                      <a:pPr>
                        <a:buNone/>
                      </a:pPr>
                      <a:r>
                        <a:rPr lang="en-IN" sz="1600" dirty="0">
                          <a:solidFill>
                            <a:schemeClr val="bg1"/>
                          </a:solidFill>
                        </a:rPr>
                        <a:t>0.029</a:t>
                      </a:r>
                    </a:p>
                  </a:txBody>
                  <a:tcPr marL="38965" marR="38965" marT="19482" marB="19482" anchor="ctr"/>
                </a:tc>
                <a:extLst>
                  <a:ext uri="{0D108BD9-81ED-4DB2-BD59-A6C34878D82A}">
                    <a16:rowId xmlns:a16="http://schemas.microsoft.com/office/drawing/2014/main" val="2070983690"/>
                  </a:ext>
                </a:extLst>
              </a:tr>
              <a:tr h="332946">
                <a:tc>
                  <a:txBody>
                    <a:bodyPr/>
                    <a:lstStyle/>
                    <a:p>
                      <a:pPr>
                        <a:buNone/>
                      </a:pPr>
                      <a:r>
                        <a:rPr lang="en-IN" sz="1200">
                          <a:solidFill>
                            <a:schemeClr val="bg1"/>
                          </a:solidFill>
                        </a:rPr>
                        <a:t>flow_level</a:t>
                      </a:r>
                    </a:p>
                  </a:txBody>
                  <a:tcPr marL="38965" marR="38965" marT="19482" marB="19482" anchor="ctr"/>
                </a:tc>
                <a:tc>
                  <a:txBody>
                    <a:bodyPr/>
                    <a:lstStyle/>
                    <a:p>
                      <a:pPr>
                        <a:buNone/>
                      </a:pPr>
                      <a:r>
                        <a:rPr lang="en-IN" sz="1600" dirty="0">
                          <a:solidFill>
                            <a:schemeClr val="bg1"/>
                          </a:solidFill>
                        </a:rPr>
                        <a:t>0.292</a:t>
                      </a:r>
                    </a:p>
                  </a:txBody>
                  <a:tcPr marL="38965" marR="38965" marT="19482" marB="19482" anchor="ctr"/>
                </a:tc>
                <a:tc>
                  <a:txBody>
                    <a:bodyPr/>
                    <a:lstStyle/>
                    <a:p>
                      <a:pPr>
                        <a:buNone/>
                      </a:pPr>
                      <a:r>
                        <a:rPr lang="en-IN" sz="1600" dirty="0">
                          <a:solidFill>
                            <a:schemeClr val="bg1"/>
                          </a:solidFill>
                        </a:rPr>
                        <a:t>0.010</a:t>
                      </a:r>
                    </a:p>
                  </a:txBody>
                  <a:tcPr marL="38965" marR="38965" marT="19482" marB="19482" anchor="ctr"/>
                </a:tc>
                <a:tc>
                  <a:txBody>
                    <a:bodyPr/>
                    <a:lstStyle/>
                    <a:p>
                      <a:pPr>
                        <a:buNone/>
                      </a:pPr>
                      <a:r>
                        <a:rPr lang="en-IN" sz="1600">
                          <a:solidFill>
                            <a:schemeClr val="bg1"/>
                          </a:solidFill>
                        </a:rPr>
                        <a:t>29.873</a:t>
                      </a:r>
                    </a:p>
                  </a:txBody>
                  <a:tcPr marL="38965" marR="38965" marT="19482" marB="19482" anchor="ctr"/>
                </a:tc>
                <a:tc>
                  <a:txBody>
                    <a:bodyPr/>
                    <a:lstStyle/>
                    <a:p>
                      <a:pPr>
                        <a:buNone/>
                      </a:pPr>
                      <a:r>
                        <a:rPr lang="en-IN" sz="1600">
                          <a:solidFill>
                            <a:schemeClr val="bg1"/>
                          </a:solidFill>
                        </a:rPr>
                        <a:t>0.000</a:t>
                      </a:r>
                    </a:p>
                  </a:txBody>
                  <a:tcPr marL="38965" marR="38965" marT="19482" marB="19482" anchor="ctr"/>
                </a:tc>
                <a:tc>
                  <a:txBody>
                    <a:bodyPr/>
                    <a:lstStyle/>
                    <a:p>
                      <a:pPr>
                        <a:buNone/>
                      </a:pPr>
                      <a:r>
                        <a:rPr lang="en-IN" sz="1600">
                          <a:solidFill>
                            <a:schemeClr val="bg1"/>
                          </a:solidFill>
                        </a:rPr>
                        <a:t>0.273</a:t>
                      </a:r>
                    </a:p>
                  </a:txBody>
                  <a:tcPr marL="38965" marR="38965" marT="19482" marB="19482" anchor="ctr"/>
                </a:tc>
                <a:tc>
                  <a:txBody>
                    <a:bodyPr/>
                    <a:lstStyle/>
                    <a:p>
                      <a:pPr>
                        <a:buNone/>
                      </a:pPr>
                      <a:r>
                        <a:rPr lang="en-IN" sz="1600" dirty="0">
                          <a:solidFill>
                            <a:schemeClr val="bg1"/>
                          </a:solidFill>
                        </a:rPr>
                        <a:t>0.311</a:t>
                      </a:r>
                    </a:p>
                  </a:txBody>
                  <a:tcPr marL="38965" marR="38965" marT="19482" marB="19482" anchor="ctr"/>
                </a:tc>
                <a:extLst>
                  <a:ext uri="{0D108BD9-81ED-4DB2-BD59-A6C34878D82A}">
                    <a16:rowId xmlns:a16="http://schemas.microsoft.com/office/drawing/2014/main" val="2109592847"/>
                  </a:ext>
                </a:extLst>
              </a:tr>
              <a:tr h="332946">
                <a:tc>
                  <a:txBody>
                    <a:bodyPr/>
                    <a:lstStyle/>
                    <a:p>
                      <a:pPr>
                        <a:buNone/>
                      </a:pPr>
                      <a:r>
                        <a:rPr lang="en-IN" sz="1200">
                          <a:solidFill>
                            <a:schemeClr val="bg1"/>
                          </a:solidFill>
                        </a:rPr>
                        <a:t>pms_symptoms_Yes</a:t>
                      </a:r>
                    </a:p>
                  </a:txBody>
                  <a:tcPr marL="38965" marR="38965" marT="19482" marB="19482" anchor="ctr"/>
                </a:tc>
                <a:tc>
                  <a:txBody>
                    <a:bodyPr/>
                    <a:lstStyle/>
                    <a:p>
                      <a:pPr>
                        <a:buNone/>
                      </a:pPr>
                      <a:r>
                        <a:rPr lang="en-IN" sz="1600" dirty="0">
                          <a:solidFill>
                            <a:schemeClr val="bg1"/>
                          </a:solidFill>
                        </a:rPr>
                        <a:t>-0.017</a:t>
                      </a:r>
                    </a:p>
                  </a:txBody>
                  <a:tcPr marL="38965" marR="38965" marT="19482" marB="19482" anchor="ctr"/>
                </a:tc>
                <a:tc>
                  <a:txBody>
                    <a:bodyPr/>
                    <a:lstStyle/>
                    <a:p>
                      <a:pPr>
                        <a:buNone/>
                      </a:pPr>
                      <a:r>
                        <a:rPr lang="en-IN" sz="1600" dirty="0">
                          <a:solidFill>
                            <a:schemeClr val="bg1"/>
                          </a:solidFill>
                        </a:rPr>
                        <a:t>0.010</a:t>
                      </a:r>
                    </a:p>
                  </a:txBody>
                  <a:tcPr marL="38965" marR="38965" marT="19482" marB="19482" anchor="ctr"/>
                </a:tc>
                <a:tc>
                  <a:txBody>
                    <a:bodyPr/>
                    <a:lstStyle/>
                    <a:p>
                      <a:pPr>
                        <a:buNone/>
                      </a:pPr>
                      <a:r>
                        <a:rPr lang="en-IN" sz="1600">
                          <a:solidFill>
                            <a:schemeClr val="bg1"/>
                          </a:solidFill>
                        </a:rPr>
                        <a:t>-1.809</a:t>
                      </a:r>
                    </a:p>
                  </a:txBody>
                  <a:tcPr marL="38965" marR="38965" marT="19482" marB="19482" anchor="ctr"/>
                </a:tc>
                <a:tc>
                  <a:txBody>
                    <a:bodyPr/>
                    <a:lstStyle/>
                    <a:p>
                      <a:pPr>
                        <a:buNone/>
                      </a:pPr>
                      <a:r>
                        <a:rPr lang="en-IN" sz="1600">
                          <a:solidFill>
                            <a:schemeClr val="bg1"/>
                          </a:solidFill>
                        </a:rPr>
                        <a:t>0.070</a:t>
                      </a:r>
                    </a:p>
                  </a:txBody>
                  <a:tcPr marL="38965" marR="38965" marT="19482" marB="19482" anchor="ctr"/>
                </a:tc>
                <a:tc>
                  <a:txBody>
                    <a:bodyPr/>
                    <a:lstStyle/>
                    <a:p>
                      <a:pPr>
                        <a:buNone/>
                      </a:pPr>
                      <a:r>
                        <a:rPr lang="en-IN" sz="1600">
                          <a:solidFill>
                            <a:schemeClr val="bg1"/>
                          </a:solidFill>
                        </a:rPr>
                        <a:t>-0.036</a:t>
                      </a:r>
                    </a:p>
                  </a:txBody>
                  <a:tcPr marL="38965" marR="38965" marT="19482" marB="19482" anchor="ctr"/>
                </a:tc>
                <a:tc>
                  <a:txBody>
                    <a:bodyPr/>
                    <a:lstStyle/>
                    <a:p>
                      <a:pPr>
                        <a:buNone/>
                      </a:pPr>
                      <a:r>
                        <a:rPr lang="en-IN" sz="1600" dirty="0">
                          <a:solidFill>
                            <a:schemeClr val="bg1"/>
                          </a:solidFill>
                        </a:rPr>
                        <a:t>0.001</a:t>
                      </a:r>
                    </a:p>
                  </a:txBody>
                  <a:tcPr marL="38965" marR="38965" marT="19482" marB="19482" anchor="ctr"/>
                </a:tc>
                <a:extLst>
                  <a:ext uri="{0D108BD9-81ED-4DB2-BD59-A6C34878D82A}">
                    <a16:rowId xmlns:a16="http://schemas.microsoft.com/office/drawing/2014/main" val="5213973"/>
                  </a:ext>
                </a:extLst>
              </a:tr>
              <a:tr h="332946">
                <a:tc>
                  <a:txBody>
                    <a:bodyPr/>
                    <a:lstStyle/>
                    <a:p>
                      <a:pPr>
                        <a:buNone/>
                      </a:pPr>
                      <a:r>
                        <a:rPr lang="en-IN" sz="1200">
                          <a:solidFill>
                            <a:schemeClr val="bg1"/>
                          </a:solidFill>
                        </a:rPr>
                        <a:t>estrogen_pgml</a:t>
                      </a:r>
                    </a:p>
                  </a:txBody>
                  <a:tcPr marL="38965" marR="38965" marT="19482" marB="19482" anchor="ctr"/>
                </a:tc>
                <a:tc>
                  <a:txBody>
                    <a:bodyPr/>
                    <a:lstStyle/>
                    <a:p>
                      <a:pPr>
                        <a:buNone/>
                      </a:pPr>
                      <a:r>
                        <a:rPr lang="en-IN" sz="1600">
                          <a:solidFill>
                            <a:schemeClr val="bg1"/>
                          </a:solidFill>
                        </a:rPr>
                        <a:t>-0.000</a:t>
                      </a:r>
                    </a:p>
                  </a:txBody>
                  <a:tcPr marL="38965" marR="38965" marT="19482" marB="19482" anchor="ctr"/>
                </a:tc>
                <a:tc>
                  <a:txBody>
                    <a:bodyPr/>
                    <a:lstStyle/>
                    <a:p>
                      <a:pPr>
                        <a:buNone/>
                      </a:pPr>
                      <a:r>
                        <a:rPr lang="en-IN" sz="1600" dirty="0">
                          <a:solidFill>
                            <a:schemeClr val="bg1"/>
                          </a:solidFill>
                        </a:rPr>
                        <a:t>0.000</a:t>
                      </a:r>
                    </a:p>
                  </a:txBody>
                  <a:tcPr marL="38965" marR="38965" marT="19482" marB="19482" anchor="ctr"/>
                </a:tc>
                <a:tc>
                  <a:txBody>
                    <a:bodyPr/>
                    <a:lstStyle/>
                    <a:p>
                      <a:pPr>
                        <a:buNone/>
                      </a:pPr>
                      <a:r>
                        <a:rPr lang="en-IN" sz="1600" dirty="0">
                          <a:solidFill>
                            <a:schemeClr val="bg1"/>
                          </a:solidFill>
                        </a:rPr>
                        <a:t>-0.119</a:t>
                      </a:r>
                    </a:p>
                  </a:txBody>
                  <a:tcPr marL="38965" marR="38965" marT="19482" marB="19482" anchor="ctr"/>
                </a:tc>
                <a:tc>
                  <a:txBody>
                    <a:bodyPr/>
                    <a:lstStyle/>
                    <a:p>
                      <a:pPr>
                        <a:buNone/>
                      </a:pPr>
                      <a:r>
                        <a:rPr lang="en-IN" sz="1600">
                          <a:solidFill>
                            <a:schemeClr val="bg1"/>
                          </a:solidFill>
                        </a:rPr>
                        <a:t>0.906</a:t>
                      </a:r>
                    </a:p>
                  </a:txBody>
                  <a:tcPr marL="38965" marR="38965" marT="19482" marB="19482" anchor="ctr"/>
                </a:tc>
                <a:tc>
                  <a:txBody>
                    <a:bodyPr/>
                    <a:lstStyle/>
                    <a:p>
                      <a:pPr>
                        <a:buNone/>
                      </a:pPr>
                      <a:r>
                        <a:rPr lang="en-IN" sz="1600">
                          <a:solidFill>
                            <a:schemeClr val="bg1"/>
                          </a:solidFill>
                        </a:rPr>
                        <a:t>-0.000</a:t>
                      </a:r>
                    </a:p>
                  </a:txBody>
                  <a:tcPr marL="38965" marR="38965" marT="19482" marB="19482" anchor="ctr"/>
                </a:tc>
                <a:tc>
                  <a:txBody>
                    <a:bodyPr/>
                    <a:lstStyle/>
                    <a:p>
                      <a:pPr>
                        <a:buNone/>
                      </a:pPr>
                      <a:r>
                        <a:rPr lang="en-IN" sz="1600" dirty="0">
                          <a:solidFill>
                            <a:schemeClr val="bg1"/>
                          </a:solidFill>
                        </a:rPr>
                        <a:t>0.000</a:t>
                      </a:r>
                    </a:p>
                  </a:txBody>
                  <a:tcPr marL="38965" marR="38965" marT="19482" marB="19482" anchor="ctr"/>
                </a:tc>
                <a:extLst>
                  <a:ext uri="{0D108BD9-81ED-4DB2-BD59-A6C34878D82A}">
                    <a16:rowId xmlns:a16="http://schemas.microsoft.com/office/drawing/2014/main" val="1426949253"/>
                  </a:ext>
                </a:extLst>
              </a:tr>
              <a:tr h="332946">
                <a:tc>
                  <a:txBody>
                    <a:bodyPr/>
                    <a:lstStyle/>
                    <a:p>
                      <a:pPr>
                        <a:buNone/>
                      </a:pPr>
                      <a:r>
                        <a:rPr lang="en-IN" sz="1200">
                          <a:solidFill>
                            <a:schemeClr val="bg1"/>
                          </a:solidFill>
                        </a:rPr>
                        <a:t>progesterone_ngml</a:t>
                      </a:r>
                    </a:p>
                  </a:txBody>
                  <a:tcPr marL="38965" marR="38965" marT="19482" marB="19482" anchor="ctr"/>
                </a:tc>
                <a:tc>
                  <a:txBody>
                    <a:bodyPr/>
                    <a:lstStyle/>
                    <a:p>
                      <a:pPr>
                        <a:buNone/>
                      </a:pPr>
                      <a:r>
                        <a:rPr lang="en-IN" sz="1600">
                          <a:solidFill>
                            <a:schemeClr val="bg1"/>
                          </a:solidFill>
                        </a:rPr>
                        <a:t>0.003</a:t>
                      </a:r>
                    </a:p>
                  </a:txBody>
                  <a:tcPr marL="38965" marR="38965" marT="19482" marB="19482" anchor="ctr"/>
                </a:tc>
                <a:tc>
                  <a:txBody>
                    <a:bodyPr/>
                    <a:lstStyle/>
                    <a:p>
                      <a:pPr>
                        <a:buNone/>
                      </a:pPr>
                      <a:r>
                        <a:rPr lang="en-IN" sz="1600" dirty="0">
                          <a:solidFill>
                            <a:schemeClr val="bg1"/>
                          </a:solidFill>
                        </a:rPr>
                        <a:t>0.002</a:t>
                      </a:r>
                    </a:p>
                  </a:txBody>
                  <a:tcPr marL="38965" marR="38965" marT="19482" marB="19482" anchor="ctr"/>
                </a:tc>
                <a:tc>
                  <a:txBody>
                    <a:bodyPr/>
                    <a:lstStyle/>
                    <a:p>
                      <a:pPr>
                        <a:buNone/>
                      </a:pPr>
                      <a:r>
                        <a:rPr lang="en-IN" sz="1600" dirty="0">
                          <a:solidFill>
                            <a:schemeClr val="bg1"/>
                          </a:solidFill>
                        </a:rPr>
                        <a:t>1.382</a:t>
                      </a:r>
                    </a:p>
                  </a:txBody>
                  <a:tcPr marL="38965" marR="38965" marT="19482" marB="19482" anchor="ctr"/>
                </a:tc>
                <a:tc>
                  <a:txBody>
                    <a:bodyPr/>
                    <a:lstStyle/>
                    <a:p>
                      <a:pPr>
                        <a:buNone/>
                      </a:pPr>
                      <a:r>
                        <a:rPr lang="en-IN" sz="1600">
                          <a:solidFill>
                            <a:schemeClr val="bg1"/>
                          </a:solidFill>
                        </a:rPr>
                        <a:t>0.167</a:t>
                      </a:r>
                    </a:p>
                  </a:txBody>
                  <a:tcPr marL="38965" marR="38965" marT="19482" marB="19482" anchor="ctr"/>
                </a:tc>
                <a:tc>
                  <a:txBody>
                    <a:bodyPr/>
                    <a:lstStyle/>
                    <a:p>
                      <a:pPr>
                        <a:buNone/>
                      </a:pPr>
                      <a:r>
                        <a:rPr lang="en-IN" sz="1600">
                          <a:solidFill>
                            <a:schemeClr val="bg1"/>
                          </a:solidFill>
                        </a:rPr>
                        <a:t>-0.001</a:t>
                      </a:r>
                    </a:p>
                  </a:txBody>
                  <a:tcPr marL="38965" marR="38965" marT="19482" marB="19482" anchor="ctr"/>
                </a:tc>
                <a:tc>
                  <a:txBody>
                    <a:bodyPr/>
                    <a:lstStyle/>
                    <a:p>
                      <a:pPr>
                        <a:buNone/>
                      </a:pPr>
                      <a:r>
                        <a:rPr lang="en-IN" sz="1600" dirty="0">
                          <a:solidFill>
                            <a:schemeClr val="bg1"/>
                          </a:solidFill>
                        </a:rPr>
                        <a:t>0.008</a:t>
                      </a:r>
                    </a:p>
                  </a:txBody>
                  <a:tcPr marL="38965" marR="38965" marT="19482" marB="19482" anchor="ctr"/>
                </a:tc>
                <a:extLst>
                  <a:ext uri="{0D108BD9-81ED-4DB2-BD59-A6C34878D82A}">
                    <a16:rowId xmlns:a16="http://schemas.microsoft.com/office/drawing/2014/main" val="1748099947"/>
                  </a:ext>
                </a:extLst>
              </a:tr>
              <a:tr h="363367">
                <a:tc>
                  <a:txBody>
                    <a:bodyPr/>
                    <a:lstStyle/>
                    <a:p>
                      <a:pPr>
                        <a:buNone/>
                      </a:pPr>
                      <a:r>
                        <a:rPr lang="en-IN" sz="1200">
                          <a:solidFill>
                            <a:schemeClr val="bg1"/>
                          </a:solidFill>
                        </a:rPr>
                        <a:t>ovulation_result_Positive</a:t>
                      </a:r>
                    </a:p>
                  </a:txBody>
                  <a:tcPr marL="38965" marR="38965" marT="19482" marB="19482" anchor="ctr"/>
                </a:tc>
                <a:tc>
                  <a:txBody>
                    <a:bodyPr/>
                    <a:lstStyle/>
                    <a:p>
                      <a:pPr>
                        <a:buNone/>
                      </a:pPr>
                      <a:r>
                        <a:rPr lang="en-IN" sz="1600">
                          <a:solidFill>
                            <a:schemeClr val="bg1"/>
                          </a:solidFill>
                        </a:rPr>
                        <a:t>0.019</a:t>
                      </a:r>
                    </a:p>
                  </a:txBody>
                  <a:tcPr marL="38965" marR="38965" marT="19482" marB="19482" anchor="ctr"/>
                </a:tc>
                <a:tc>
                  <a:txBody>
                    <a:bodyPr/>
                    <a:lstStyle/>
                    <a:p>
                      <a:pPr>
                        <a:buNone/>
                      </a:pPr>
                      <a:r>
                        <a:rPr lang="en-IN" sz="1600" dirty="0">
                          <a:solidFill>
                            <a:schemeClr val="bg1"/>
                          </a:solidFill>
                        </a:rPr>
                        <a:t>0.010</a:t>
                      </a:r>
                    </a:p>
                  </a:txBody>
                  <a:tcPr marL="38965" marR="38965" marT="19482" marB="19482" anchor="ctr"/>
                </a:tc>
                <a:tc>
                  <a:txBody>
                    <a:bodyPr/>
                    <a:lstStyle/>
                    <a:p>
                      <a:pPr>
                        <a:buNone/>
                      </a:pPr>
                      <a:r>
                        <a:rPr lang="en-IN" sz="1600" dirty="0">
                          <a:solidFill>
                            <a:schemeClr val="bg1"/>
                          </a:solidFill>
                        </a:rPr>
                        <a:t>1.927</a:t>
                      </a:r>
                    </a:p>
                  </a:txBody>
                  <a:tcPr marL="38965" marR="38965" marT="19482" marB="19482" anchor="ctr"/>
                </a:tc>
                <a:tc>
                  <a:txBody>
                    <a:bodyPr/>
                    <a:lstStyle/>
                    <a:p>
                      <a:pPr>
                        <a:buNone/>
                      </a:pPr>
                      <a:r>
                        <a:rPr lang="en-IN" sz="1600">
                          <a:solidFill>
                            <a:schemeClr val="bg1"/>
                          </a:solidFill>
                        </a:rPr>
                        <a:t>0.054</a:t>
                      </a:r>
                    </a:p>
                  </a:txBody>
                  <a:tcPr marL="38965" marR="38965" marT="19482" marB="19482" anchor="ctr"/>
                </a:tc>
                <a:tc>
                  <a:txBody>
                    <a:bodyPr/>
                    <a:lstStyle/>
                    <a:p>
                      <a:pPr>
                        <a:buNone/>
                      </a:pPr>
                      <a:r>
                        <a:rPr lang="en-IN" sz="1600">
                          <a:solidFill>
                            <a:schemeClr val="bg1"/>
                          </a:solidFill>
                        </a:rPr>
                        <a:t>-0.000</a:t>
                      </a:r>
                    </a:p>
                  </a:txBody>
                  <a:tcPr marL="38965" marR="38965" marT="19482" marB="19482" anchor="ctr"/>
                </a:tc>
                <a:tc>
                  <a:txBody>
                    <a:bodyPr/>
                    <a:lstStyle/>
                    <a:p>
                      <a:pPr>
                        <a:buNone/>
                      </a:pPr>
                      <a:r>
                        <a:rPr lang="en-IN" sz="1600" dirty="0">
                          <a:solidFill>
                            <a:schemeClr val="bg1"/>
                          </a:solidFill>
                        </a:rPr>
                        <a:t>0.038</a:t>
                      </a:r>
                    </a:p>
                  </a:txBody>
                  <a:tcPr marL="38965" marR="38965" marT="19482" marB="19482" anchor="ctr"/>
                </a:tc>
                <a:extLst>
                  <a:ext uri="{0D108BD9-81ED-4DB2-BD59-A6C34878D82A}">
                    <a16:rowId xmlns:a16="http://schemas.microsoft.com/office/drawing/2014/main" val="1991941597"/>
                  </a:ext>
                </a:extLst>
              </a:tr>
              <a:tr h="332946">
                <a:tc>
                  <a:txBody>
                    <a:bodyPr/>
                    <a:lstStyle/>
                    <a:p>
                      <a:pPr>
                        <a:buNone/>
                      </a:pPr>
                      <a:r>
                        <a:rPr lang="en-IN" sz="1200">
                          <a:solidFill>
                            <a:schemeClr val="bg1"/>
                          </a:solidFill>
                        </a:rPr>
                        <a:t>mood_score</a:t>
                      </a:r>
                    </a:p>
                  </a:txBody>
                  <a:tcPr marL="38965" marR="38965" marT="19482" marB="19482" anchor="ctr"/>
                </a:tc>
                <a:tc>
                  <a:txBody>
                    <a:bodyPr/>
                    <a:lstStyle/>
                    <a:p>
                      <a:pPr>
                        <a:buNone/>
                      </a:pPr>
                      <a:r>
                        <a:rPr lang="en-IN" sz="1600">
                          <a:solidFill>
                            <a:schemeClr val="bg1"/>
                          </a:solidFill>
                        </a:rPr>
                        <a:t>-0.057</a:t>
                      </a:r>
                    </a:p>
                  </a:txBody>
                  <a:tcPr marL="38965" marR="38965" marT="19482" marB="19482" anchor="ctr"/>
                </a:tc>
                <a:tc>
                  <a:txBody>
                    <a:bodyPr/>
                    <a:lstStyle/>
                    <a:p>
                      <a:pPr>
                        <a:buNone/>
                      </a:pPr>
                      <a:r>
                        <a:rPr lang="en-IN" sz="1600" dirty="0">
                          <a:solidFill>
                            <a:schemeClr val="bg1"/>
                          </a:solidFill>
                        </a:rPr>
                        <a:t>0.004</a:t>
                      </a:r>
                    </a:p>
                  </a:txBody>
                  <a:tcPr marL="38965" marR="38965" marT="19482" marB="19482" anchor="ctr"/>
                </a:tc>
                <a:tc>
                  <a:txBody>
                    <a:bodyPr/>
                    <a:lstStyle/>
                    <a:p>
                      <a:pPr>
                        <a:buNone/>
                      </a:pPr>
                      <a:r>
                        <a:rPr lang="en-IN" sz="1600" dirty="0">
                          <a:solidFill>
                            <a:schemeClr val="bg1"/>
                          </a:solidFill>
                        </a:rPr>
                        <a:t>-14.984</a:t>
                      </a:r>
                    </a:p>
                  </a:txBody>
                  <a:tcPr marL="38965" marR="38965" marT="19482" marB="19482" anchor="ctr"/>
                </a:tc>
                <a:tc>
                  <a:txBody>
                    <a:bodyPr/>
                    <a:lstStyle/>
                    <a:p>
                      <a:pPr>
                        <a:buNone/>
                      </a:pPr>
                      <a:r>
                        <a:rPr lang="en-IN" sz="1600">
                          <a:solidFill>
                            <a:schemeClr val="bg1"/>
                          </a:solidFill>
                        </a:rPr>
                        <a:t>0.000</a:t>
                      </a:r>
                    </a:p>
                  </a:txBody>
                  <a:tcPr marL="38965" marR="38965" marT="19482" marB="19482" anchor="ctr"/>
                </a:tc>
                <a:tc>
                  <a:txBody>
                    <a:bodyPr/>
                    <a:lstStyle/>
                    <a:p>
                      <a:pPr>
                        <a:buNone/>
                      </a:pPr>
                      <a:r>
                        <a:rPr lang="en-IN" sz="1600">
                          <a:solidFill>
                            <a:schemeClr val="bg1"/>
                          </a:solidFill>
                        </a:rPr>
                        <a:t>-0.064</a:t>
                      </a:r>
                    </a:p>
                  </a:txBody>
                  <a:tcPr marL="38965" marR="38965" marT="19482" marB="19482" anchor="ctr"/>
                </a:tc>
                <a:tc>
                  <a:txBody>
                    <a:bodyPr/>
                    <a:lstStyle/>
                    <a:p>
                      <a:pPr>
                        <a:buNone/>
                      </a:pPr>
                      <a:r>
                        <a:rPr lang="en-IN" sz="1600" dirty="0">
                          <a:solidFill>
                            <a:schemeClr val="bg1"/>
                          </a:solidFill>
                        </a:rPr>
                        <a:t>-0.049</a:t>
                      </a:r>
                    </a:p>
                  </a:txBody>
                  <a:tcPr marL="38965" marR="38965" marT="19482" marB="19482" anchor="ctr"/>
                </a:tc>
                <a:extLst>
                  <a:ext uri="{0D108BD9-81ED-4DB2-BD59-A6C34878D82A}">
                    <a16:rowId xmlns:a16="http://schemas.microsoft.com/office/drawing/2014/main" val="1444370297"/>
                  </a:ext>
                </a:extLst>
              </a:tr>
              <a:tr h="332946">
                <a:tc>
                  <a:txBody>
                    <a:bodyPr/>
                    <a:lstStyle/>
                    <a:p>
                      <a:pPr>
                        <a:buNone/>
                      </a:pPr>
                      <a:r>
                        <a:rPr lang="en-IN" sz="1200">
                          <a:solidFill>
                            <a:schemeClr val="bg1"/>
                          </a:solidFill>
                        </a:rPr>
                        <a:t>stress_score_cycle</a:t>
                      </a:r>
                    </a:p>
                  </a:txBody>
                  <a:tcPr marL="38965" marR="38965" marT="19482" marB="19482" anchor="ctr"/>
                </a:tc>
                <a:tc>
                  <a:txBody>
                    <a:bodyPr/>
                    <a:lstStyle/>
                    <a:p>
                      <a:pPr>
                        <a:buNone/>
                      </a:pPr>
                      <a:r>
                        <a:rPr lang="en-IN" sz="1600">
                          <a:solidFill>
                            <a:schemeClr val="bg1"/>
                          </a:solidFill>
                        </a:rPr>
                        <a:t>-0.372</a:t>
                      </a:r>
                    </a:p>
                  </a:txBody>
                  <a:tcPr marL="38965" marR="38965" marT="19482" marB="19482" anchor="ctr"/>
                </a:tc>
                <a:tc>
                  <a:txBody>
                    <a:bodyPr/>
                    <a:lstStyle/>
                    <a:p>
                      <a:pPr>
                        <a:buNone/>
                      </a:pPr>
                      <a:r>
                        <a:rPr lang="en-IN" sz="1600" dirty="0">
                          <a:solidFill>
                            <a:schemeClr val="bg1"/>
                          </a:solidFill>
                        </a:rPr>
                        <a:t>0.006</a:t>
                      </a:r>
                    </a:p>
                  </a:txBody>
                  <a:tcPr marL="38965" marR="38965" marT="19482" marB="19482" anchor="ctr"/>
                </a:tc>
                <a:tc>
                  <a:txBody>
                    <a:bodyPr/>
                    <a:lstStyle/>
                    <a:p>
                      <a:pPr>
                        <a:buNone/>
                      </a:pPr>
                      <a:r>
                        <a:rPr lang="en-IN" sz="1600" dirty="0">
                          <a:solidFill>
                            <a:schemeClr val="bg1"/>
                          </a:solidFill>
                        </a:rPr>
                        <a:t>-57.437</a:t>
                      </a:r>
                    </a:p>
                  </a:txBody>
                  <a:tcPr marL="38965" marR="38965" marT="19482" marB="19482" anchor="ctr"/>
                </a:tc>
                <a:tc>
                  <a:txBody>
                    <a:bodyPr/>
                    <a:lstStyle/>
                    <a:p>
                      <a:pPr>
                        <a:buNone/>
                      </a:pPr>
                      <a:r>
                        <a:rPr lang="en-IN" sz="1600" dirty="0">
                          <a:solidFill>
                            <a:schemeClr val="bg1"/>
                          </a:solidFill>
                        </a:rPr>
                        <a:t>0.000</a:t>
                      </a:r>
                    </a:p>
                  </a:txBody>
                  <a:tcPr marL="38965" marR="38965" marT="19482" marB="19482" anchor="ctr"/>
                </a:tc>
                <a:tc>
                  <a:txBody>
                    <a:bodyPr/>
                    <a:lstStyle/>
                    <a:p>
                      <a:pPr>
                        <a:buNone/>
                      </a:pPr>
                      <a:r>
                        <a:rPr lang="en-IN" sz="1600">
                          <a:solidFill>
                            <a:schemeClr val="bg1"/>
                          </a:solidFill>
                        </a:rPr>
                        <a:t>-0.385</a:t>
                      </a:r>
                    </a:p>
                  </a:txBody>
                  <a:tcPr marL="38965" marR="38965" marT="19482" marB="19482" anchor="ctr"/>
                </a:tc>
                <a:tc>
                  <a:txBody>
                    <a:bodyPr/>
                    <a:lstStyle/>
                    <a:p>
                      <a:pPr>
                        <a:buNone/>
                      </a:pPr>
                      <a:r>
                        <a:rPr lang="en-IN" sz="1600" dirty="0">
                          <a:solidFill>
                            <a:schemeClr val="bg1"/>
                          </a:solidFill>
                        </a:rPr>
                        <a:t>-0.359</a:t>
                      </a:r>
                    </a:p>
                  </a:txBody>
                  <a:tcPr marL="38965" marR="38965" marT="19482" marB="19482" anchor="ctr"/>
                </a:tc>
                <a:extLst>
                  <a:ext uri="{0D108BD9-81ED-4DB2-BD59-A6C34878D82A}">
                    <a16:rowId xmlns:a16="http://schemas.microsoft.com/office/drawing/2014/main" val="2493244973"/>
                  </a:ext>
                </a:extLst>
              </a:tr>
              <a:tr h="332946">
                <a:tc>
                  <a:txBody>
                    <a:bodyPr/>
                    <a:lstStyle/>
                    <a:p>
                      <a:pPr>
                        <a:buNone/>
                      </a:pPr>
                      <a:r>
                        <a:rPr lang="en-IN" sz="1200">
                          <a:solidFill>
                            <a:schemeClr val="bg1"/>
                          </a:solidFill>
                        </a:rPr>
                        <a:t>stress_score_baseline</a:t>
                      </a:r>
                    </a:p>
                  </a:txBody>
                  <a:tcPr marL="38965" marR="38965" marT="19482" marB="19482" anchor="ctr"/>
                </a:tc>
                <a:tc>
                  <a:txBody>
                    <a:bodyPr/>
                    <a:lstStyle/>
                    <a:p>
                      <a:pPr>
                        <a:buNone/>
                      </a:pPr>
                      <a:r>
                        <a:rPr lang="en-IN" sz="1600">
                          <a:solidFill>
                            <a:schemeClr val="bg1"/>
                          </a:solidFill>
                        </a:rPr>
                        <a:t>0.005</a:t>
                      </a:r>
                    </a:p>
                  </a:txBody>
                  <a:tcPr marL="38965" marR="38965" marT="19482" marB="19482" anchor="ctr"/>
                </a:tc>
                <a:tc>
                  <a:txBody>
                    <a:bodyPr/>
                    <a:lstStyle/>
                    <a:p>
                      <a:pPr>
                        <a:buNone/>
                      </a:pPr>
                      <a:r>
                        <a:rPr lang="en-IN" sz="1600" dirty="0">
                          <a:solidFill>
                            <a:schemeClr val="bg1"/>
                          </a:solidFill>
                        </a:rPr>
                        <a:t>0.009</a:t>
                      </a:r>
                    </a:p>
                  </a:txBody>
                  <a:tcPr marL="38965" marR="38965" marT="19482" marB="19482" anchor="ctr"/>
                </a:tc>
                <a:tc>
                  <a:txBody>
                    <a:bodyPr/>
                    <a:lstStyle/>
                    <a:p>
                      <a:pPr>
                        <a:buNone/>
                      </a:pPr>
                      <a:r>
                        <a:rPr lang="en-IN" sz="1600" dirty="0">
                          <a:solidFill>
                            <a:schemeClr val="bg1"/>
                          </a:solidFill>
                        </a:rPr>
                        <a:t>0.598</a:t>
                      </a:r>
                    </a:p>
                  </a:txBody>
                  <a:tcPr marL="38965" marR="38965" marT="19482" marB="19482" anchor="ctr"/>
                </a:tc>
                <a:tc>
                  <a:txBody>
                    <a:bodyPr/>
                    <a:lstStyle/>
                    <a:p>
                      <a:pPr>
                        <a:buNone/>
                      </a:pPr>
                      <a:r>
                        <a:rPr lang="en-IN" sz="1600" dirty="0">
                          <a:solidFill>
                            <a:schemeClr val="bg1"/>
                          </a:solidFill>
                        </a:rPr>
                        <a:t>0.550</a:t>
                      </a:r>
                    </a:p>
                  </a:txBody>
                  <a:tcPr marL="38965" marR="38965" marT="19482" marB="19482" anchor="ctr"/>
                </a:tc>
                <a:tc>
                  <a:txBody>
                    <a:bodyPr/>
                    <a:lstStyle/>
                    <a:p>
                      <a:pPr>
                        <a:buNone/>
                      </a:pPr>
                      <a:r>
                        <a:rPr lang="en-IN" sz="1600" dirty="0">
                          <a:solidFill>
                            <a:schemeClr val="bg1"/>
                          </a:solidFill>
                        </a:rPr>
                        <a:t>-0.012</a:t>
                      </a:r>
                    </a:p>
                  </a:txBody>
                  <a:tcPr marL="38965" marR="38965" marT="19482" marB="19482" anchor="ctr"/>
                </a:tc>
                <a:tc>
                  <a:txBody>
                    <a:bodyPr/>
                    <a:lstStyle/>
                    <a:p>
                      <a:pPr>
                        <a:buNone/>
                      </a:pPr>
                      <a:r>
                        <a:rPr lang="en-IN" sz="1600" dirty="0">
                          <a:solidFill>
                            <a:schemeClr val="bg1"/>
                          </a:solidFill>
                        </a:rPr>
                        <a:t>0.022</a:t>
                      </a:r>
                    </a:p>
                  </a:txBody>
                  <a:tcPr marL="38965" marR="38965" marT="19482" marB="19482" anchor="ctr"/>
                </a:tc>
                <a:extLst>
                  <a:ext uri="{0D108BD9-81ED-4DB2-BD59-A6C34878D82A}">
                    <a16:rowId xmlns:a16="http://schemas.microsoft.com/office/drawing/2014/main" val="2444511390"/>
                  </a:ext>
                </a:extLst>
              </a:tr>
              <a:tr h="332946">
                <a:tc>
                  <a:txBody>
                    <a:bodyPr/>
                    <a:lstStyle/>
                    <a:p>
                      <a:pPr>
                        <a:buNone/>
                      </a:pPr>
                      <a:r>
                        <a:rPr lang="en-IN" sz="1200">
                          <a:solidFill>
                            <a:schemeClr val="bg1"/>
                          </a:solidFill>
                        </a:rPr>
                        <a:t>energy_level</a:t>
                      </a:r>
                    </a:p>
                  </a:txBody>
                  <a:tcPr marL="38965" marR="38965" marT="19482" marB="19482" anchor="ctr"/>
                </a:tc>
                <a:tc>
                  <a:txBody>
                    <a:bodyPr/>
                    <a:lstStyle/>
                    <a:p>
                      <a:pPr>
                        <a:buNone/>
                      </a:pPr>
                      <a:r>
                        <a:rPr lang="en-IN" sz="1600">
                          <a:solidFill>
                            <a:schemeClr val="bg1"/>
                          </a:solidFill>
                        </a:rPr>
                        <a:t>-0.059</a:t>
                      </a:r>
                    </a:p>
                  </a:txBody>
                  <a:tcPr marL="38965" marR="38965" marT="19482" marB="19482" anchor="ctr"/>
                </a:tc>
                <a:tc>
                  <a:txBody>
                    <a:bodyPr/>
                    <a:lstStyle/>
                    <a:p>
                      <a:pPr>
                        <a:buNone/>
                      </a:pPr>
                      <a:r>
                        <a:rPr lang="en-IN" sz="1600" dirty="0">
                          <a:solidFill>
                            <a:schemeClr val="bg1"/>
                          </a:solidFill>
                        </a:rPr>
                        <a:t>0.004</a:t>
                      </a:r>
                    </a:p>
                  </a:txBody>
                  <a:tcPr marL="38965" marR="38965" marT="19482" marB="19482" anchor="ctr"/>
                </a:tc>
                <a:tc>
                  <a:txBody>
                    <a:bodyPr/>
                    <a:lstStyle/>
                    <a:p>
                      <a:pPr>
                        <a:buNone/>
                      </a:pPr>
                      <a:r>
                        <a:rPr lang="en-IN" sz="1600">
                          <a:solidFill>
                            <a:schemeClr val="bg1"/>
                          </a:solidFill>
                        </a:rPr>
                        <a:t>-15.703</a:t>
                      </a:r>
                    </a:p>
                  </a:txBody>
                  <a:tcPr marL="38965" marR="38965" marT="19482" marB="19482" anchor="ctr"/>
                </a:tc>
                <a:tc>
                  <a:txBody>
                    <a:bodyPr/>
                    <a:lstStyle/>
                    <a:p>
                      <a:pPr>
                        <a:buNone/>
                      </a:pPr>
                      <a:r>
                        <a:rPr lang="en-IN" sz="1600" dirty="0">
                          <a:solidFill>
                            <a:schemeClr val="bg1"/>
                          </a:solidFill>
                        </a:rPr>
                        <a:t>0.000</a:t>
                      </a:r>
                    </a:p>
                  </a:txBody>
                  <a:tcPr marL="38965" marR="38965" marT="19482" marB="19482" anchor="ctr"/>
                </a:tc>
                <a:tc>
                  <a:txBody>
                    <a:bodyPr/>
                    <a:lstStyle/>
                    <a:p>
                      <a:pPr>
                        <a:buNone/>
                      </a:pPr>
                      <a:r>
                        <a:rPr lang="en-IN" sz="1600" dirty="0">
                          <a:solidFill>
                            <a:schemeClr val="bg1"/>
                          </a:solidFill>
                        </a:rPr>
                        <a:t>-0.067</a:t>
                      </a:r>
                    </a:p>
                  </a:txBody>
                  <a:tcPr marL="38965" marR="38965" marT="19482" marB="19482" anchor="ctr"/>
                </a:tc>
                <a:tc>
                  <a:txBody>
                    <a:bodyPr/>
                    <a:lstStyle/>
                    <a:p>
                      <a:pPr>
                        <a:buNone/>
                      </a:pPr>
                      <a:r>
                        <a:rPr lang="en-IN" sz="1600" dirty="0">
                          <a:solidFill>
                            <a:schemeClr val="bg1"/>
                          </a:solidFill>
                        </a:rPr>
                        <a:t>-0.052</a:t>
                      </a:r>
                    </a:p>
                  </a:txBody>
                  <a:tcPr marL="38965" marR="38965" marT="19482" marB="19482" anchor="ctr"/>
                </a:tc>
                <a:extLst>
                  <a:ext uri="{0D108BD9-81ED-4DB2-BD59-A6C34878D82A}">
                    <a16:rowId xmlns:a16="http://schemas.microsoft.com/office/drawing/2014/main" val="2301776622"/>
                  </a:ext>
                </a:extLst>
              </a:tr>
              <a:tr h="332946">
                <a:tc>
                  <a:txBody>
                    <a:bodyPr/>
                    <a:lstStyle/>
                    <a:p>
                      <a:pPr>
                        <a:buNone/>
                      </a:pPr>
                      <a:r>
                        <a:rPr lang="en-IN" sz="1200">
                          <a:solidFill>
                            <a:schemeClr val="bg1"/>
                          </a:solidFill>
                        </a:rPr>
                        <a:t>concentration_score</a:t>
                      </a:r>
                    </a:p>
                  </a:txBody>
                  <a:tcPr marL="38965" marR="38965" marT="19482" marB="19482" anchor="ctr"/>
                </a:tc>
                <a:tc>
                  <a:txBody>
                    <a:bodyPr/>
                    <a:lstStyle/>
                    <a:p>
                      <a:pPr>
                        <a:buNone/>
                      </a:pPr>
                      <a:r>
                        <a:rPr lang="en-IN" sz="1600">
                          <a:solidFill>
                            <a:schemeClr val="bg1"/>
                          </a:solidFill>
                        </a:rPr>
                        <a:t>-0.087</a:t>
                      </a:r>
                    </a:p>
                  </a:txBody>
                  <a:tcPr marL="38965" marR="38965" marT="19482" marB="19482" anchor="ctr"/>
                </a:tc>
                <a:tc>
                  <a:txBody>
                    <a:bodyPr/>
                    <a:lstStyle/>
                    <a:p>
                      <a:pPr>
                        <a:buNone/>
                      </a:pPr>
                      <a:r>
                        <a:rPr lang="en-IN" sz="1600" dirty="0">
                          <a:solidFill>
                            <a:schemeClr val="bg1"/>
                          </a:solidFill>
                        </a:rPr>
                        <a:t>0.005</a:t>
                      </a:r>
                    </a:p>
                  </a:txBody>
                  <a:tcPr marL="38965" marR="38965" marT="19482" marB="19482" anchor="ctr"/>
                </a:tc>
                <a:tc>
                  <a:txBody>
                    <a:bodyPr/>
                    <a:lstStyle/>
                    <a:p>
                      <a:pPr>
                        <a:buNone/>
                      </a:pPr>
                      <a:r>
                        <a:rPr lang="en-IN" sz="1600" dirty="0">
                          <a:solidFill>
                            <a:schemeClr val="bg1"/>
                          </a:solidFill>
                        </a:rPr>
                        <a:t>-18.922</a:t>
                      </a:r>
                    </a:p>
                  </a:txBody>
                  <a:tcPr marL="38965" marR="38965" marT="19482" marB="19482" anchor="ctr"/>
                </a:tc>
                <a:tc>
                  <a:txBody>
                    <a:bodyPr/>
                    <a:lstStyle/>
                    <a:p>
                      <a:pPr>
                        <a:buNone/>
                      </a:pPr>
                      <a:r>
                        <a:rPr lang="en-IN" sz="1600">
                          <a:solidFill>
                            <a:schemeClr val="bg1"/>
                          </a:solidFill>
                        </a:rPr>
                        <a:t>0.000</a:t>
                      </a:r>
                    </a:p>
                  </a:txBody>
                  <a:tcPr marL="38965" marR="38965" marT="19482" marB="19482" anchor="ctr"/>
                </a:tc>
                <a:tc>
                  <a:txBody>
                    <a:bodyPr/>
                    <a:lstStyle/>
                    <a:p>
                      <a:pPr>
                        <a:buNone/>
                      </a:pPr>
                      <a:r>
                        <a:rPr lang="en-IN" sz="1600">
                          <a:solidFill>
                            <a:schemeClr val="bg1"/>
                          </a:solidFill>
                        </a:rPr>
                        <a:t>-0.096</a:t>
                      </a:r>
                    </a:p>
                  </a:txBody>
                  <a:tcPr marL="38965" marR="38965" marT="19482" marB="19482" anchor="ctr"/>
                </a:tc>
                <a:tc>
                  <a:txBody>
                    <a:bodyPr/>
                    <a:lstStyle/>
                    <a:p>
                      <a:pPr>
                        <a:buNone/>
                      </a:pPr>
                      <a:r>
                        <a:rPr lang="en-IN" sz="1600" dirty="0">
                          <a:solidFill>
                            <a:schemeClr val="bg1"/>
                          </a:solidFill>
                        </a:rPr>
                        <a:t>-0.078</a:t>
                      </a:r>
                    </a:p>
                  </a:txBody>
                  <a:tcPr marL="38965" marR="38965" marT="19482" marB="19482" anchor="ctr"/>
                </a:tc>
                <a:extLst>
                  <a:ext uri="{0D108BD9-81ED-4DB2-BD59-A6C34878D82A}">
                    <a16:rowId xmlns:a16="http://schemas.microsoft.com/office/drawing/2014/main" val="2439154059"/>
                  </a:ext>
                </a:extLst>
              </a:tr>
              <a:tr h="332946">
                <a:tc>
                  <a:txBody>
                    <a:bodyPr/>
                    <a:lstStyle/>
                    <a:p>
                      <a:pPr>
                        <a:buNone/>
                      </a:pPr>
                      <a:r>
                        <a:rPr lang="en-IN" sz="1200">
                          <a:solidFill>
                            <a:schemeClr val="bg1"/>
                          </a:solidFill>
                        </a:rPr>
                        <a:t>overall_health_score</a:t>
                      </a:r>
                    </a:p>
                  </a:txBody>
                  <a:tcPr marL="38965" marR="38965" marT="19482" marB="19482" anchor="ctr"/>
                </a:tc>
                <a:tc>
                  <a:txBody>
                    <a:bodyPr/>
                    <a:lstStyle/>
                    <a:p>
                      <a:pPr>
                        <a:buNone/>
                      </a:pPr>
                      <a:r>
                        <a:rPr lang="en-IN" sz="1600">
                          <a:solidFill>
                            <a:schemeClr val="bg1"/>
                          </a:solidFill>
                        </a:rPr>
                        <a:t>-1.914</a:t>
                      </a:r>
                    </a:p>
                  </a:txBody>
                  <a:tcPr marL="38965" marR="38965" marT="19482" marB="19482" anchor="ctr"/>
                </a:tc>
                <a:tc>
                  <a:txBody>
                    <a:bodyPr/>
                    <a:lstStyle/>
                    <a:p>
                      <a:pPr>
                        <a:buNone/>
                      </a:pPr>
                      <a:r>
                        <a:rPr lang="en-IN" sz="1600" dirty="0">
                          <a:solidFill>
                            <a:schemeClr val="bg1"/>
                          </a:solidFill>
                        </a:rPr>
                        <a:t>0.014</a:t>
                      </a:r>
                    </a:p>
                  </a:txBody>
                  <a:tcPr marL="38965" marR="38965" marT="19482" marB="19482" anchor="ctr"/>
                </a:tc>
                <a:tc>
                  <a:txBody>
                    <a:bodyPr/>
                    <a:lstStyle/>
                    <a:p>
                      <a:pPr>
                        <a:buNone/>
                      </a:pPr>
                      <a:r>
                        <a:rPr lang="en-IN" sz="1600" dirty="0">
                          <a:solidFill>
                            <a:schemeClr val="bg1"/>
                          </a:solidFill>
                        </a:rPr>
                        <a:t>-132.562</a:t>
                      </a:r>
                    </a:p>
                  </a:txBody>
                  <a:tcPr marL="38965" marR="38965" marT="19482" marB="19482" anchor="ctr"/>
                </a:tc>
                <a:tc>
                  <a:txBody>
                    <a:bodyPr/>
                    <a:lstStyle/>
                    <a:p>
                      <a:pPr>
                        <a:buNone/>
                      </a:pPr>
                      <a:r>
                        <a:rPr lang="en-IN" sz="1600" dirty="0">
                          <a:solidFill>
                            <a:schemeClr val="bg1"/>
                          </a:solidFill>
                        </a:rPr>
                        <a:t>0.000</a:t>
                      </a:r>
                    </a:p>
                  </a:txBody>
                  <a:tcPr marL="38965" marR="38965" marT="19482" marB="19482" anchor="ctr"/>
                </a:tc>
                <a:tc>
                  <a:txBody>
                    <a:bodyPr/>
                    <a:lstStyle/>
                    <a:p>
                      <a:pPr>
                        <a:buNone/>
                      </a:pPr>
                      <a:r>
                        <a:rPr lang="en-IN" sz="1600">
                          <a:solidFill>
                            <a:schemeClr val="bg1"/>
                          </a:solidFill>
                        </a:rPr>
                        <a:t>-1.942</a:t>
                      </a:r>
                    </a:p>
                  </a:txBody>
                  <a:tcPr marL="38965" marR="38965" marT="19482" marB="19482" anchor="ctr"/>
                </a:tc>
                <a:tc>
                  <a:txBody>
                    <a:bodyPr/>
                    <a:lstStyle/>
                    <a:p>
                      <a:pPr>
                        <a:buNone/>
                      </a:pPr>
                      <a:r>
                        <a:rPr lang="en-IN" sz="1600" dirty="0">
                          <a:solidFill>
                            <a:schemeClr val="bg1"/>
                          </a:solidFill>
                        </a:rPr>
                        <a:t>-1.886</a:t>
                      </a:r>
                    </a:p>
                  </a:txBody>
                  <a:tcPr marL="38965" marR="38965" marT="19482" marB="19482" anchor="ctr"/>
                </a:tc>
                <a:extLst>
                  <a:ext uri="{0D108BD9-81ED-4DB2-BD59-A6C34878D82A}">
                    <a16:rowId xmlns:a16="http://schemas.microsoft.com/office/drawing/2014/main" val="3240574202"/>
                  </a:ext>
                </a:extLst>
              </a:tr>
              <a:tr h="332946">
                <a:tc>
                  <a:txBody>
                    <a:bodyPr/>
                    <a:lstStyle/>
                    <a:p>
                      <a:pPr>
                        <a:buNone/>
                      </a:pPr>
                      <a:r>
                        <a:rPr lang="en-IN" sz="1200">
                          <a:solidFill>
                            <a:schemeClr val="bg1"/>
                          </a:solidFill>
                        </a:rPr>
                        <a:t>prepared_before_period</a:t>
                      </a:r>
                    </a:p>
                  </a:txBody>
                  <a:tcPr marL="38965" marR="38965" marT="19482" marB="19482" anchor="ctr"/>
                </a:tc>
                <a:tc>
                  <a:txBody>
                    <a:bodyPr/>
                    <a:lstStyle/>
                    <a:p>
                      <a:pPr>
                        <a:buNone/>
                      </a:pPr>
                      <a:r>
                        <a:rPr lang="en-IN" sz="1600">
                          <a:solidFill>
                            <a:schemeClr val="bg1"/>
                          </a:solidFill>
                        </a:rPr>
                        <a:t>0.006</a:t>
                      </a:r>
                    </a:p>
                  </a:txBody>
                  <a:tcPr marL="38965" marR="38965" marT="19482" marB="19482" anchor="ctr"/>
                </a:tc>
                <a:tc>
                  <a:txBody>
                    <a:bodyPr/>
                    <a:lstStyle/>
                    <a:p>
                      <a:pPr>
                        <a:buNone/>
                      </a:pPr>
                      <a:r>
                        <a:rPr lang="en-IN" sz="1600" dirty="0">
                          <a:solidFill>
                            <a:schemeClr val="bg1"/>
                          </a:solidFill>
                        </a:rPr>
                        <a:t>0.009</a:t>
                      </a:r>
                    </a:p>
                  </a:txBody>
                  <a:tcPr marL="38965" marR="38965" marT="19482" marB="19482" anchor="ctr"/>
                </a:tc>
                <a:tc>
                  <a:txBody>
                    <a:bodyPr/>
                    <a:lstStyle/>
                    <a:p>
                      <a:pPr>
                        <a:buNone/>
                      </a:pPr>
                      <a:r>
                        <a:rPr lang="en-IN" sz="1600" dirty="0">
                          <a:solidFill>
                            <a:schemeClr val="bg1"/>
                          </a:solidFill>
                        </a:rPr>
                        <a:t>0.599</a:t>
                      </a:r>
                    </a:p>
                  </a:txBody>
                  <a:tcPr marL="38965" marR="38965" marT="19482" marB="19482" anchor="ctr"/>
                </a:tc>
                <a:tc>
                  <a:txBody>
                    <a:bodyPr/>
                    <a:lstStyle/>
                    <a:p>
                      <a:pPr>
                        <a:buNone/>
                      </a:pPr>
                      <a:r>
                        <a:rPr lang="en-IN" sz="1600" dirty="0">
                          <a:solidFill>
                            <a:schemeClr val="bg1"/>
                          </a:solidFill>
                        </a:rPr>
                        <a:t>0.549</a:t>
                      </a:r>
                    </a:p>
                  </a:txBody>
                  <a:tcPr marL="38965" marR="38965" marT="19482" marB="19482" anchor="ctr"/>
                </a:tc>
                <a:tc>
                  <a:txBody>
                    <a:bodyPr/>
                    <a:lstStyle/>
                    <a:p>
                      <a:pPr>
                        <a:buNone/>
                      </a:pPr>
                      <a:r>
                        <a:rPr lang="en-IN" sz="1600">
                          <a:solidFill>
                            <a:schemeClr val="bg1"/>
                          </a:solidFill>
                        </a:rPr>
                        <a:t>-0.013</a:t>
                      </a:r>
                    </a:p>
                  </a:txBody>
                  <a:tcPr marL="38965" marR="38965" marT="19482" marB="19482" anchor="ctr"/>
                </a:tc>
                <a:tc>
                  <a:txBody>
                    <a:bodyPr/>
                    <a:lstStyle/>
                    <a:p>
                      <a:pPr>
                        <a:buNone/>
                      </a:pPr>
                      <a:r>
                        <a:rPr lang="en-IN" sz="1600" dirty="0">
                          <a:solidFill>
                            <a:schemeClr val="bg1"/>
                          </a:solidFill>
                        </a:rPr>
                        <a:t>0.024</a:t>
                      </a:r>
                    </a:p>
                  </a:txBody>
                  <a:tcPr marL="38965" marR="38965" marT="19482" marB="19482" anchor="ctr"/>
                </a:tc>
                <a:extLst>
                  <a:ext uri="{0D108BD9-81ED-4DB2-BD59-A6C34878D82A}">
                    <a16:rowId xmlns:a16="http://schemas.microsoft.com/office/drawing/2014/main" val="431344667"/>
                  </a:ext>
                </a:extLst>
              </a:tr>
              <a:tr h="332946">
                <a:tc>
                  <a:txBody>
                    <a:bodyPr/>
                    <a:lstStyle/>
                    <a:p>
                      <a:pPr>
                        <a:buNone/>
                      </a:pPr>
                      <a:r>
                        <a:rPr lang="en-IN" sz="1200">
                          <a:solidFill>
                            <a:schemeClr val="bg1"/>
                          </a:solidFill>
                        </a:rPr>
                        <a:t>sleep_hours</a:t>
                      </a:r>
                    </a:p>
                  </a:txBody>
                  <a:tcPr marL="38965" marR="38965" marT="19482" marB="19482" anchor="ctr"/>
                </a:tc>
                <a:tc>
                  <a:txBody>
                    <a:bodyPr/>
                    <a:lstStyle/>
                    <a:p>
                      <a:pPr>
                        <a:buNone/>
                      </a:pPr>
                      <a:r>
                        <a:rPr lang="en-IN" sz="1600">
                          <a:solidFill>
                            <a:schemeClr val="bg1"/>
                          </a:solidFill>
                        </a:rPr>
                        <a:t>0.136</a:t>
                      </a:r>
                    </a:p>
                  </a:txBody>
                  <a:tcPr marL="38965" marR="38965" marT="19482" marB="19482" anchor="ctr"/>
                </a:tc>
                <a:tc>
                  <a:txBody>
                    <a:bodyPr/>
                    <a:lstStyle/>
                    <a:p>
                      <a:pPr>
                        <a:buNone/>
                      </a:pPr>
                      <a:r>
                        <a:rPr lang="en-IN" sz="1600">
                          <a:solidFill>
                            <a:schemeClr val="bg1"/>
                          </a:solidFill>
                        </a:rPr>
                        <a:t>0.012</a:t>
                      </a:r>
                    </a:p>
                  </a:txBody>
                  <a:tcPr marL="38965" marR="38965" marT="19482" marB="19482" anchor="ctr"/>
                </a:tc>
                <a:tc>
                  <a:txBody>
                    <a:bodyPr/>
                    <a:lstStyle/>
                    <a:p>
                      <a:pPr>
                        <a:buNone/>
                      </a:pPr>
                      <a:r>
                        <a:rPr lang="en-IN" sz="1600" dirty="0">
                          <a:solidFill>
                            <a:schemeClr val="bg1"/>
                          </a:solidFill>
                        </a:rPr>
                        <a:t>11.531</a:t>
                      </a:r>
                    </a:p>
                  </a:txBody>
                  <a:tcPr marL="38965" marR="38965" marT="19482" marB="19482" anchor="ctr"/>
                </a:tc>
                <a:tc>
                  <a:txBody>
                    <a:bodyPr/>
                    <a:lstStyle/>
                    <a:p>
                      <a:pPr>
                        <a:buNone/>
                      </a:pPr>
                      <a:r>
                        <a:rPr lang="en-IN" sz="1600" dirty="0">
                          <a:solidFill>
                            <a:schemeClr val="bg1"/>
                          </a:solidFill>
                        </a:rPr>
                        <a:t>0.000</a:t>
                      </a:r>
                    </a:p>
                  </a:txBody>
                  <a:tcPr marL="38965" marR="38965" marT="19482" marB="19482" anchor="ctr"/>
                </a:tc>
                <a:tc>
                  <a:txBody>
                    <a:bodyPr/>
                    <a:lstStyle/>
                    <a:p>
                      <a:pPr>
                        <a:buNone/>
                      </a:pPr>
                      <a:r>
                        <a:rPr lang="en-IN" sz="1600">
                          <a:solidFill>
                            <a:schemeClr val="bg1"/>
                          </a:solidFill>
                        </a:rPr>
                        <a:t>0.113</a:t>
                      </a:r>
                    </a:p>
                  </a:txBody>
                  <a:tcPr marL="38965" marR="38965" marT="19482" marB="19482" anchor="ctr"/>
                </a:tc>
                <a:tc>
                  <a:txBody>
                    <a:bodyPr/>
                    <a:lstStyle/>
                    <a:p>
                      <a:pPr>
                        <a:buNone/>
                      </a:pPr>
                      <a:r>
                        <a:rPr lang="en-IN" sz="1600" dirty="0">
                          <a:solidFill>
                            <a:schemeClr val="bg1"/>
                          </a:solidFill>
                        </a:rPr>
                        <a:t>0.160</a:t>
                      </a:r>
                    </a:p>
                  </a:txBody>
                  <a:tcPr marL="38965" marR="38965" marT="19482" marB="19482" anchor="ctr"/>
                </a:tc>
                <a:extLst>
                  <a:ext uri="{0D108BD9-81ED-4DB2-BD59-A6C34878D82A}">
                    <a16:rowId xmlns:a16="http://schemas.microsoft.com/office/drawing/2014/main" val="2595188883"/>
                  </a:ext>
                </a:extLst>
              </a:tr>
              <a:tr h="332946">
                <a:tc>
                  <a:txBody>
                    <a:bodyPr/>
                    <a:lstStyle/>
                    <a:p>
                      <a:pPr>
                        <a:buNone/>
                      </a:pPr>
                      <a:r>
                        <a:rPr lang="en-IN" sz="1200">
                          <a:solidFill>
                            <a:schemeClr val="bg1"/>
                          </a:solidFill>
                        </a:rPr>
                        <a:t>diet_quality</a:t>
                      </a:r>
                    </a:p>
                  </a:txBody>
                  <a:tcPr marL="38965" marR="38965" marT="19482" marB="19482" anchor="ctr"/>
                </a:tc>
                <a:tc>
                  <a:txBody>
                    <a:bodyPr/>
                    <a:lstStyle/>
                    <a:p>
                      <a:pPr>
                        <a:buNone/>
                      </a:pPr>
                      <a:r>
                        <a:rPr lang="en-IN" sz="1600">
                          <a:solidFill>
                            <a:schemeClr val="bg1"/>
                          </a:solidFill>
                        </a:rPr>
                        <a:t>-0.004</a:t>
                      </a:r>
                    </a:p>
                  </a:txBody>
                  <a:tcPr marL="38965" marR="38965" marT="19482" marB="19482" anchor="ctr"/>
                </a:tc>
                <a:tc>
                  <a:txBody>
                    <a:bodyPr/>
                    <a:lstStyle/>
                    <a:p>
                      <a:pPr>
                        <a:buNone/>
                      </a:pPr>
                      <a:r>
                        <a:rPr lang="en-IN" sz="1600">
                          <a:solidFill>
                            <a:schemeClr val="bg1"/>
                          </a:solidFill>
                        </a:rPr>
                        <a:t>0.014</a:t>
                      </a:r>
                    </a:p>
                  </a:txBody>
                  <a:tcPr marL="38965" marR="38965" marT="19482" marB="19482" anchor="ctr"/>
                </a:tc>
                <a:tc>
                  <a:txBody>
                    <a:bodyPr/>
                    <a:lstStyle/>
                    <a:p>
                      <a:pPr>
                        <a:buNone/>
                      </a:pPr>
                      <a:r>
                        <a:rPr lang="en-IN" sz="1600" dirty="0">
                          <a:solidFill>
                            <a:schemeClr val="bg1"/>
                          </a:solidFill>
                        </a:rPr>
                        <a:t>-0.275</a:t>
                      </a:r>
                    </a:p>
                  </a:txBody>
                  <a:tcPr marL="38965" marR="38965" marT="19482" marB="19482" anchor="ctr"/>
                </a:tc>
                <a:tc>
                  <a:txBody>
                    <a:bodyPr/>
                    <a:lstStyle/>
                    <a:p>
                      <a:pPr>
                        <a:buNone/>
                      </a:pPr>
                      <a:r>
                        <a:rPr lang="en-IN" sz="1600" dirty="0">
                          <a:solidFill>
                            <a:schemeClr val="bg1"/>
                          </a:solidFill>
                        </a:rPr>
                        <a:t>0.784</a:t>
                      </a:r>
                    </a:p>
                  </a:txBody>
                  <a:tcPr marL="38965" marR="38965" marT="19482" marB="19482" anchor="ctr"/>
                </a:tc>
                <a:tc>
                  <a:txBody>
                    <a:bodyPr/>
                    <a:lstStyle/>
                    <a:p>
                      <a:pPr>
                        <a:buNone/>
                      </a:pPr>
                      <a:r>
                        <a:rPr lang="en-IN" sz="1600">
                          <a:solidFill>
                            <a:schemeClr val="bg1"/>
                          </a:solidFill>
                        </a:rPr>
                        <a:t>-0.031</a:t>
                      </a:r>
                    </a:p>
                  </a:txBody>
                  <a:tcPr marL="38965" marR="38965" marT="19482" marB="19482" anchor="ctr"/>
                </a:tc>
                <a:tc>
                  <a:txBody>
                    <a:bodyPr/>
                    <a:lstStyle/>
                    <a:p>
                      <a:pPr>
                        <a:buNone/>
                      </a:pPr>
                      <a:r>
                        <a:rPr lang="en-IN" sz="1600" dirty="0">
                          <a:solidFill>
                            <a:schemeClr val="bg1"/>
                          </a:solidFill>
                        </a:rPr>
                        <a:t>0.023</a:t>
                      </a:r>
                    </a:p>
                  </a:txBody>
                  <a:tcPr marL="38965" marR="38965" marT="19482" marB="19482" anchor="ctr"/>
                </a:tc>
                <a:extLst>
                  <a:ext uri="{0D108BD9-81ED-4DB2-BD59-A6C34878D82A}">
                    <a16:rowId xmlns:a16="http://schemas.microsoft.com/office/drawing/2014/main" val="212230946"/>
                  </a:ext>
                </a:extLst>
              </a:tr>
              <a:tr h="332946">
                <a:tc>
                  <a:txBody>
                    <a:bodyPr/>
                    <a:lstStyle/>
                    <a:p>
                      <a:pPr>
                        <a:buNone/>
                      </a:pPr>
                      <a:r>
                        <a:rPr lang="en-IN" sz="1200">
                          <a:solidFill>
                            <a:schemeClr val="bg1"/>
                          </a:solidFill>
                        </a:rPr>
                        <a:t>exercise_frequency</a:t>
                      </a:r>
                    </a:p>
                  </a:txBody>
                  <a:tcPr marL="38965" marR="38965" marT="19482" marB="19482" anchor="ctr"/>
                </a:tc>
                <a:tc>
                  <a:txBody>
                    <a:bodyPr/>
                    <a:lstStyle/>
                    <a:p>
                      <a:pPr>
                        <a:buNone/>
                      </a:pPr>
                      <a:r>
                        <a:rPr lang="en-IN" sz="1600">
                          <a:solidFill>
                            <a:schemeClr val="bg1"/>
                          </a:solidFill>
                        </a:rPr>
                        <a:t>-0.017</a:t>
                      </a:r>
                    </a:p>
                  </a:txBody>
                  <a:tcPr marL="38965" marR="38965" marT="19482" marB="19482" anchor="ctr"/>
                </a:tc>
                <a:tc>
                  <a:txBody>
                    <a:bodyPr/>
                    <a:lstStyle/>
                    <a:p>
                      <a:pPr>
                        <a:buNone/>
                      </a:pPr>
                      <a:r>
                        <a:rPr lang="en-IN" sz="1600">
                          <a:solidFill>
                            <a:schemeClr val="bg1"/>
                          </a:solidFill>
                        </a:rPr>
                        <a:t>0.015</a:t>
                      </a:r>
                    </a:p>
                  </a:txBody>
                  <a:tcPr marL="38965" marR="38965" marT="19482" marB="19482" anchor="ctr"/>
                </a:tc>
                <a:tc>
                  <a:txBody>
                    <a:bodyPr/>
                    <a:lstStyle/>
                    <a:p>
                      <a:pPr>
                        <a:buNone/>
                      </a:pPr>
                      <a:r>
                        <a:rPr lang="en-IN" sz="1600" dirty="0">
                          <a:solidFill>
                            <a:schemeClr val="bg1"/>
                          </a:solidFill>
                        </a:rPr>
                        <a:t>-1.089</a:t>
                      </a:r>
                    </a:p>
                  </a:txBody>
                  <a:tcPr marL="38965" marR="38965" marT="19482" marB="19482" anchor="ctr"/>
                </a:tc>
                <a:tc>
                  <a:txBody>
                    <a:bodyPr/>
                    <a:lstStyle/>
                    <a:p>
                      <a:pPr>
                        <a:buNone/>
                      </a:pPr>
                      <a:r>
                        <a:rPr lang="en-IN" sz="1600" dirty="0">
                          <a:solidFill>
                            <a:schemeClr val="bg1"/>
                          </a:solidFill>
                        </a:rPr>
                        <a:t>0.276</a:t>
                      </a:r>
                    </a:p>
                  </a:txBody>
                  <a:tcPr marL="38965" marR="38965" marT="19482" marB="19482" anchor="ctr"/>
                </a:tc>
                <a:tc>
                  <a:txBody>
                    <a:bodyPr/>
                    <a:lstStyle/>
                    <a:p>
                      <a:pPr>
                        <a:buNone/>
                      </a:pPr>
                      <a:r>
                        <a:rPr lang="en-IN" sz="1600">
                          <a:solidFill>
                            <a:schemeClr val="bg1"/>
                          </a:solidFill>
                        </a:rPr>
                        <a:t>-0.047</a:t>
                      </a:r>
                    </a:p>
                  </a:txBody>
                  <a:tcPr marL="38965" marR="38965" marT="19482" marB="19482" anchor="ctr"/>
                </a:tc>
                <a:tc>
                  <a:txBody>
                    <a:bodyPr/>
                    <a:lstStyle/>
                    <a:p>
                      <a:pPr>
                        <a:buNone/>
                      </a:pPr>
                      <a:r>
                        <a:rPr lang="en-IN" sz="1600" dirty="0">
                          <a:solidFill>
                            <a:schemeClr val="bg1"/>
                          </a:solidFill>
                        </a:rPr>
                        <a:t>0.013</a:t>
                      </a:r>
                    </a:p>
                  </a:txBody>
                  <a:tcPr marL="38965" marR="38965" marT="19482" marB="19482" anchor="ctr"/>
                </a:tc>
                <a:extLst>
                  <a:ext uri="{0D108BD9-81ED-4DB2-BD59-A6C34878D82A}">
                    <a16:rowId xmlns:a16="http://schemas.microsoft.com/office/drawing/2014/main" val="418252746"/>
                  </a:ext>
                </a:extLst>
              </a:tr>
              <a:tr h="332946">
                <a:tc>
                  <a:txBody>
                    <a:bodyPr/>
                    <a:lstStyle/>
                    <a:p>
                      <a:pPr>
                        <a:buNone/>
                      </a:pPr>
                      <a:r>
                        <a:rPr lang="en-IN" sz="1200">
                          <a:solidFill>
                            <a:schemeClr val="bg1"/>
                          </a:solidFill>
                        </a:rPr>
                        <a:t>sleep_hours_cycle</a:t>
                      </a:r>
                    </a:p>
                  </a:txBody>
                  <a:tcPr marL="38965" marR="38965" marT="19482" marB="19482" anchor="ctr"/>
                </a:tc>
                <a:tc>
                  <a:txBody>
                    <a:bodyPr/>
                    <a:lstStyle/>
                    <a:p>
                      <a:pPr>
                        <a:buNone/>
                      </a:pPr>
                      <a:r>
                        <a:rPr lang="en-IN" sz="1600">
                          <a:solidFill>
                            <a:schemeClr val="bg1"/>
                          </a:solidFill>
                        </a:rPr>
                        <a:t>0.202</a:t>
                      </a:r>
                    </a:p>
                  </a:txBody>
                  <a:tcPr marL="38965" marR="38965" marT="19482" marB="19482" anchor="ctr"/>
                </a:tc>
                <a:tc>
                  <a:txBody>
                    <a:bodyPr/>
                    <a:lstStyle/>
                    <a:p>
                      <a:pPr>
                        <a:buNone/>
                      </a:pPr>
                      <a:r>
                        <a:rPr lang="en-IN" sz="1600">
                          <a:solidFill>
                            <a:schemeClr val="bg1"/>
                          </a:solidFill>
                        </a:rPr>
                        <a:t>0.008</a:t>
                      </a:r>
                    </a:p>
                  </a:txBody>
                  <a:tcPr marL="38965" marR="38965" marT="19482" marB="19482" anchor="ctr"/>
                </a:tc>
                <a:tc>
                  <a:txBody>
                    <a:bodyPr/>
                    <a:lstStyle/>
                    <a:p>
                      <a:pPr>
                        <a:buNone/>
                      </a:pPr>
                      <a:r>
                        <a:rPr lang="en-IN" sz="1600" dirty="0">
                          <a:solidFill>
                            <a:schemeClr val="bg1"/>
                          </a:solidFill>
                        </a:rPr>
                        <a:t>24.438</a:t>
                      </a:r>
                    </a:p>
                  </a:txBody>
                  <a:tcPr marL="38965" marR="38965" marT="19482" marB="19482" anchor="ctr"/>
                </a:tc>
                <a:tc>
                  <a:txBody>
                    <a:bodyPr/>
                    <a:lstStyle/>
                    <a:p>
                      <a:pPr>
                        <a:buNone/>
                      </a:pPr>
                      <a:r>
                        <a:rPr lang="en-IN" sz="1600" dirty="0">
                          <a:solidFill>
                            <a:schemeClr val="bg1"/>
                          </a:solidFill>
                        </a:rPr>
                        <a:t>0.000</a:t>
                      </a:r>
                    </a:p>
                  </a:txBody>
                  <a:tcPr marL="38965" marR="38965" marT="19482" marB="19482" anchor="ctr"/>
                </a:tc>
                <a:tc>
                  <a:txBody>
                    <a:bodyPr/>
                    <a:lstStyle/>
                    <a:p>
                      <a:pPr>
                        <a:buNone/>
                      </a:pPr>
                      <a:r>
                        <a:rPr lang="en-IN" sz="1600" dirty="0">
                          <a:solidFill>
                            <a:schemeClr val="bg1"/>
                          </a:solidFill>
                        </a:rPr>
                        <a:t>0.186</a:t>
                      </a:r>
                    </a:p>
                  </a:txBody>
                  <a:tcPr marL="38965" marR="38965" marT="19482" marB="19482" anchor="ctr"/>
                </a:tc>
                <a:tc>
                  <a:txBody>
                    <a:bodyPr/>
                    <a:lstStyle/>
                    <a:p>
                      <a:pPr>
                        <a:buNone/>
                      </a:pPr>
                      <a:r>
                        <a:rPr lang="en-IN" sz="1600" dirty="0">
                          <a:solidFill>
                            <a:schemeClr val="bg1"/>
                          </a:solidFill>
                        </a:rPr>
                        <a:t>0.218</a:t>
                      </a:r>
                    </a:p>
                  </a:txBody>
                  <a:tcPr marL="38965" marR="38965" marT="19482" marB="19482" anchor="ctr"/>
                </a:tc>
                <a:extLst>
                  <a:ext uri="{0D108BD9-81ED-4DB2-BD59-A6C34878D82A}">
                    <a16:rowId xmlns:a16="http://schemas.microsoft.com/office/drawing/2014/main" val="847008215"/>
                  </a:ext>
                </a:extLst>
              </a:tr>
              <a:tr h="332946">
                <a:tc>
                  <a:txBody>
                    <a:bodyPr/>
                    <a:lstStyle/>
                    <a:p>
                      <a:pPr>
                        <a:buNone/>
                      </a:pPr>
                      <a:r>
                        <a:rPr lang="en-IN" sz="1200">
                          <a:solidFill>
                            <a:schemeClr val="bg1"/>
                          </a:solidFill>
                        </a:rPr>
                        <a:t>caffeine_intake</a:t>
                      </a:r>
                    </a:p>
                  </a:txBody>
                  <a:tcPr marL="38965" marR="38965" marT="19482" marB="19482" anchor="ctr"/>
                </a:tc>
                <a:tc>
                  <a:txBody>
                    <a:bodyPr/>
                    <a:lstStyle/>
                    <a:p>
                      <a:pPr>
                        <a:buNone/>
                      </a:pPr>
                      <a:r>
                        <a:rPr lang="en-IN" sz="1600">
                          <a:solidFill>
                            <a:schemeClr val="bg1"/>
                          </a:solidFill>
                        </a:rPr>
                        <a:t>0.005</a:t>
                      </a:r>
                    </a:p>
                  </a:txBody>
                  <a:tcPr marL="38965" marR="38965" marT="19482" marB="19482" anchor="ctr"/>
                </a:tc>
                <a:tc>
                  <a:txBody>
                    <a:bodyPr/>
                    <a:lstStyle/>
                    <a:p>
                      <a:pPr>
                        <a:buNone/>
                      </a:pPr>
                      <a:r>
                        <a:rPr lang="en-IN" sz="1600">
                          <a:solidFill>
                            <a:schemeClr val="bg1"/>
                          </a:solidFill>
                        </a:rPr>
                        <a:t>0.010</a:t>
                      </a:r>
                    </a:p>
                  </a:txBody>
                  <a:tcPr marL="38965" marR="38965" marT="19482" marB="19482" anchor="ctr"/>
                </a:tc>
                <a:tc>
                  <a:txBody>
                    <a:bodyPr/>
                    <a:lstStyle/>
                    <a:p>
                      <a:pPr>
                        <a:buNone/>
                      </a:pPr>
                      <a:r>
                        <a:rPr lang="en-IN" sz="1600" dirty="0">
                          <a:solidFill>
                            <a:schemeClr val="bg1"/>
                          </a:solidFill>
                        </a:rPr>
                        <a:t>0.451</a:t>
                      </a:r>
                    </a:p>
                  </a:txBody>
                  <a:tcPr marL="38965" marR="38965" marT="19482" marB="19482" anchor="ctr"/>
                </a:tc>
                <a:tc>
                  <a:txBody>
                    <a:bodyPr/>
                    <a:lstStyle/>
                    <a:p>
                      <a:pPr>
                        <a:buNone/>
                      </a:pPr>
                      <a:r>
                        <a:rPr lang="en-IN" sz="1600" dirty="0">
                          <a:solidFill>
                            <a:schemeClr val="bg1"/>
                          </a:solidFill>
                        </a:rPr>
                        <a:t>0.652</a:t>
                      </a:r>
                    </a:p>
                  </a:txBody>
                  <a:tcPr marL="38965" marR="38965" marT="19482" marB="19482" anchor="ctr"/>
                </a:tc>
                <a:tc>
                  <a:txBody>
                    <a:bodyPr/>
                    <a:lstStyle/>
                    <a:p>
                      <a:pPr>
                        <a:buNone/>
                      </a:pPr>
                      <a:r>
                        <a:rPr lang="en-IN" sz="1600" dirty="0">
                          <a:solidFill>
                            <a:schemeClr val="bg1"/>
                          </a:solidFill>
                        </a:rPr>
                        <a:t>-0.015</a:t>
                      </a:r>
                    </a:p>
                  </a:txBody>
                  <a:tcPr marL="38965" marR="38965" marT="19482" marB="19482" anchor="ctr"/>
                </a:tc>
                <a:tc>
                  <a:txBody>
                    <a:bodyPr/>
                    <a:lstStyle/>
                    <a:p>
                      <a:pPr>
                        <a:buNone/>
                      </a:pPr>
                      <a:r>
                        <a:rPr lang="en-IN" sz="1600" dirty="0">
                          <a:solidFill>
                            <a:schemeClr val="bg1"/>
                          </a:solidFill>
                        </a:rPr>
                        <a:t>0.025</a:t>
                      </a:r>
                    </a:p>
                  </a:txBody>
                  <a:tcPr marL="38965" marR="38965" marT="19482" marB="19482" anchor="ctr"/>
                </a:tc>
                <a:extLst>
                  <a:ext uri="{0D108BD9-81ED-4DB2-BD59-A6C34878D82A}">
                    <a16:rowId xmlns:a16="http://schemas.microsoft.com/office/drawing/2014/main" val="2862654054"/>
                  </a:ext>
                </a:extLst>
              </a:tr>
              <a:tr h="332946">
                <a:tc>
                  <a:txBody>
                    <a:bodyPr/>
                    <a:lstStyle/>
                    <a:p>
                      <a:pPr>
                        <a:buNone/>
                      </a:pPr>
                      <a:r>
                        <a:rPr lang="en-IN" sz="1200">
                          <a:solidFill>
                            <a:schemeClr val="bg1"/>
                          </a:solidFill>
                        </a:rPr>
                        <a:t>alcohol_consumption</a:t>
                      </a:r>
                    </a:p>
                  </a:txBody>
                  <a:tcPr marL="38965" marR="38965" marT="19482" marB="19482" anchor="ctr"/>
                </a:tc>
                <a:tc>
                  <a:txBody>
                    <a:bodyPr/>
                    <a:lstStyle/>
                    <a:p>
                      <a:pPr>
                        <a:buNone/>
                      </a:pPr>
                      <a:r>
                        <a:rPr lang="en-IN" sz="1600">
                          <a:solidFill>
                            <a:schemeClr val="bg1"/>
                          </a:solidFill>
                        </a:rPr>
                        <a:t>-0.003</a:t>
                      </a:r>
                    </a:p>
                  </a:txBody>
                  <a:tcPr marL="38965" marR="38965" marT="19482" marB="19482" anchor="ctr"/>
                </a:tc>
                <a:tc>
                  <a:txBody>
                    <a:bodyPr/>
                    <a:lstStyle/>
                    <a:p>
                      <a:pPr>
                        <a:buNone/>
                      </a:pPr>
                      <a:r>
                        <a:rPr lang="en-IN" sz="1600">
                          <a:solidFill>
                            <a:schemeClr val="bg1"/>
                          </a:solidFill>
                        </a:rPr>
                        <a:t>0.016</a:t>
                      </a:r>
                    </a:p>
                  </a:txBody>
                  <a:tcPr marL="38965" marR="38965" marT="19482" marB="19482" anchor="ctr"/>
                </a:tc>
                <a:tc>
                  <a:txBody>
                    <a:bodyPr/>
                    <a:lstStyle/>
                    <a:p>
                      <a:pPr>
                        <a:buNone/>
                      </a:pPr>
                      <a:r>
                        <a:rPr lang="en-IN" sz="1600">
                          <a:solidFill>
                            <a:schemeClr val="bg1"/>
                          </a:solidFill>
                        </a:rPr>
                        <a:t>-0.173</a:t>
                      </a:r>
                    </a:p>
                  </a:txBody>
                  <a:tcPr marL="38965" marR="38965" marT="19482" marB="19482" anchor="ctr"/>
                </a:tc>
                <a:tc>
                  <a:txBody>
                    <a:bodyPr/>
                    <a:lstStyle/>
                    <a:p>
                      <a:pPr>
                        <a:buNone/>
                      </a:pPr>
                      <a:r>
                        <a:rPr lang="en-IN" sz="1600" dirty="0">
                          <a:solidFill>
                            <a:schemeClr val="bg1"/>
                          </a:solidFill>
                        </a:rPr>
                        <a:t>0.862_</a:t>
                      </a:r>
                    </a:p>
                  </a:txBody>
                  <a:tcPr marL="38965" marR="38965" marT="19482" marB="19482" anchor="ctr"/>
                </a:tc>
                <a:tc>
                  <a:txBody>
                    <a:bodyPr/>
                    <a:lstStyle/>
                    <a:p>
                      <a:pPr>
                        <a:buNone/>
                      </a:pPr>
                      <a:endParaRPr lang="en-IN" sz="1600" dirty="0">
                        <a:solidFill>
                          <a:schemeClr val="bg1"/>
                        </a:solidFill>
                      </a:endParaRPr>
                    </a:p>
                  </a:txBody>
                  <a:tcPr marL="38965" marR="38965" marT="19482" marB="19482" anchor="ctr"/>
                </a:tc>
                <a:tc>
                  <a:txBody>
                    <a:bodyPr/>
                    <a:lstStyle/>
                    <a:p>
                      <a:pPr>
                        <a:buNone/>
                      </a:pPr>
                      <a:endParaRPr lang="en-IN" sz="1600" dirty="0">
                        <a:solidFill>
                          <a:schemeClr val="bg1"/>
                        </a:solidFill>
                      </a:endParaRPr>
                    </a:p>
                  </a:txBody>
                  <a:tcPr marL="38965" marR="38965" marT="19482" marB="19482" anchor="ctr"/>
                </a:tc>
                <a:extLst>
                  <a:ext uri="{0D108BD9-81ED-4DB2-BD59-A6C34878D82A}">
                    <a16:rowId xmlns:a16="http://schemas.microsoft.com/office/drawing/2014/main" val="2727567669"/>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764358" y="128832"/>
            <a:ext cx="13836611" cy="708779"/>
          </a:xfrm>
          <a:prstGeom prst="rect">
            <a:avLst/>
          </a:prstGeom>
          <a:noFill/>
          <a:ln/>
        </p:spPr>
        <p:txBody>
          <a:bodyPr wrap="none" lIns="0" tIns="0" rIns="0" bIns="0" rtlCol="0" anchor="t"/>
          <a:lstStyle/>
          <a:p>
            <a:pPr>
              <a:lnSpc>
                <a:spcPts val="5550"/>
              </a:lnSpc>
            </a:pPr>
            <a:r>
              <a:rPr lang="en-US" sz="3600" b="1" u="sng" dirty="0">
                <a:solidFill>
                  <a:srgbClr val="FFF8F5"/>
                </a:solidFill>
                <a:latin typeface="Algerian" panose="04020705040A02060702" pitchFamily="82" charset="0"/>
                <a:ea typeface="Noto Serif HK Bold" pitchFamily="34" charset="-122"/>
                <a:cs typeface="Noto Serif HK Bold" pitchFamily="34" charset="-120"/>
              </a:rPr>
              <a:t>SUMMARY  TABLE</a:t>
            </a:r>
            <a:endParaRPr lang="en-US" sz="3600" b="1" u="sng" dirty="0">
              <a:latin typeface="Algerian" panose="04020705040A02060702" pitchFamily="82" charset="0"/>
            </a:endParaRPr>
          </a:p>
        </p:txBody>
      </p:sp>
      <p:sp>
        <p:nvSpPr>
          <p:cNvPr id="4" name="Text 2"/>
          <p:cNvSpPr/>
          <p:nvPr/>
        </p:nvSpPr>
        <p:spPr>
          <a:xfrm>
            <a:off x="1133951" y="2075021"/>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5" name="Text 3"/>
          <p:cNvSpPr/>
          <p:nvPr/>
        </p:nvSpPr>
        <p:spPr>
          <a:xfrm>
            <a:off x="1133951" y="2565440"/>
            <a:ext cx="3818453" cy="72580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7" name="Text 5"/>
          <p:cNvSpPr/>
          <p:nvPr/>
        </p:nvSpPr>
        <p:spPr>
          <a:xfrm>
            <a:off x="5576054" y="2075021"/>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8" name="Text 6"/>
          <p:cNvSpPr/>
          <p:nvPr/>
        </p:nvSpPr>
        <p:spPr>
          <a:xfrm>
            <a:off x="5576054" y="2565440"/>
            <a:ext cx="3818453" cy="72580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10" name="Text 8"/>
          <p:cNvSpPr/>
          <p:nvPr/>
        </p:nvSpPr>
        <p:spPr>
          <a:xfrm>
            <a:off x="10018157" y="2075021"/>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3" name="Text 11"/>
          <p:cNvSpPr/>
          <p:nvPr/>
        </p:nvSpPr>
        <p:spPr>
          <a:xfrm>
            <a:off x="1133951" y="3744873"/>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4" name="Text 12"/>
          <p:cNvSpPr/>
          <p:nvPr/>
        </p:nvSpPr>
        <p:spPr>
          <a:xfrm>
            <a:off x="1133951" y="4235291"/>
            <a:ext cx="3818453" cy="72580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16" name="Text 14"/>
          <p:cNvSpPr/>
          <p:nvPr/>
        </p:nvSpPr>
        <p:spPr>
          <a:xfrm>
            <a:off x="5576054" y="3744873"/>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17" name="Text 15"/>
          <p:cNvSpPr/>
          <p:nvPr/>
        </p:nvSpPr>
        <p:spPr>
          <a:xfrm>
            <a:off x="5576054" y="4235291"/>
            <a:ext cx="3818453"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20" name="Text 18"/>
          <p:cNvSpPr/>
          <p:nvPr/>
        </p:nvSpPr>
        <p:spPr>
          <a:xfrm>
            <a:off x="10018157" y="4235291"/>
            <a:ext cx="3818453" cy="72580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21" name="Text 19"/>
          <p:cNvSpPr/>
          <p:nvPr/>
        </p:nvSpPr>
        <p:spPr>
          <a:xfrm>
            <a:off x="793790" y="5443061"/>
            <a:ext cx="2849047"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22" name="Text 20"/>
          <p:cNvSpPr/>
          <p:nvPr/>
        </p:nvSpPr>
        <p:spPr>
          <a:xfrm>
            <a:off x="793790" y="6024205"/>
            <a:ext cx="6244709"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23" name="Text 21"/>
          <p:cNvSpPr/>
          <p:nvPr/>
        </p:nvSpPr>
        <p:spPr>
          <a:xfrm>
            <a:off x="7599521" y="5443061"/>
            <a:ext cx="2835235" cy="354330"/>
          </a:xfrm>
          <a:prstGeom prst="rect">
            <a:avLst/>
          </a:prstGeom>
          <a:noFill/>
          <a:ln/>
        </p:spPr>
        <p:txBody>
          <a:bodyPr wrap="none" lIns="0" tIns="0" rIns="0" bIns="0" rtlCol="0" anchor="t"/>
          <a:lstStyle/>
          <a:p>
            <a:pPr marL="0" indent="0" algn="l">
              <a:lnSpc>
                <a:spcPts val="2750"/>
              </a:lnSpc>
              <a:buNone/>
            </a:pPr>
            <a:endParaRPr lang="en-US" sz="2200" dirty="0"/>
          </a:p>
        </p:txBody>
      </p:sp>
      <p:sp>
        <p:nvSpPr>
          <p:cNvPr id="24" name="Text 22"/>
          <p:cNvSpPr/>
          <p:nvPr/>
        </p:nvSpPr>
        <p:spPr>
          <a:xfrm>
            <a:off x="7599521" y="6024205"/>
            <a:ext cx="6244709" cy="72580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6" name="Shape 1">
            <a:extLst>
              <a:ext uri="{FF2B5EF4-FFF2-40B4-BE49-F238E27FC236}">
                <a16:creationId xmlns:a16="http://schemas.microsoft.com/office/drawing/2014/main" id="{962CBBE4-D918-687F-EAB5-25AFFC07664E}"/>
              </a:ext>
            </a:extLst>
          </p:cNvPr>
          <p:cNvSpPr/>
          <p:nvPr/>
        </p:nvSpPr>
        <p:spPr>
          <a:xfrm>
            <a:off x="1567770" y="1796611"/>
            <a:ext cx="11285622" cy="5240261"/>
          </a:xfrm>
          <a:prstGeom prst="roundRect">
            <a:avLst>
              <a:gd name="adj" fmla="val 2117"/>
            </a:avLst>
          </a:prstGeom>
          <a:solidFill>
            <a:srgbClr val="5F5153"/>
          </a:solidFill>
          <a:ln/>
        </p:spPr>
        <p:txBody>
          <a:bodyPr/>
          <a:lstStyle/>
          <a:p>
            <a:pPr lvl="0" eaLnBrk="0" fontAlgn="base" hangingPunct="0">
              <a:spcBef>
                <a:spcPct val="0"/>
              </a:spcBef>
              <a:spcAft>
                <a:spcPct val="0"/>
              </a:spcAft>
            </a:pPr>
            <a:endParaRPr lang="en-US" sz="2000" b="1" u="sng" dirty="0">
              <a:solidFill>
                <a:schemeClr val="bg1"/>
              </a:solidFill>
              <a:latin typeface="Times New Roman" panose="02020603050405020304" pitchFamily="18" charset="0"/>
              <a:cs typeface="Times New Roman" panose="02020603050405020304" pitchFamily="18" charset="0"/>
            </a:endParaRPr>
          </a:p>
          <a:p>
            <a:pPr algn="ctr">
              <a:buFont typeface="Arial" panose="020B0604020202020204" pitchFamily="34" charset="0"/>
              <a:buChar char="•"/>
            </a:pPr>
            <a:endParaRPr lang="en-US" sz="2000" dirty="0">
              <a:solidFill>
                <a:schemeClr val="bg1"/>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41E16281-2729-2F61-70E0-6DEC0C415757}"/>
              </a:ext>
            </a:extLst>
          </p:cNvPr>
          <p:cNvGraphicFramePr>
            <a:graphicFrameLocks noGrp="1"/>
          </p:cNvGraphicFramePr>
          <p:nvPr>
            <p:extLst>
              <p:ext uri="{D42A27DB-BD31-4B8C-83A1-F6EECF244321}">
                <p14:modId xmlns:p14="http://schemas.microsoft.com/office/powerpoint/2010/main" val="3776760899"/>
              </p:ext>
            </p:extLst>
          </p:nvPr>
        </p:nvGraphicFramePr>
        <p:xfrm>
          <a:off x="2067081" y="2565440"/>
          <a:ext cx="10287000" cy="3781461"/>
        </p:xfrm>
        <a:graphic>
          <a:graphicData uri="http://schemas.openxmlformats.org/drawingml/2006/table">
            <a:tbl>
              <a:tblPr firstRow="1" bandRow="1">
                <a:tableStyleId>{616DA210-FB5B-4158-B5E0-FEB733F419BA}</a:tableStyleId>
              </a:tblPr>
              <a:tblGrid>
                <a:gridCol w="2057400">
                  <a:extLst>
                    <a:ext uri="{9D8B030D-6E8A-4147-A177-3AD203B41FA5}">
                      <a16:colId xmlns:a16="http://schemas.microsoft.com/office/drawing/2014/main" val="2349407518"/>
                    </a:ext>
                  </a:extLst>
                </a:gridCol>
                <a:gridCol w="2057400">
                  <a:extLst>
                    <a:ext uri="{9D8B030D-6E8A-4147-A177-3AD203B41FA5}">
                      <a16:colId xmlns:a16="http://schemas.microsoft.com/office/drawing/2014/main" val="122139003"/>
                    </a:ext>
                  </a:extLst>
                </a:gridCol>
                <a:gridCol w="2057400">
                  <a:extLst>
                    <a:ext uri="{9D8B030D-6E8A-4147-A177-3AD203B41FA5}">
                      <a16:colId xmlns:a16="http://schemas.microsoft.com/office/drawing/2014/main" val="4271018088"/>
                    </a:ext>
                  </a:extLst>
                </a:gridCol>
                <a:gridCol w="2057400">
                  <a:extLst>
                    <a:ext uri="{9D8B030D-6E8A-4147-A177-3AD203B41FA5}">
                      <a16:colId xmlns:a16="http://schemas.microsoft.com/office/drawing/2014/main" val="680015680"/>
                    </a:ext>
                  </a:extLst>
                </a:gridCol>
                <a:gridCol w="2057400">
                  <a:extLst>
                    <a:ext uri="{9D8B030D-6E8A-4147-A177-3AD203B41FA5}">
                      <a16:colId xmlns:a16="http://schemas.microsoft.com/office/drawing/2014/main" val="375937602"/>
                    </a:ext>
                  </a:extLst>
                </a:gridCol>
              </a:tblGrid>
              <a:tr h="1156434">
                <a:tc>
                  <a:txBody>
                    <a:bodyPr/>
                    <a:lstStyle/>
                    <a:p>
                      <a:pPr>
                        <a:buNone/>
                      </a:pPr>
                      <a:r>
                        <a:rPr lang="en-IN" sz="2000" b="1" dirty="0">
                          <a:solidFill>
                            <a:schemeClr val="bg2">
                              <a:lumMod val="90000"/>
                            </a:schemeClr>
                          </a:solidFill>
                        </a:rPr>
                        <a:t>Metric</a:t>
                      </a:r>
                    </a:p>
                  </a:txBody>
                  <a:tcPr anchor="ctr"/>
                </a:tc>
                <a:tc>
                  <a:txBody>
                    <a:bodyPr/>
                    <a:lstStyle/>
                    <a:p>
                      <a:pPr>
                        <a:buNone/>
                      </a:pPr>
                      <a:r>
                        <a:rPr lang="en-IN" sz="2000" b="1">
                          <a:solidFill>
                            <a:schemeClr val="bg2">
                              <a:lumMod val="90000"/>
                            </a:schemeClr>
                          </a:solidFill>
                        </a:rPr>
                        <a:t>Model 1 (Basic)</a:t>
                      </a:r>
                    </a:p>
                  </a:txBody>
                  <a:tcPr anchor="ctr"/>
                </a:tc>
                <a:tc>
                  <a:txBody>
                    <a:bodyPr/>
                    <a:lstStyle/>
                    <a:p>
                      <a:pPr>
                        <a:buNone/>
                      </a:pPr>
                      <a:r>
                        <a:rPr lang="en-IN" sz="2000" b="1" dirty="0">
                          <a:solidFill>
                            <a:schemeClr val="bg2">
                              <a:lumMod val="90000"/>
                            </a:schemeClr>
                          </a:solidFill>
                        </a:rPr>
                        <a:t>Model 2 (Extended)</a:t>
                      </a:r>
                    </a:p>
                  </a:txBody>
                  <a:tcPr anchor="ctr"/>
                </a:tc>
                <a:tc>
                  <a:txBody>
                    <a:bodyPr/>
                    <a:lstStyle/>
                    <a:p>
                      <a:pPr>
                        <a:buNone/>
                      </a:pPr>
                      <a:r>
                        <a:rPr lang="en-IN" sz="2000" b="1">
                          <a:solidFill>
                            <a:schemeClr val="bg2">
                              <a:lumMod val="90000"/>
                            </a:schemeClr>
                          </a:solidFill>
                        </a:rPr>
                        <a:t>Model 3 (Full Model)</a:t>
                      </a:r>
                    </a:p>
                  </a:txBody>
                  <a:tcPr anchor="ctr"/>
                </a:tc>
                <a:tc>
                  <a:txBody>
                    <a:bodyPr/>
                    <a:lstStyle/>
                    <a:p>
                      <a:pPr>
                        <a:buNone/>
                      </a:pPr>
                      <a:r>
                        <a:rPr lang="en-IN" sz="2000" b="1">
                          <a:solidFill>
                            <a:schemeClr val="bg2">
                              <a:lumMod val="90000"/>
                            </a:schemeClr>
                          </a:solidFill>
                        </a:rPr>
                        <a:t>Model 4 (Enhanced)</a:t>
                      </a:r>
                    </a:p>
                  </a:txBody>
                  <a:tcPr anchor="ctr"/>
                </a:tc>
                <a:extLst>
                  <a:ext uri="{0D108BD9-81ED-4DB2-BD59-A6C34878D82A}">
                    <a16:rowId xmlns:a16="http://schemas.microsoft.com/office/drawing/2014/main" val="1146388739"/>
                  </a:ext>
                </a:extLst>
              </a:tr>
              <a:tr h="875009">
                <a:tc>
                  <a:txBody>
                    <a:bodyPr/>
                    <a:lstStyle/>
                    <a:p>
                      <a:pPr>
                        <a:buNone/>
                      </a:pPr>
                      <a:r>
                        <a:rPr lang="en-IN" sz="2000" b="1" dirty="0">
                          <a:solidFill>
                            <a:schemeClr val="bg2">
                              <a:lumMod val="90000"/>
                            </a:schemeClr>
                          </a:solidFill>
                        </a:rPr>
                        <a:t>Marginal R² (Fixed Effects)</a:t>
                      </a:r>
                    </a:p>
                  </a:txBody>
                  <a:tcPr anchor="ctr"/>
                </a:tc>
                <a:tc>
                  <a:txBody>
                    <a:bodyPr/>
                    <a:lstStyle/>
                    <a:p>
                      <a:pPr>
                        <a:buNone/>
                      </a:pPr>
                      <a:r>
                        <a:rPr lang="en-IN" sz="2400" b="1" dirty="0">
                          <a:solidFill>
                            <a:schemeClr val="bg2">
                              <a:lumMod val="90000"/>
                            </a:schemeClr>
                          </a:solidFill>
                        </a:rPr>
                        <a:t>0.4847</a:t>
                      </a:r>
                    </a:p>
                  </a:txBody>
                  <a:tcPr anchor="ctr"/>
                </a:tc>
                <a:tc>
                  <a:txBody>
                    <a:bodyPr/>
                    <a:lstStyle/>
                    <a:p>
                      <a:pPr>
                        <a:buNone/>
                      </a:pPr>
                      <a:r>
                        <a:rPr lang="en-IN" sz="2400" b="1">
                          <a:solidFill>
                            <a:schemeClr val="bg2">
                              <a:lumMod val="90000"/>
                            </a:schemeClr>
                          </a:solidFill>
                        </a:rPr>
                        <a:t>0.8994</a:t>
                      </a:r>
                    </a:p>
                  </a:txBody>
                  <a:tcPr anchor="ctr"/>
                </a:tc>
                <a:tc>
                  <a:txBody>
                    <a:bodyPr/>
                    <a:lstStyle/>
                    <a:p>
                      <a:pPr>
                        <a:buNone/>
                      </a:pPr>
                      <a:r>
                        <a:rPr lang="en-IN" sz="2400" b="1">
                          <a:solidFill>
                            <a:schemeClr val="bg2">
                              <a:lumMod val="90000"/>
                            </a:schemeClr>
                          </a:solidFill>
                        </a:rPr>
                        <a:t>0.9265 (Best)</a:t>
                      </a:r>
                    </a:p>
                  </a:txBody>
                  <a:tcPr anchor="ctr"/>
                </a:tc>
                <a:tc>
                  <a:txBody>
                    <a:bodyPr/>
                    <a:lstStyle/>
                    <a:p>
                      <a:pPr>
                        <a:buNone/>
                      </a:pPr>
                      <a:r>
                        <a:rPr lang="en-IN" sz="2400" b="1">
                          <a:solidFill>
                            <a:schemeClr val="bg2">
                              <a:lumMod val="90000"/>
                            </a:schemeClr>
                          </a:solidFill>
                        </a:rPr>
                        <a:t>0.9250</a:t>
                      </a:r>
                    </a:p>
                  </a:txBody>
                  <a:tcPr anchor="ctr"/>
                </a:tc>
                <a:extLst>
                  <a:ext uri="{0D108BD9-81ED-4DB2-BD59-A6C34878D82A}">
                    <a16:rowId xmlns:a16="http://schemas.microsoft.com/office/drawing/2014/main" val="3580408098"/>
                  </a:ext>
                </a:extLst>
              </a:tr>
              <a:tr h="875009">
                <a:tc>
                  <a:txBody>
                    <a:bodyPr/>
                    <a:lstStyle/>
                    <a:p>
                      <a:pPr>
                        <a:buNone/>
                      </a:pPr>
                      <a:r>
                        <a:rPr lang="en-IN" sz="2000" b="1">
                          <a:solidFill>
                            <a:schemeClr val="bg2">
                              <a:lumMod val="90000"/>
                            </a:schemeClr>
                          </a:solidFill>
                        </a:rPr>
                        <a:t>Conditional R² (Total)</a:t>
                      </a:r>
                    </a:p>
                  </a:txBody>
                  <a:tcPr anchor="ctr"/>
                </a:tc>
                <a:tc>
                  <a:txBody>
                    <a:bodyPr/>
                    <a:lstStyle/>
                    <a:p>
                      <a:pPr>
                        <a:buNone/>
                      </a:pPr>
                      <a:r>
                        <a:rPr lang="en-IN" sz="2400" b="1" dirty="0">
                          <a:solidFill>
                            <a:schemeClr val="bg2">
                              <a:lumMod val="90000"/>
                            </a:schemeClr>
                          </a:solidFill>
                        </a:rPr>
                        <a:t>0.6947</a:t>
                      </a:r>
                    </a:p>
                  </a:txBody>
                  <a:tcPr anchor="ctr"/>
                </a:tc>
                <a:tc>
                  <a:txBody>
                    <a:bodyPr/>
                    <a:lstStyle/>
                    <a:p>
                      <a:pPr>
                        <a:buNone/>
                      </a:pPr>
                      <a:r>
                        <a:rPr lang="en-IN" sz="2400" b="1" dirty="0">
                          <a:solidFill>
                            <a:schemeClr val="bg2">
                              <a:lumMod val="90000"/>
                            </a:schemeClr>
                          </a:solidFill>
                        </a:rPr>
                        <a:t>0.9545</a:t>
                      </a:r>
                    </a:p>
                  </a:txBody>
                  <a:tcPr anchor="ctr"/>
                </a:tc>
                <a:tc>
                  <a:txBody>
                    <a:bodyPr/>
                    <a:lstStyle/>
                    <a:p>
                      <a:pPr>
                        <a:buNone/>
                      </a:pPr>
                      <a:r>
                        <a:rPr lang="en-IN" sz="2400" b="1">
                          <a:solidFill>
                            <a:schemeClr val="bg2">
                              <a:lumMod val="90000"/>
                            </a:schemeClr>
                          </a:solidFill>
                        </a:rPr>
                        <a:t>0.9586 (Best)</a:t>
                      </a:r>
                    </a:p>
                  </a:txBody>
                  <a:tcPr anchor="ctr"/>
                </a:tc>
                <a:tc>
                  <a:txBody>
                    <a:bodyPr/>
                    <a:lstStyle/>
                    <a:p>
                      <a:pPr>
                        <a:buNone/>
                      </a:pPr>
                      <a:r>
                        <a:rPr lang="en-IN" sz="2400" b="1">
                          <a:solidFill>
                            <a:schemeClr val="bg2">
                              <a:lumMod val="90000"/>
                            </a:schemeClr>
                          </a:solidFill>
                        </a:rPr>
                        <a:t>0.9550</a:t>
                      </a:r>
                    </a:p>
                  </a:txBody>
                  <a:tcPr anchor="ctr"/>
                </a:tc>
                <a:extLst>
                  <a:ext uri="{0D108BD9-81ED-4DB2-BD59-A6C34878D82A}">
                    <a16:rowId xmlns:a16="http://schemas.microsoft.com/office/drawing/2014/main" val="3929741297"/>
                  </a:ext>
                </a:extLst>
              </a:tr>
              <a:tr h="875009">
                <a:tc>
                  <a:txBody>
                    <a:bodyPr/>
                    <a:lstStyle/>
                    <a:p>
                      <a:pPr>
                        <a:buNone/>
                      </a:pPr>
                      <a:r>
                        <a:rPr lang="en-IN" sz="2000" b="1">
                          <a:solidFill>
                            <a:schemeClr val="bg2">
                              <a:lumMod val="90000"/>
                            </a:schemeClr>
                          </a:solidFill>
                        </a:rPr>
                        <a:t>Adjusted Marginal R²</a:t>
                      </a:r>
                    </a:p>
                  </a:txBody>
                  <a:tcPr anchor="ctr"/>
                </a:tc>
                <a:tc>
                  <a:txBody>
                    <a:bodyPr/>
                    <a:lstStyle/>
                    <a:p>
                      <a:pPr>
                        <a:buNone/>
                      </a:pPr>
                      <a:r>
                        <a:rPr lang="en-IN" sz="2400" b="1">
                          <a:solidFill>
                            <a:schemeClr val="bg2">
                              <a:lumMod val="90000"/>
                            </a:schemeClr>
                          </a:solidFill>
                        </a:rPr>
                        <a:t>0.4844</a:t>
                      </a:r>
                    </a:p>
                  </a:txBody>
                  <a:tcPr anchor="ctr"/>
                </a:tc>
                <a:tc>
                  <a:txBody>
                    <a:bodyPr/>
                    <a:lstStyle/>
                    <a:p>
                      <a:pPr>
                        <a:buNone/>
                      </a:pPr>
                      <a:r>
                        <a:rPr lang="en-IN" sz="2400" b="1" dirty="0">
                          <a:solidFill>
                            <a:schemeClr val="bg2">
                              <a:lumMod val="90000"/>
                            </a:schemeClr>
                          </a:solidFill>
                        </a:rPr>
                        <a:t>0.8993</a:t>
                      </a:r>
                    </a:p>
                  </a:txBody>
                  <a:tcPr anchor="ctr"/>
                </a:tc>
                <a:tc>
                  <a:txBody>
                    <a:bodyPr/>
                    <a:lstStyle/>
                    <a:p>
                      <a:pPr>
                        <a:buNone/>
                      </a:pPr>
                      <a:r>
                        <a:rPr lang="en-IN" sz="2400" b="1" dirty="0">
                          <a:solidFill>
                            <a:schemeClr val="bg2">
                              <a:lumMod val="90000"/>
                            </a:schemeClr>
                          </a:solidFill>
                        </a:rPr>
                        <a:t>0.9263 (Best)</a:t>
                      </a:r>
                    </a:p>
                  </a:txBody>
                  <a:tcPr anchor="ctr"/>
                </a:tc>
                <a:tc>
                  <a:txBody>
                    <a:bodyPr/>
                    <a:lstStyle/>
                    <a:p>
                      <a:pPr>
                        <a:buNone/>
                      </a:pPr>
                      <a:r>
                        <a:rPr lang="en-IN" sz="2400" b="1" dirty="0">
                          <a:solidFill>
                            <a:schemeClr val="bg2">
                              <a:lumMod val="90000"/>
                            </a:schemeClr>
                          </a:solidFill>
                        </a:rPr>
                        <a:t>0.9248</a:t>
                      </a:r>
                    </a:p>
                  </a:txBody>
                  <a:tcPr anchor="ctr"/>
                </a:tc>
                <a:extLst>
                  <a:ext uri="{0D108BD9-81ED-4DB2-BD59-A6C34878D82A}">
                    <a16:rowId xmlns:a16="http://schemas.microsoft.com/office/drawing/2014/main" val="387654331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3" name="TextBox 2">
            <a:extLst>
              <a:ext uri="{FF2B5EF4-FFF2-40B4-BE49-F238E27FC236}">
                <a16:creationId xmlns:a16="http://schemas.microsoft.com/office/drawing/2014/main" id="{BBACA7BC-7E60-FDDA-E610-A503EBDA2851}"/>
              </a:ext>
            </a:extLst>
          </p:cNvPr>
          <p:cNvSpPr txBox="1"/>
          <p:nvPr/>
        </p:nvSpPr>
        <p:spPr>
          <a:xfrm>
            <a:off x="4171467" y="992531"/>
            <a:ext cx="5667013" cy="646331"/>
          </a:xfrm>
          <a:prstGeom prst="rect">
            <a:avLst/>
          </a:prstGeom>
          <a:noFill/>
        </p:spPr>
        <p:txBody>
          <a:bodyPr wrap="square" rtlCol="0">
            <a:spAutoFit/>
          </a:bodyPr>
          <a:lstStyle/>
          <a:p>
            <a:r>
              <a:rPr lang="en-IN" sz="3600" b="1" u="sng" dirty="0">
                <a:solidFill>
                  <a:schemeClr val="bg1"/>
                </a:solidFill>
                <a:latin typeface="Algerian" panose="04020705040A02060702" pitchFamily="82" charset="0"/>
              </a:rPr>
              <a:t>LIKELIHOOD RATIO TEST</a:t>
            </a:r>
          </a:p>
        </p:txBody>
      </p:sp>
      <mc:AlternateContent xmlns:mc="http://schemas.openxmlformats.org/markup-compatibility/2006" xmlns:a14="http://schemas.microsoft.com/office/drawing/2010/main">
        <mc:Choice Requires="a14">
          <p:sp>
            <p:nvSpPr>
              <p:cNvPr id="4" name="Shape 1">
                <a:extLst>
                  <a:ext uri="{FF2B5EF4-FFF2-40B4-BE49-F238E27FC236}">
                    <a16:creationId xmlns:a16="http://schemas.microsoft.com/office/drawing/2014/main" id="{46B14DE9-F72E-C6F7-B039-49669269F952}"/>
                  </a:ext>
                </a:extLst>
              </p:cNvPr>
              <p:cNvSpPr/>
              <p:nvPr/>
            </p:nvSpPr>
            <p:spPr>
              <a:xfrm>
                <a:off x="1046748" y="2021304"/>
                <a:ext cx="12260178" cy="5421218"/>
              </a:xfrm>
              <a:prstGeom prst="roundRect">
                <a:avLst>
                  <a:gd name="adj" fmla="val 2117"/>
                </a:avLst>
              </a:prstGeom>
              <a:solidFill>
                <a:srgbClr val="5F5153"/>
              </a:solidFill>
              <a:ln/>
            </p:spPr>
            <p:txBody>
              <a:bodyPr/>
              <a:lstStyle/>
              <a:p>
                <a:endParaRPr lang="en-US" sz="2400" dirty="0">
                  <a:solidFill>
                    <a:schemeClr val="bg1"/>
                  </a:solidFill>
                  <a:latin typeface="Times New Roman" panose="02020603050405020304" pitchFamily="18" charset="0"/>
                  <a:cs typeface="Times New Roman" panose="02020603050405020304" pitchFamily="18" charset="0"/>
                </a:endParaRPr>
              </a:p>
              <a:p>
                <a:r>
                  <a:rPr lang="en-US" sz="2400" dirty="0">
                    <a:solidFill>
                      <a:schemeClr val="bg1"/>
                    </a:solidFill>
                    <a:latin typeface="Times New Roman" panose="02020603050405020304" pitchFamily="18" charset="0"/>
                    <a:cs typeface="Times New Roman" panose="02020603050405020304" pitchFamily="18" charset="0"/>
                  </a:rPr>
                  <a:t>The Likelihood Ratio Test is used to compare two nested models by evaluating whether the increase in likelihood from adding parameters is statistically significant.</a:t>
                </a:r>
                <a:r>
                  <a:rPr lang="en-US" sz="2400" i="1" dirty="0">
                    <a:solidFill>
                      <a:schemeClr val="bg1"/>
                    </a:solidFill>
                    <a:latin typeface="Times New Roman" panose="02020603050405020304" pitchFamily="18" charset="0"/>
                    <a:cs typeface="Times New Roman" panose="02020603050405020304" pitchFamily="18" charset="0"/>
                  </a:rPr>
                  <a:t> </a:t>
                </a:r>
              </a:p>
              <a:p>
                <a:endParaRPr lang="en-US" sz="2400" i="1"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Test Statistics :  </a:t>
                </a:r>
                <a14:m>
                  <m:oMath xmlns:m="http://schemas.openxmlformats.org/officeDocument/2006/math">
                    <m:r>
                      <a:rPr lang="en-IN" sz="2400" i="1">
                        <a:solidFill>
                          <a:schemeClr val="bg1"/>
                        </a:solidFill>
                        <a:latin typeface="Cambria Math" panose="02040503050406030204" pitchFamily="18" charset="0"/>
                      </a:rPr>
                      <m:t>𝐿𝑅</m:t>
                    </m:r>
                    <m:r>
                      <a:rPr lang="en-IN" sz="2400" i="1">
                        <a:solidFill>
                          <a:schemeClr val="bg1"/>
                        </a:solidFill>
                        <a:latin typeface="Cambria Math" panose="02040503050406030204" pitchFamily="18" charset="0"/>
                      </a:rPr>
                      <m:t>=2</m:t>
                    </m:r>
                    <m:d>
                      <m:dPr>
                        <m:ctrlPr>
                          <a:rPr lang="en-IN" sz="2400" i="1">
                            <a:solidFill>
                              <a:schemeClr val="bg1"/>
                            </a:solidFill>
                            <a:latin typeface="Cambria Math" panose="02040503050406030204" pitchFamily="18" charset="0"/>
                          </a:rPr>
                        </m:ctrlPr>
                      </m:dPr>
                      <m:e>
                        <m:func>
                          <m:funcPr>
                            <m:ctrlPr>
                              <a:rPr lang="en-IN" sz="2400" i="1">
                                <a:solidFill>
                                  <a:schemeClr val="bg1"/>
                                </a:solidFill>
                                <a:latin typeface="Cambria Math" panose="02040503050406030204" pitchFamily="18" charset="0"/>
                              </a:rPr>
                            </m:ctrlPr>
                          </m:funcPr>
                          <m:fName>
                            <m:r>
                              <m:rPr>
                                <m:sty m:val="p"/>
                              </m:rPr>
                              <a:rPr lang="en-IN" sz="2400">
                                <a:solidFill>
                                  <a:schemeClr val="bg1"/>
                                </a:solidFill>
                                <a:latin typeface="Cambria Math" panose="02040503050406030204" pitchFamily="18" charset="0"/>
                              </a:rPr>
                              <m:t>log</m:t>
                            </m:r>
                          </m:fName>
                          <m:e>
                            <m:sSub>
                              <m:sSubPr>
                                <m:ctrlPr>
                                  <a:rPr lang="en-IN" sz="2400" i="1">
                                    <a:solidFill>
                                      <a:schemeClr val="bg1"/>
                                    </a:solidFill>
                                    <a:latin typeface="Cambria Math" panose="02040503050406030204" pitchFamily="18" charset="0"/>
                                  </a:rPr>
                                </m:ctrlPr>
                              </m:sSubPr>
                              <m:e>
                                <m:r>
                                  <a:rPr lang="en-IN" sz="2400" i="1">
                                    <a:solidFill>
                                      <a:schemeClr val="bg1"/>
                                    </a:solidFill>
                                    <a:latin typeface="Cambria Math" panose="02040503050406030204" pitchFamily="18" charset="0"/>
                                  </a:rPr>
                                  <m:t>𝐿</m:t>
                                </m:r>
                              </m:e>
                              <m:sub>
                                <m:r>
                                  <m:rPr>
                                    <m:nor/>
                                  </m:rPr>
                                  <a:rPr lang="en-IN" sz="2400">
                                    <a:solidFill>
                                      <a:schemeClr val="bg1"/>
                                    </a:solidFill>
                                  </a:rPr>
                                  <m:t>full</m:t>
                                </m:r>
                              </m:sub>
                            </m:sSub>
                          </m:e>
                        </m:func>
                        <m:r>
                          <a:rPr lang="en-IN" sz="2400" i="1">
                            <a:solidFill>
                              <a:schemeClr val="bg1"/>
                            </a:solidFill>
                            <a:latin typeface="Cambria Math" panose="02040503050406030204" pitchFamily="18" charset="0"/>
                          </a:rPr>
                          <m:t>−</m:t>
                        </m:r>
                        <m:func>
                          <m:funcPr>
                            <m:ctrlPr>
                              <a:rPr lang="en-IN" sz="2400" i="1">
                                <a:solidFill>
                                  <a:schemeClr val="bg1"/>
                                </a:solidFill>
                                <a:latin typeface="Cambria Math" panose="02040503050406030204" pitchFamily="18" charset="0"/>
                              </a:rPr>
                            </m:ctrlPr>
                          </m:funcPr>
                          <m:fName>
                            <m:r>
                              <m:rPr>
                                <m:sty m:val="p"/>
                              </m:rPr>
                              <a:rPr lang="en-IN" sz="2400">
                                <a:solidFill>
                                  <a:schemeClr val="bg1"/>
                                </a:solidFill>
                                <a:latin typeface="Cambria Math" panose="02040503050406030204" pitchFamily="18" charset="0"/>
                              </a:rPr>
                              <m:t>log</m:t>
                            </m:r>
                          </m:fName>
                          <m:e>
                            <m:sSub>
                              <m:sSubPr>
                                <m:ctrlPr>
                                  <a:rPr lang="en-IN" sz="2400" i="1">
                                    <a:solidFill>
                                      <a:schemeClr val="bg1"/>
                                    </a:solidFill>
                                    <a:latin typeface="Cambria Math" panose="02040503050406030204" pitchFamily="18" charset="0"/>
                                  </a:rPr>
                                </m:ctrlPr>
                              </m:sSubPr>
                              <m:e>
                                <m:r>
                                  <a:rPr lang="en-IN" sz="2400" i="1">
                                    <a:solidFill>
                                      <a:schemeClr val="bg1"/>
                                    </a:solidFill>
                                    <a:latin typeface="Cambria Math" panose="02040503050406030204" pitchFamily="18" charset="0"/>
                                  </a:rPr>
                                  <m:t>𝐿</m:t>
                                </m:r>
                              </m:e>
                              <m:sub>
                                <m:r>
                                  <m:rPr>
                                    <m:nor/>
                                  </m:rPr>
                                  <a:rPr lang="en-IN" sz="2400">
                                    <a:solidFill>
                                      <a:schemeClr val="bg1"/>
                                    </a:solidFill>
                                  </a:rPr>
                                  <m:t>reduced</m:t>
                                </m:r>
                              </m:sub>
                            </m:sSub>
                          </m:e>
                        </m:func>
                      </m:e>
                    </m:d>
                  </m:oMath>
                </a14:m>
                <a:endParaRPr lang="en-IN" sz="2400" dirty="0">
                  <a:solidFill>
                    <a:schemeClr val="bg1"/>
                  </a:solidFill>
                  <a:latin typeface="Times New Roman" panose="02020603050405020304" pitchFamily="18" charset="0"/>
                </a:endParaRPr>
              </a:p>
              <a:p>
                <a:endParaRPr lang="en-US" sz="2400" b="1"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Hypothesis</a:t>
                </a:r>
                <a:r>
                  <a:rPr lang="en-US" sz="2400" dirty="0">
                    <a:solidFill>
                      <a:schemeClr val="tx2">
                        <a:lumMod val="20000"/>
                        <a:lumOff val="80000"/>
                      </a:schemeClr>
                    </a:solidFill>
                    <a:latin typeface="Times New Roman" panose="02020603050405020304" pitchFamily="18" charset="0"/>
                    <a:cs typeface="Times New Roman" panose="02020603050405020304" pitchFamily="18" charset="0"/>
                  </a:rPr>
                  <a:t> : </a:t>
                </a:r>
                <a14:m>
                  <m:oMath xmlns:m="http://schemas.openxmlformats.org/officeDocument/2006/math">
                    <m:sSub>
                      <m:sSubPr>
                        <m:ctrlPr>
                          <a:rPr lang="en-IN" sz="2400" i="1" smtClean="0">
                            <a:solidFill>
                              <a:schemeClr val="bg1"/>
                            </a:solidFill>
                            <a:latin typeface="Cambria Math" panose="02040503050406030204" pitchFamily="18" charset="0"/>
                          </a:rPr>
                        </m:ctrlPr>
                      </m:sSubPr>
                      <m:e>
                        <m:r>
                          <a:rPr lang="en-IN" sz="2400" b="0" i="1" smtClean="0">
                            <a:solidFill>
                              <a:schemeClr val="bg1"/>
                            </a:solidFill>
                            <a:latin typeface="Cambria Math" panose="02040503050406030204" pitchFamily="18" charset="0"/>
                          </a:rPr>
                          <m:t> </m:t>
                        </m:r>
                        <m:r>
                          <a:rPr lang="en-IN" sz="2400" i="1">
                            <a:solidFill>
                              <a:schemeClr val="bg1"/>
                            </a:solidFill>
                            <a:latin typeface="Cambria Math" panose="02040503050406030204" pitchFamily="18" charset="0"/>
                          </a:rPr>
                          <m:t>𝐻</m:t>
                        </m:r>
                      </m:e>
                      <m:sub>
                        <m:r>
                          <a:rPr lang="en-IN" sz="2400" i="1">
                            <a:solidFill>
                              <a:schemeClr val="bg1"/>
                            </a:solidFill>
                            <a:latin typeface="Cambria Math" panose="02040503050406030204" pitchFamily="18" charset="0"/>
                          </a:rPr>
                          <m:t>0</m:t>
                        </m:r>
                      </m:sub>
                    </m:sSub>
                    <m:r>
                      <a:rPr lang="en-IN" sz="2400" i="1">
                        <a:solidFill>
                          <a:schemeClr val="bg1"/>
                        </a:solidFill>
                        <a:latin typeface="Cambria Math" panose="02040503050406030204" pitchFamily="18" charset="0"/>
                      </a:rPr>
                      <m:t>:</m:t>
                    </m:r>
                    <m:r>
                      <m:rPr>
                        <m:nor/>
                      </m:rPr>
                      <a:rPr lang="en-IN" sz="2400">
                        <a:solidFill>
                          <a:schemeClr val="bg1"/>
                        </a:solidFill>
                      </a:rPr>
                      <m:t>Reduced</m:t>
                    </m:r>
                    <m:r>
                      <m:rPr>
                        <m:nor/>
                      </m:rPr>
                      <a:rPr lang="en-IN" sz="2400">
                        <a:solidFill>
                          <a:schemeClr val="bg1"/>
                        </a:solidFill>
                      </a:rPr>
                      <m:t> </m:t>
                    </m:r>
                    <m:r>
                      <m:rPr>
                        <m:nor/>
                      </m:rPr>
                      <a:rPr lang="en-IN" sz="2400">
                        <a:solidFill>
                          <a:schemeClr val="bg1"/>
                        </a:solidFill>
                      </a:rPr>
                      <m:t>model</m:t>
                    </m:r>
                    <m:r>
                      <m:rPr>
                        <m:nor/>
                      </m:rPr>
                      <a:rPr lang="en-IN" sz="2400">
                        <a:solidFill>
                          <a:schemeClr val="bg1"/>
                        </a:solidFill>
                      </a:rPr>
                      <m:t> </m:t>
                    </m:r>
                    <m:r>
                      <m:rPr>
                        <m:nor/>
                      </m:rPr>
                      <a:rPr lang="en-IN" sz="2400">
                        <a:solidFill>
                          <a:schemeClr val="bg1"/>
                        </a:solidFill>
                      </a:rPr>
                      <m:t>is</m:t>
                    </m:r>
                    <m:r>
                      <m:rPr>
                        <m:nor/>
                      </m:rPr>
                      <a:rPr lang="en-IN" sz="2400">
                        <a:solidFill>
                          <a:schemeClr val="bg1"/>
                        </a:solidFill>
                      </a:rPr>
                      <m:t> </m:t>
                    </m:r>
                    <m:r>
                      <m:rPr>
                        <m:nor/>
                      </m:rPr>
                      <a:rPr lang="en-IN" sz="2400">
                        <a:solidFill>
                          <a:schemeClr val="bg1"/>
                        </a:solidFill>
                      </a:rPr>
                      <m:t>sufficient</m:t>
                    </m:r>
                    <m:r>
                      <a:rPr lang="en-IN" sz="2400" b="0" i="1" smtClean="0">
                        <a:solidFill>
                          <a:schemeClr val="bg1"/>
                        </a:solidFill>
                        <a:latin typeface="Cambria Math" panose="02040503050406030204" pitchFamily="18" charset="0"/>
                      </a:rPr>
                      <m:t>           </m:t>
                    </m:r>
                    <m:sSub>
                      <m:sSubPr>
                        <m:ctrlPr>
                          <a:rPr lang="en-IN" sz="2400" i="1">
                            <a:solidFill>
                              <a:schemeClr val="bg1"/>
                            </a:solidFill>
                            <a:latin typeface="Cambria Math" panose="02040503050406030204" pitchFamily="18" charset="0"/>
                          </a:rPr>
                        </m:ctrlPr>
                      </m:sSubPr>
                      <m:e>
                        <m:r>
                          <a:rPr lang="en-IN" sz="2400" i="1">
                            <a:solidFill>
                              <a:schemeClr val="bg1"/>
                            </a:solidFill>
                            <a:latin typeface="Cambria Math" panose="02040503050406030204" pitchFamily="18" charset="0"/>
                          </a:rPr>
                          <m:t>𝐻</m:t>
                        </m:r>
                      </m:e>
                      <m:sub>
                        <m:r>
                          <a:rPr lang="en-IN" sz="2400" i="1">
                            <a:solidFill>
                              <a:schemeClr val="bg1"/>
                            </a:solidFill>
                            <a:latin typeface="Cambria Math" panose="02040503050406030204" pitchFamily="18" charset="0"/>
                          </a:rPr>
                          <m:t>1</m:t>
                        </m:r>
                      </m:sub>
                    </m:sSub>
                    <m:r>
                      <a:rPr lang="en-IN" sz="2400" i="1">
                        <a:solidFill>
                          <a:schemeClr val="bg1"/>
                        </a:solidFill>
                        <a:latin typeface="Cambria Math" panose="02040503050406030204" pitchFamily="18" charset="0"/>
                      </a:rPr>
                      <m:t>:</m:t>
                    </m:r>
                    <m:r>
                      <m:rPr>
                        <m:nor/>
                      </m:rPr>
                      <a:rPr lang="en-IN" sz="2400">
                        <a:solidFill>
                          <a:schemeClr val="bg1"/>
                        </a:solidFill>
                      </a:rPr>
                      <m:t>Full</m:t>
                    </m:r>
                    <m:r>
                      <m:rPr>
                        <m:nor/>
                      </m:rPr>
                      <a:rPr lang="en-IN" sz="2400">
                        <a:solidFill>
                          <a:schemeClr val="bg1"/>
                        </a:solidFill>
                      </a:rPr>
                      <m:t> </m:t>
                    </m:r>
                    <m:r>
                      <m:rPr>
                        <m:nor/>
                      </m:rPr>
                      <a:rPr lang="en-IN" sz="2400">
                        <a:solidFill>
                          <a:schemeClr val="bg1"/>
                        </a:solidFill>
                      </a:rPr>
                      <m:t>model</m:t>
                    </m:r>
                    <m:r>
                      <m:rPr>
                        <m:nor/>
                      </m:rPr>
                      <a:rPr lang="en-IN" sz="2400">
                        <a:solidFill>
                          <a:schemeClr val="bg1"/>
                        </a:solidFill>
                      </a:rPr>
                      <m:t> </m:t>
                    </m:r>
                    <m:r>
                      <m:rPr>
                        <m:nor/>
                      </m:rPr>
                      <a:rPr lang="en-IN" sz="2400">
                        <a:solidFill>
                          <a:schemeClr val="bg1"/>
                        </a:solidFill>
                      </a:rPr>
                      <m:t>is</m:t>
                    </m:r>
                    <m:r>
                      <m:rPr>
                        <m:nor/>
                      </m:rPr>
                      <a:rPr lang="en-IN" sz="2400">
                        <a:solidFill>
                          <a:schemeClr val="bg1"/>
                        </a:solidFill>
                      </a:rPr>
                      <m:t> </m:t>
                    </m:r>
                    <m:r>
                      <m:rPr>
                        <m:nor/>
                      </m:rPr>
                      <a:rPr lang="en-IN" sz="2400">
                        <a:solidFill>
                          <a:schemeClr val="bg1"/>
                        </a:solidFill>
                      </a:rPr>
                      <m:t>better</m:t>
                    </m:r>
                  </m:oMath>
                </a14:m>
                <a:endParaRPr lang="en-IN" sz="2400" dirty="0">
                  <a:solidFill>
                    <a:schemeClr val="bg1"/>
                  </a:solidFill>
                </a:endParaRPr>
              </a:p>
              <a:p>
                <a:endParaRPr lang="en-IN" sz="2400" dirty="0">
                  <a:solidFill>
                    <a:schemeClr val="bg1"/>
                  </a:solidFill>
                </a:endParaRPr>
              </a:p>
              <a:p>
                <a:pPr eaLnBrk="0" fontAlgn="base" hangingPunct="0">
                  <a:spcBef>
                    <a:spcPct val="0"/>
                  </a:spcBef>
                  <a:spcAft>
                    <a:spcPct val="0"/>
                  </a:spcAft>
                </a:pPr>
                <a:r>
                  <a:rPr lang="en-IN" sz="2400" b="1" dirty="0">
                    <a:solidFill>
                      <a:schemeClr val="bg1"/>
                    </a:solidFill>
                    <a:latin typeface="Times New Roman" panose="02020603050405020304" pitchFamily="18" charset="0"/>
                    <a:cs typeface="Times New Roman" panose="02020603050405020304" pitchFamily="18" charset="0"/>
                  </a:rPr>
                  <a:t>Distribution :  </a:t>
                </a:r>
                <a14:m>
                  <m:oMath xmlns:m="http://schemas.openxmlformats.org/officeDocument/2006/math">
                    <m:r>
                      <a:rPr lang="en-IN" sz="2400" i="1" smtClean="0">
                        <a:solidFill>
                          <a:schemeClr val="bg1"/>
                        </a:solidFill>
                        <a:latin typeface="Cambria Math" panose="02040503050406030204" pitchFamily="18" charset="0"/>
                      </a:rPr>
                      <m:t>𝐿𝑅</m:t>
                    </m:r>
                    <m:r>
                      <a:rPr lang="en-IN" sz="2400" i="1" smtClean="0">
                        <a:solidFill>
                          <a:schemeClr val="bg1"/>
                        </a:solidFill>
                        <a:latin typeface="Cambria Math" panose="02040503050406030204" pitchFamily="18" charset="0"/>
                      </a:rPr>
                      <m:t>∼</m:t>
                    </m:r>
                    <m:sSup>
                      <m:sSupPr>
                        <m:ctrlPr>
                          <a:rPr lang="en-IN" sz="2400" i="1">
                            <a:solidFill>
                              <a:schemeClr val="bg1"/>
                            </a:solidFill>
                            <a:latin typeface="Cambria Math" panose="02040503050406030204" pitchFamily="18" charset="0"/>
                          </a:rPr>
                        </m:ctrlPr>
                      </m:sSupPr>
                      <m:e>
                        <m:r>
                          <a:rPr lang="en-IN" sz="2400" i="1">
                            <a:solidFill>
                              <a:schemeClr val="bg1"/>
                            </a:solidFill>
                            <a:latin typeface="Cambria Math" panose="02040503050406030204" pitchFamily="18" charset="0"/>
                          </a:rPr>
                          <m:t>𝜒</m:t>
                        </m:r>
                      </m:e>
                      <m:sup>
                        <m:r>
                          <a:rPr lang="en-IN" sz="2400" i="1">
                            <a:solidFill>
                              <a:schemeClr val="bg1"/>
                            </a:solidFill>
                            <a:latin typeface="Cambria Math" panose="02040503050406030204" pitchFamily="18" charset="0"/>
                          </a:rPr>
                          <m:t>2</m:t>
                        </m:r>
                      </m:sup>
                    </m:sSup>
                    <m:r>
                      <a:rPr lang="en-IN" sz="2400" i="1">
                        <a:solidFill>
                          <a:schemeClr val="bg1"/>
                        </a:solidFill>
                        <a:latin typeface="Cambria Math" panose="02040503050406030204" pitchFamily="18" charset="0"/>
                      </a:rPr>
                      <m:t>(</m:t>
                    </m:r>
                    <m:r>
                      <a:rPr lang="en-IN" sz="2400" i="1">
                        <a:solidFill>
                          <a:schemeClr val="bg1"/>
                        </a:solidFill>
                        <a:latin typeface="Cambria Math" panose="02040503050406030204" pitchFamily="18" charset="0"/>
                      </a:rPr>
                      <m:t>𝑑𝑓</m:t>
                    </m:r>
                    <m:r>
                      <a:rPr lang="en-IN" sz="2400" i="1">
                        <a:solidFill>
                          <a:schemeClr val="bg1"/>
                        </a:solidFill>
                        <a:latin typeface="Cambria Math" panose="02040503050406030204" pitchFamily="18" charset="0"/>
                      </a:rPr>
                      <m:t>)</m:t>
                    </m:r>
                  </m:oMath>
                </a14:m>
                <a:r>
                  <a:rPr lang="en-IN" sz="2400" dirty="0">
                    <a:solidFill>
                      <a:schemeClr val="bg1"/>
                    </a:solidFill>
                    <a:latin typeface="Times New Roman" panose="02020603050405020304" pitchFamily="18" charset="0"/>
                    <a:cs typeface="Times New Roman" panose="02020603050405020304" pitchFamily="18" charset="0"/>
                  </a:rPr>
                  <a:t> Where: </a:t>
                </a:r>
                <a14:m>
                  <m:oMath xmlns:m="http://schemas.openxmlformats.org/officeDocument/2006/math">
                    <m:r>
                      <a:rPr lang="en-IN" sz="2400" i="1">
                        <a:solidFill>
                          <a:schemeClr val="bg1"/>
                        </a:solidFill>
                        <a:latin typeface="Cambria Math" panose="02040503050406030204" pitchFamily="18" charset="0"/>
                      </a:rPr>
                      <m:t>𝑑𝑓</m:t>
                    </m:r>
                    <m:r>
                      <a:rPr lang="en-IN" sz="2400" i="1">
                        <a:solidFill>
                          <a:schemeClr val="bg1"/>
                        </a:solidFill>
                        <a:latin typeface="Cambria Math" panose="02040503050406030204" pitchFamily="18" charset="0"/>
                      </a:rPr>
                      <m:t>=</m:t>
                    </m:r>
                    <m:r>
                      <m:rPr>
                        <m:nor/>
                      </m:rPr>
                      <a:rPr lang="en-IN" sz="2400">
                        <a:solidFill>
                          <a:schemeClr val="bg1"/>
                        </a:solidFill>
                        <a:latin typeface="Times New Roman" panose="02020603050405020304" pitchFamily="18" charset="0"/>
                        <a:cs typeface="Times New Roman" panose="02020603050405020304" pitchFamily="18" charset="0"/>
                      </a:rPr>
                      <m:t>difference</m:t>
                    </m:r>
                    <m:r>
                      <m:rPr>
                        <m:nor/>
                      </m:rPr>
                      <a:rPr lang="en-IN" sz="2400">
                        <a:solidFill>
                          <a:schemeClr val="bg1"/>
                        </a:solidFill>
                        <a:latin typeface="Times New Roman" panose="02020603050405020304" pitchFamily="18" charset="0"/>
                        <a:cs typeface="Times New Roman" panose="02020603050405020304" pitchFamily="18" charset="0"/>
                      </a:rPr>
                      <m:t> </m:t>
                    </m:r>
                    <m:r>
                      <m:rPr>
                        <m:nor/>
                      </m:rPr>
                      <a:rPr lang="en-IN" sz="2400">
                        <a:solidFill>
                          <a:schemeClr val="bg1"/>
                        </a:solidFill>
                        <a:latin typeface="Times New Roman" panose="02020603050405020304" pitchFamily="18" charset="0"/>
                        <a:cs typeface="Times New Roman" panose="02020603050405020304" pitchFamily="18" charset="0"/>
                      </a:rPr>
                      <m:t>in</m:t>
                    </m:r>
                    <m:r>
                      <m:rPr>
                        <m:nor/>
                      </m:rPr>
                      <a:rPr lang="en-IN" sz="2400">
                        <a:solidFill>
                          <a:schemeClr val="bg1"/>
                        </a:solidFill>
                        <a:latin typeface="Times New Roman" panose="02020603050405020304" pitchFamily="18" charset="0"/>
                        <a:cs typeface="Times New Roman" panose="02020603050405020304" pitchFamily="18" charset="0"/>
                      </a:rPr>
                      <m:t> </m:t>
                    </m:r>
                    <m:r>
                      <m:rPr>
                        <m:nor/>
                      </m:rPr>
                      <a:rPr lang="en-IN" sz="2400">
                        <a:solidFill>
                          <a:schemeClr val="bg1"/>
                        </a:solidFill>
                        <a:latin typeface="Times New Roman" panose="02020603050405020304" pitchFamily="18" charset="0"/>
                        <a:cs typeface="Times New Roman" panose="02020603050405020304" pitchFamily="18" charset="0"/>
                      </a:rPr>
                      <m:t>number</m:t>
                    </m:r>
                    <m:r>
                      <m:rPr>
                        <m:nor/>
                      </m:rPr>
                      <a:rPr lang="en-IN" sz="2400">
                        <a:solidFill>
                          <a:schemeClr val="bg1"/>
                        </a:solidFill>
                        <a:latin typeface="Times New Roman" panose="02020603050405020304" pitchFamily="18" charset="0"/>
                        <a:cs typeface="Times New Roman" panose="02020603050405020304" pitchFamily="18" charset="0"/>
                      </a:rPr>
                      <m:t> </m:t>
                    </m:r>
                    <m:r>
                      <m:rPr>
                        <m:nor/>
                      </m:rPr>
                      <a:rPr lang="en-IN" sz="2400">
                        <a:solidFill>
                          <a:schemeClr val="bg1"/>
                        </a:solidFill>
                        <a:latin typeface="Times New Roman" panose="02020603050405020304" pitchFamily="18" charset="0"/>
                        <a:cs typeface="Times New Roman" panose="02020603050405020304" pitchFamily="18" charset="0"/>
                      </a:rPr>
                      <m:t>of</m:t>
                    </m:r>
                    <m:r>
                      <m:rPr>
                        <m:nor/>
                      </m:rPr>
                      <a:rPr lang="en-IN" sz="2400">
                        <a:solidFill>
                          <a:schemeClr val="bg1"/>
                        </a:solidFill>
                        <a:latin typeface="Times New Roman" panose="02020603050405020304" pitchFamily="18" charset="0"/>
                        <a:cs typeface="Times New Roman" panose="02020603050405020304" pitchFamily="18" charset="0"/>
                      </a:rPr>
                      <m:t> </m:t>
                    </m:r>
                    <m:r>
                      <m:rPr>
                        <m:nor/>
                      </m:rPr>
                      <a:rPr lang="en-IN" sz="2400">
                        <a:solidFill>
                          <a:schemeClr val="bg1"/>
                        </a:solidFill>
                        <a:latin typeface="Times New Roman" panose="02020603050405020304" pitchFamily="18" charset="0"/>
                        <a:cs typeface="Times New Roman" panose="02020603050405020304" pitchFamily="18" charset="0"/>
                      </a:rPr>
                      <m:t>parameters</m:t>
                    </m:r>
                  </m:oMath>
                </a14:m>
                <a:endParaRPr lang="en-IN" sz="2400" dirty="0">
                  <a:solidFill>
                    <a:schemeClr val="bg1"/>
                  </a:solidFill>
                  <a:latin typeface="Times New Roman" panose="02020603050405020304" pitchFamily="18" charset="0"/>
                  <a:cs typeface="Times New Roman" panose="02020603050405020304" pitchFamily="18" charset="0"/>
                </a:endParaRPr>
              </a:p>
              <a:p>
                <a:endParaRPr lang="en-IN" sz="2400" dirty="0">
                  <a:solidFill>
                    <a:schemeClr val="bg1"/>
                  </a:solidFill>
                  <a:latin typeface="Times New Roman" panose="02020603050405020304" pitchFamily="18" charset="0"/>
                  <a:cs typeface="Times New Roman" panose="02020603050405020304" pitchFamily="18" charset="0"/>
                </a:endParaRPr>
              </a:p>
              <a:p>
                <a:pPr lvl="0"/>
                <a:r>
                  <a:rPr lang="en-IN" sz="2400" b="1" dirty="0">
                    <a:solidFill>
                      <a:schemeClr val="bg1"/>
                    </a:solidFill>
                    <a:latin typeface="Times New Roman" panose="02020603050405020304" pitchFamily="18" charset="0"/>
                    <a:cs typeface="Times New Roman" panose="02020603050405020304" pitchFamily="18" charset="0"/>
                  </a:rPr>
                  <a:t>Decision rule : </a:t>
                </a:r>
                <a:r>
                  <a:rPr lang="en-IN" sz="2400" dirty="0">
                    <a:solidFill>
                      <a:schemeClr val="bg1"/>
                    </a:solidFill>
                  </a:rPr>
                  <a:t>If p-value &lt; 0.05 → reject </a:t>
                </a:r>
                <a14:m>
                  <m:oMath xmlns:m="http://schemas.openxmlformats.org/officeDocument/2006/math">
                    <m:sSub>
                      <m:sSubPr>
                        <m:ctrlPr>
                          <a:rPr lang="en-IN" sz="2400" i="1">
                            <a:solidFill>
                              <a:schemeClr val="bg1"/>
                            </a:solidFill>
                            <a:latin typeface="Cambria Math" panose="02040503050406030204" pitchFamily="18" charset="0"/>
                          </a:rPr>
                        </m:ctrlPr>
                      </m:sSubPr>
                      <m:e>
                        <m:r>
                          <a:rPr lang="en-IN" sz="2400" i="1">
                            <a:solidFill>
                              <a:schemeClr val="bg1"/>
                            </a:solidFill>
                            <a:latin typeface="Cambria Math" panose="02040503050406030204" pitchFamily="18" charset="0"/>
                          </a:rPr>
                          <m:t>𝐻</m:t>
                        </m:r>
                      </m:e>
                      <m:sub>
                        <m:r>
                          <a:rPr lang="en-IN" sz="2400" i="1">
                            <a:solidFill>
                              <a:schemeClr val="bg1"/>
                            </a:solidFill>
                            <a:latin typeface="Cambria Math" panose="02040503050406030204" pitchFamily="18" charset="0"/>
                          </a:rPr>
                          <m:t>0</m:t>
                        </m:r>
                      </m:sub>
                    </m:sSub>
                  </m:oMath>
                </a14:m>
                <a:endParaRPr lang="en-IN" sz="2400" dirty="0">
                  <a:solidFill>
                    <a:schemeClr val="bg1"/>
                  </a:solidFill>
                </a:endParaRPr>
              </a:p>
              <a:p>
                <a:pPr lvl="0"/>
                <a:r>
                  <a:rPr lang="en-IN" sz="2400" dirty="0">
                    <a:solidFill>
                      <a:schemeClr val="bg1"/>
                    </a:solidFill>
                  </a:rPr>
                  <a:t>                            If p-value &gt; 0.05 → fail to reject </a:t>
                </a:r>
                <a14:m>
                  <m:oMath xmlns:m="http://schemas.openxmlformats.org/officeDocument/2006/math">
                    <m:sSub>
                      <m:sSubPr>
                        <m:ctrlPr>
                          <a:rPr lang="en-IN" sz="2400" i="1">
                            <a:solidFill>
                              <a:schemeClr val="bg1"/>
                            </a:solidFill>
                            <a:latin typeface="Cambria Math" panose="02040503050406030204" pitchFamily="18" charset="0"/>
                          </a:rPr>
                        </m:ctrlPr>
                      </m:sSubPr>
                      <m:e>
                        <m:r>
                          <a:rPr lang="en-IN" sz="2400" i="1">
                            <a:solidFill>
                              <a:schemeClr val="bg1"/>
                            </a:solidFill>
                            <a:latin typeface="Cambria Math" panose="02040503050406030204" pitchFamily="18" charset="0"/>
                          </a:rPr>
                          <m:t>𝐻</m:t>
                        </m:r>
                      </m:e>
                      <m:sub>
                        <m:r>
                          <a:rPr lang="en-IN" sz="2400" i="1">
                            <a:solidFill>
                              <a:schemeClr val="bg1"/>
                            </a:solidFill>
                            <a:latin typeface="Cambria Math" panose="02040503050406030204" pitchFamily="18" charset="0"/>
                          </a:rPr>
                          <m:t>0</m:t>
                        </m:r>
                      </m:sub>
                    </m:sSub>
                  </m:oMath>
                </a14:m>
                <a:endParaRPr lang="en-IN" sz="2400" i="1" dirty="0">
                  <a:solidFill>
                    <a:schemeClr val="bg1"/>
                  </a:solidFill>
                  <a:latin typeface="Cambria Math" panose="02040503050406030204" pitchFamily="18" charset="0"/>
                </a:endParaRPr>
              </a:p>
              <a:p>
                <a:pPr lvl="0"/>
                <a:r>
                  <a:rPr lang="en-IN" sz="2400" b="1" dirty="0">
                    <a:solidFill>
                      <a:schemeClr val="bg1"/>
                    </a:solidFill>
                    <a:latin typeface="Times New Roman" panose="02020603050405020304" pitchFamily="18" charset="0"/>
                    <a:cs typeface="Times New Roman" panose="02020603050405020304" pitchFamily="18" charset="0"/>
                  </a:rPr>
                  <a:t>p-value is obtained</a:t>
                </a:r>
                <a:r>
                  <a:rPr lang="en-IN" sz="2400"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r>
                      <a:rPr lang="en-IN" sz="2400" i="1" smtClean="0">
                        <a:solidFill>
                          <a:schemeClr val="bg1"/>
                        </a:solidFill>
                        <a:latin typeface="Cambria Math" panose="02040503050406030204" pitchFamily="18" charset="0"/>
                      </a:rPr>
                      <m:t>𝑝</m:t>
                    </m:r>
                    <m:r>
                      <a:rPr lang="en-IN" sz="2400" i="1">
                        <a:solidFill>
                          <a:schemeClr val="bg1"/>
                        </a:solidFill>
                        <a:latin typeface="Cambria Math" panose="02040503050406030204" pitchFamily="18" charset="0"/>
                      </a:rPr>
                      <m:t>=</m:t>
                    </m:r>
                    <m:r>
                      <a:rPr lang="en-IN" sz="2400" i="1">
                        <a:solidFill>
                          <a:schemeClr val="bg1"/>
                        </a:solidFill>
                        <a:latin typeface="Cambria Math" panose="02040503050406030204" pitchFamily="18" charset="0"/>
                      </a:rPr>
                      <m:t>𝑃</m:t>
                    </m:r>
                    <m:r>
                      <a:rPr lang="en-IN" sz="2400" i="1">
                        <a:solidFill>
                          <a:schemeClr val="bg1"/>
                        </a:solidFill>
                        <a:latin typeface="Cambria Math" panose="02040503050406030204" pitchFamily="18" charset="0"/>
                      </a:rPr>
                      <m:t>(</m:t>
                    </m:r>
                    <m:sSubSup>
                      <m:sSubSupPr>
                        <m:ctrlPr>
                          <a:rPr lang="en-IN" sz="2400" i="1">
                            <a:solidFill>
                              <a:schemeClr val="bg1"/>
                            </a:solidFill>
                            <a:latin typeface="Cambria Math" panose="02040503050406030204" pitchFamily="18" charset="0"/>
                          </a:rPr>
                        </m:ctrlPr>
                      </m:sSubSupPr>
                      <m:e>
                        <m:r>
                          <a:rPr lang="en-IN" sz="2400" i="1">
                            <a:solidFill>
                              <a:schemeClr val="bg1"/>
                            </a:solidFill>
                            <a:latin typeface="Cambria Math" panose="02040503050406030204" pitchFamily="18" charset="0"/>
                          </a:rPr>
                          <m:t>𝜒</m:t>
                        </m:r>
                      </m:e>
                      <m:sub>
                        <m:r>
                          <a:rPr lang="en-IN" sz="2400" i="1">
                            <a:solidFill>
                              <a:schemeClr val="bg1"/>
                            </a:solidFill>
                            <a:latin typeface="Cambria Math" panose="02040503050406030204" pitchFamily="18" charset="0"/>
                          </a:rPr>
                          <m:t>𝑑𝑓</m:t>
                        </m:r>
                      </m:sub>
                      <m:sup>
                        <m:r>
                          <a:rPr lang="en-IN" sz="2400" i="1">
                            <a:solidFill>
                              <a:schemeClr val="bg1"/>
                            </a:solidFill>
                            <a:latin typeface="Cambria Math" panose="02040503050406030204" pitchFamily="18" charset="0"/>
                          </a:rPr>
                          <m:t>2</m:t>
                        </m:r>
                      </m:sup>
                    </m:sSubSup>
                    <m:r>
                      <a:rPr lang="en-IN" sz="2400" i="1">
                        <a:solidFill>
                          <a:schemeClr val="bg1"/>
                        </a:solidFill>
                        <a:latin typeface="Cambria Math" panose="02040503050406030204" pitchFamily="18" charset="0"/>
                      </a:rPr>
                      <m:t>&gt;</m:t>
                    </m:r>
                    <m:r>
                      <a:rPr lang="en-IN" sz="2400" i="1">
                        <a:solidFill>
                          <a:schemeClr val="bg1"/>
                        </a:solidFill>
                        <a:latin typeface="Cambria Math" panose="02040503050406030204" pitchFamily="18" charset="0"/>
                      </a:rPr>
                      <m:t>𝐿𝑅</m:t>
                    </m:r>
                    <m:r>
                      <a:rPr lang="en-IN" sz="2400" i="1">
                        <a:solidFill>
                          <a:schemeClr val="bg1"/>
                        </a:solidFill>
                        <a:latin typeface="Cambria Math" panose="02040503050406030204" pitchFamily="18" charset="0"/>
                      </a:rPr>
                      <m:t>)</m:t>
                    </m:r>
                  </m:oMath>
                </a14:m>
                <a:endParaRPr lang="en-IN" sz="2400" dirty="0">
                  <a:solidFill>
                    <a:schemeClr val="bg1"/>
                  </a:solidFill>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IN" sz="2000" dirty="0">
                  <a:solidFill>
                    <a:schemeClr val="bg1"/>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IN" sz="2000" dirty="0"/>
              </a:p>
              <a:p>
                <a:pPr eaLnBrk="0" fontAlgn="base" hangingPunct="0">
                  <a:spcBef>
                    <a:spcPct val="0"/>
                  </a:spcBef>
                  <a:spcAft>
                    <a:spcPct val="0"/>
                  </a:spcAft>
                </a:pPr>
                <a:endParaRPr lang="en-IN" sz="2000" dirty="0"/>
              </a:p>
              <a:p>
                <a:pPr eaLnBrk="0" fontAlgn="base" hangingPunct="0">
                  <a:spcBef>
                    <a:spcPct val="0"/>
                  </a:spcBef>
                  <a:spcAft>
                    <a:spcPct val="0"/>
                  </a:spcAft>
                </a:pPr>
                <a:endParaRPr lang="en-IN" sz="2000" b="1" dirty="0">
                  <a:solidFill>
                    <a:schemeClr val="bg1"/>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IN" dirty="0"/>
              </a:p>
              <a:p>
                <a:pPr lvl="0" eaLnBrk="0" fontAlgn="base" hangingPunct="0">
                  <a:spcBef>
                    <a:spcPct val="0"/>
                  </a:spcBef>
                  <a:spcAft>
                    <a:spcPct val="0"/>
                  </a:spcAft>
                </a:pPr>
                <a:endParaRPr lang="en-US" sz="2400" dirty="0">
                  <a:solidFill>
                    <a:schemeClr val="tx2">
                      <a:lumMod val="20000"/>
                      <a:lumOff val="80000"/>
                    </a:schemeClr>
                  </a:solidFill>
                  <a:latin typeface="Times New Roman" panose="02020603050405020304" pitchFamily="18" charset="0"/>
                  <a:cs typeface="Times New Roman" panose="02020603050405020304" pitchFamily="18" charset="0"/>
                </a:endParaRPr>
              </a:p>
            </p:txBody>
          </p:sp>
        </mc:Choice>
        <mc:Fallback xmlns="">
          <p:sp>
            <p:nvSpPr>
              <p:cNvPr id="4" name="Shape 1">
                <a:extLst>
                  <a:ext uri="{FF2B5EF4-FFF2-40B4-BE49-F238E27FC236}">
                    <a16:creationId xmlns:a16="http://schemas.microsoft.com/office/drawing/2014/main" id="{46B14DE9-F72E-C6F7-B039-49669269F952}"/>
                  </a:ext>
                </a:extLst>
              </p:cNvPr>
              <p:cNvSpPr>
                <a:spLocks noRot="1" noChangeAspect="1" noMove="1" noResize="1" noEditPoints="1" noAdjustHandles="1" noChangeArrowheads="1" noChangeShapeType="1" noTextEdit="1"/>
              </p:cNvSpPr>
              <p:nvPr/>
            </p:nvSpPr>
            <p:spPr>
              <a:xfrm>
                <a:off x="1046748" y="2021304"/>
                <a:ext cx="12260178" cy="5421218"/>
              </a:xfrm>
              <a:prstGeom prst="roundRect">
                <a:avLst>
                  <a:gd name="adj" fmla="val 2117"/>
                </a:avLst>
              </a:prstGeom>
              <a:blipFill>
                <a:blip r:embed="rId3"/>
                <a:stretch>
                  <a:fillRect l="-497"/>
                </a:stretch>
              </a:blipFill>
              <a:ln/>
            </p:spPr>
            <p:txBody>
              <a:bodyPr/>
              <a:lstStyle/>
              <a:p>
                <a:r>
                  <a:rPr lang="en-IN">
                    <a:noFill/>
                  </a:rPr>
                  <a:t> </a:t>
                </a:r>
              </a:p>
            </p:txBody>
          </p:sp>
        </mc:Fallback>
      </mc:AlternateContent>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B2682-93CE-9E11-67E5-24E7E2BFEDA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39601CA-90D8-519B-B7CE-DD18BAD98C18}"/>
              </a:ext>
            </a:extLst>
          </p:cNvPr>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3" name="TextBox 2">
            <a:extLst>
              <a:ext uri="{FF2B5EF4-FFF2-40B4-BE49-F238E27FC236}">
                <a16:creationId xmlns:a16="http://schemas.microsoft.com/office/drawing/2014/main" id="{EF9BE7AA-C87E-A21B-75B2-741A94B4DAFD}"/>
              </a:ext>
            </a:extLst>
          </p:cNvPr>
          <p:cNvSpPr txBox="1"/>
          <p:nvPr/>
        </p:nvSpPr>
        <p:spPr>
          <a:xfrm>
            <a:off x="4141350" y="628735"/>
            <a:ext cx="6135013" cy="646331"/>
          </a:xfrm>
          <a:prstGeom prst="rect">
            <a:avLst/>
          </a:prstGeom>
          <a:noFill/>
        </p:spPr>
        <p:txBody>
          <a:bodyPr wrap="none" rtlCol="0">
            <a:spAutoFit/>
          </a:bodyPr>
          <a:lstStyle/>
          <a:p>
            <a:r>
              <a:rPr lang="en-IN" sz="3600" b="1" u="sng" dirty="0">
                <a:solidFill>
                  <a:schemeClr val="bg1"/>
                </a:solidFill>
                <a:latin typeface="Algerian" panose="04020705040A02060702" pitchFamily="82" charset="0"/>
              </a:rPr>
              <a:t>Result &amp; INTERPRETATION</a:t>
            </a:r>
          </a:p>
        </p:txBody>
      </p:sp>
      <p:sp>
        <p:nvSpPr>
          <p:cNvPr id="4" name="Shape 1">
            <a:extLst>
              <a:ext uri="{FF2B5EF4-FFF2-40B4-BE49-F238E27FC236}">
                <a16:creationId xmlns:a16="http://schemas.microsoft.com/office/drawing/2014/main" id="{64938097-015C-4E02-86FD-DE475981CF2A}"/>
              </a:ext>
            </a:extLst>
          </p:cNvPr>
          <p:cNvSpPr/>
          <p:nvPr/>
        </p:nvSpPr>
        <p:spPr>
          <a:xfrm>
            <a:off x="1753935" y="1650257"/>
            <a:ext cx="10634306" cy="5639349"/>
          </a:xfrm>
          <a:prstGeom prst="roundRect">
            <a:avLst>
              <a:gd name="adj" fmla="val 2117"/>
            </a:avLst>
          </a:prstGeom>
          <a:solidFill>
            <a:srgbClr val="5F5153"/>
          </a:solidFill>
          <a:ln/>
        </p:spPr>
        <p:txBody>
          <a:bodyPr/>
          <a:lstStyle/>
          <a:p>
            <a:pPr lvl="0" eaLnBrk="0" fontAlgn="base" hangingPunct="0">
              <a:spcBef>
                <a:spcPct val="0"/>
              </a:spcBef>
              <a:spcAft>
                <a:spcPct val="0"/>
              </a:spcAft>
            </a:pPr>
            <a:endParaRPr lang="en-US" sz="2000" b="1" u="sng">
              <a:solidFill>
                <a:schemeClr val="bg1"/>
              </a:solidFill>
              <a:latin typeface="Times New Roman" panose="02020603050405020304" pitchFamily="18" charset="0"/>
              <a:cs typeface="Times New Roman" panose="02020603050405020304" pitchFamily="18" charset="0"/>
            </a:endParaRPr>
          </a:p>
          <a:p>
            <a:pPr algn="ctr">
              <a:buFont typeface="Arial" panose="020B0604020202020204" pitchFamily="34" charset="0"/>
              <a:buChar char="•"/>
            </a:pPr>
            <a:endParaRPr lang="en-US" sz="2000" dirty="0">
              <a:solidFill>
                <a:schemeClr val="bg1"/>
              </a:solidFill>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A3B4A42B-ED28-C268-9DF8-BA83BAA1469C}"/>
              </a:ext>
            </a:extLst>
          </p:cNvPr>
          <p:cNvGraphicFramePr>
            <a:graphicFrameLocks noGrp="1"/>
          </p:cNvGraphicFramePr>
          <p:nvPr>
            <p:extLst>
              <p:ext uri="{D42A27DB-BD31-4B8C-83A1-F6EECF244321}">
                <p14:modId xmlns:p14="http://schemas.microsoft.com/office/powerpoint/2010/main" val="408222281"/>
              </p:ext>
            </p:extLst>
          </p:nvPr>
        </p:nvGraphicFramePr>
        <p:xfrm>
          <a:off x="2194288" y="2406316"/>
          <a:ext cx="9753600" cy="4078704"/>
        </p:xfrm>
        <a:graphic>
          <a:graphicData uri="http://schemas.openxmlformats.org/drawingml/2006/table">
            <a:tbl>
              <a:tblPr firstRow="1" bandRow="1">
                <a:tableStyleId>{616DA210-FB5B-4158-B5E0-FEB733F419BA}</a:tableStyleId>
              </a:tblPr>
              <a:tblGrid>
                <a:gridCol w="1950720">
                  <a:extLst>
                    <a:ext uri="{9D8B030D-6E8A-4147-A177-3AD203B41FA5}">
                      <a16:colId xmlns:a16="http://schemas.microsoft.com/office/drawing/2014/main" val="1113654134"/>
                    </a:ext>
                  </a:extLst>
                </a:gridCol>
                <a:gridCol w="1950720">
                  <a:extLst>
                    <a:ext uri="{9D8B030D-6E8A-4147-A177-3AD203B41FA5}">
                      <a16:colId xmlns:a16="http://schemas.microsoft.com/office/drawing/2014/main" val="788789058"/>
                    </a:ext>
                  </a:extLst>
                </a:gridCol>
                <a:gridCol w="1950720">
                  <a:extLst>
                    <a:ext uri="{9D8B030D-6E8A-4147-A177-3AD203B41FA5}">
                      <a16:colId xmlns:a16="http://schemas.microsoft.com/office/drawing/2014/main" val="2758170584"/>
                    </a:ext>
                  </a:extLst>
                </a:gridCol>
                <a:gridCol w="1950720">
                  <a:extLst>
                    <a:ext uri="{9D8B030D-6E8A-4147-A177-3AD203B41FA5}">
                      <a16:colId xmlns:a16="http://schemas.microsoft.com/office/drawing/2014/main" val="3223655828"/>
                    </a:ext>
                  </a:extLst>
                </a:gridCol>
                <a:gridCol w="1950720">
                  <a:extLst>
                    <a:ext uri="{9D8B030D-6E8A-4147-A177-3AD203B41FA5}">
                      <a16:colId xmlns:a16="http://schemas.microsoft.com/office/drawing/2014/main" val="2588584037"/>
                    </a:ext>
                  </a:extLst>
                </a:gridCol>
              </a:tblGrid>
              <a:tr h="1019676">
                <a:tc>
                  <a:txBody>
                    <a:bodyPr/>
                    <a:lstStyle/>
                    <a:p>
                      <a:pPr>
                        <a:lnSpc>
                          <a:spcPct val="107000"/>
                        </a:lnSpc>
                        <a:spcAft>
                          <a:spcPts val="800"/>
                        </a:spcAft>
                        <a:buNone/>
                      </a:pPr>
                      <a:r>
                        <a:rPr lang="en-IN" sz="2400" b="1" kern="100" dirty="0">
                          <a:solidFill>
                            <a:schemeClr val="bg2">
                              <a:lumMod val="90000"/>
                            </a:schemeClr>
                          </a:solidFill>
                          <a:effectLst/>
                        </a:rPr>
                        <a:t>Comparison</a:t>
                      </a:r>
                      <a:endParaRPr lang="en-IN" sz="24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2400" b="1" kern="100" dirty="0">
                          <a:solidFill>
                            <a:schemeClr val="bg2">
                              <a:lumMod val="90000"/>
                            </a:schemeClr>
                          </a:solidFill>
                          <a:effectLst/>
                        </a:rPr>
                        <a:t>LR Statistic</a:t>
                      </a:r>
                      <a:endParaRPr lang="en-IN" sz="24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2400" b="1" kern="100" dirty="0" err="1">
                          <a:solidFill>
                            <a:schemeClr val="bg2">
                              <a:lumMod val="90000"/>
                            </a:schemeClr>
                          </a:solidFill>
                          <a:effectLst/>
                        </a:rPr>
                        <a:t>df</a:t>
                      </a:r>
                      <a:r>
                        <a:rPr lang="en-IN" sz="2400" b="1" kern="100" dirty="0">
                          <a:solidFill>
                            <a:schemeClr val="bg2">
                              <a:lumMod val="90000"/>
                            </a:schemeClr>
                          </a:solidFill>
                          <a:effectLst/>
                        </a:rPr>
                        <a:t> Difference</a:t>
                      </a:r>
                      <a:endParaRPr lang="en-IN" sz="24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2400" b="1" kern="100" dirty="0">
                          <a:solidFill>
                            <a:schemeClr val="bg2">
                              <a:lumMod val="90000"/>
                            </a:schemeClr>
                          </a:solidFill>
                          <a:effectLst/>
                        </a:rPr>
                        <a:t>p-value</a:t>
                      </a:r>
                      <a:endParaRPr lang="en-IN" sz="24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2400" b="1" kern="100" dirty="0">
                          <a:solidFill>
                            <a:schemeClr val="bg2">
                              <a:lumMod val="90000"/>
                            </a:schemeClr>
                          </a:solidFill>
                          <a:effectLst/>
                        </a:rPr>
                        <a:t>Decision</a:t>
                      </a:r>
                      <a:endParaRPr lang="en-IN" sz="24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extLst>
                  <a:ext uri="{0D108BD9-81ED-4DB2-BD59-A6C34878D82A}">
                    <a16:rowId xmlns:a16="http://schemas.microsoft.com/office/drawing/2014/main" val="3278552691"/>
                  </a:ext>
                </a:extLst>
              </a:tr>
              <a:tr h="1019676">
                <a:tc>
                  <a:txBody>
                    <a:bodyPr/>
                    <a:lstStyle/>
                    <a:p>
                      <a:pPr>
                        <a:lnSpc>
                          <a:spcPct val="107000"/>
                        </a:lnSpc>
                        <a:spcAft>
                          <a:spcPts val="800"/>
                        </a:spcAft>
                        <a:buNone/>
                      </a:pPr>
                      <a:r>
                        <a:rPr lang="en-IN" sz="1800" b="1" kern="100" dirty="0">
                          <a:solidFill>
                            <a:schemeClr val="bg2">
                              <a:lumMod val="90000"/>
                            </a:schemeClr>
                          </a:solidFill>
                          <a:effectLst/>
                        </a:rPr>
                        <a:t>Model 4 vs Model 3</a:t>
                      </a:r>
                      <a:endParaRPr lang="en-IN" sz="18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1800" b="1" kern="100" dirty="0">
                          <a:solidFill>
                            <a:schemeClr val="bg2">
                              <a:lumMod val="90000"/>
                            </a:schemeClr>
                          </a:solidFill>
                          <a:effectLst/>
                        </a:rPr>
                        <a:t>-827.54</a:t>
                      </a:r>
                      <a:endParaRPr lang="en-IN" sz="18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1800" b="1" kern="100" dirty="0">
                          <a:solidFill>
                            <a:schemeClr val="bg2">
                              <a:lumMod val="90000"/>
                            </a:schemeClr>
                          </a:solidFill>
                          <a:effectLst/>
                        </a:rPr>
                        <a:t>4</a:t>
                      </a:r>
                      <a:endParaRPr lang="en-IN" sz="18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1800" b="1" kern="100" dirty="0">
                          <a:solidFill>
                            <a:schemeClr val="bg2">
                              <a:lumMod val="90000"/>
                            </a:schemeClr>
                          </a:solidFill>
                          <a:effectLst/>
                        </a:rPr>
                        <a:t>1.000</a:t>
                      </a:r>
                      <a:endParaRPr lang="en-IN" sz="18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1800" b="1" kern="100" dirty="0">
                          <a:solidFill>
                            <a:schemeClr val="bg2">
                              <a:lumMod val="90000"/>
                            </a:schemeClr>
                          </a:solidFill>
                          <a:effectLst/>
                        </a:rPr>
                        <a:t>Model 3 preferred</a:t>
                      </a:r>
                      <a:endParaRPr lang="en-IN" sz="18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extLst>
                  <a:ext uri="{0D108BD9-81ED-4DB2-BD59-A6C34878D82A}">
                    <a16:rowId xmlns:a16="http://schemas.microsoft.com/office/drawing/2014/main" val="855180512"/>
                  </a:ext>
                </a:extLst>
              </a:tr>
              <a:tr h="1019676">
                <a:tc>
                  <a:txBody>
                    <a:bodyPr/>
                    <a:lstStyle/>
                    <a:p>
                      <a:pPr>
                        <a:lnSpc>
                          <a:spcPct val="107000"/>
                        </a:lnSpc>
                        <a:spcAft>
                          <a:spcPts val="800"/>
                        </a:spcAft>
                        <a:buNone/>
                      </a:pPr>
                      <a:r>
                        <a:rPr lang="en-IN" sz="1800" b="1" kern="100">
                          <a:solidFill>
                            <a:schemeClr val="bg2">
                              <a:lumMod val="90000"/>
                            </a:schemeClr>
                          </a:solidFill>
                          <a:effectLst/>
                        </a:rPr>
                        <a:t>Model 4 vs Model 2</a:t>
                      </a:r>
                      <a:endParaRPr lang="en-IN" sz="1800" b="1" kern="10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1800" b="1" kern="100">
                          <a:solidFill>
                            <a:schemeClr val="bg2">
                              <a:lumMod val="90000"/>
                            </a:schemeClr>
                          </a:solidFill>
                          <a:effectLst/>
                        </a:rPr>
                        <a:t>1329.96</a:t>
                      </a:r>
                      <a:endParaRPr lang="en-IN" sz="1800" b="1" kern="10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1800" b="1" kern="100" dirty="0">
                          <a:solidFill>
                            <a:schemeClr val="bg2">
                              <a:lumMod val="90000"/>
                            </a:schemeClr>
                          </a:solidFill>
                          <a:effectLst/>
                        </a:rPr>
                        <a:t>13</a:t>
                      </a:r>
                      <a:endParaRPr lang="en-IN" sz="18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1800" b="1" kern="100" dirty="0">
                          <a:solidFill>
                            <a:schemeClr val="bg2">
                              <a:lumMod val="90000"/>
                            </a:schemeClr>
                          </a:solidFill>
                          <a:effectLst/>
                        </a:rPr>
                        <a:t>&lt; 0.001</a:t>
                      </a:r>
                      <a:endParaRPr lang="en-IN" sz="18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1800" b="1" kern="100" dirty="0">
                          <a:solidFill>
                            <a:schemeClr val="bg2">
                              <a:lumMod val="90000"/>
                            </a:schemeClr>
                          </a:solidFill>
                          <a:effectLst/>
                        </a:rPr>
                        <a:t>Model 4 significantly better</a:t>
                      </a:r>
                      <a:endParaRPr lang="en-IN" sz="18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extLst>
                  <a:ext uri="{0D108BD9-81ED-4DB2-BD59-A6C34878D82A}">
                    <a16:rowId xmlns:a16="http://schemas.microsoft.com/office/drawing/2014/main" val="1637505418"/>
                  </a:ext>
                </a:extLst>
              </a:tr>
              <a:tr h="1019676">
                <a:tc>
                  <a:txBody>
                    <a:bodyPr/>
                    <a:lstStyle/>
                    <a:p>
                      <a:pPr>
                        <a:lnSpc>
                          <a:spcPct val="107000"/>
                        </a:lnSpc>
                        <a:spcAft>
                          <a:spcPts val="800"/>
                        </a:spcAft>
                        <a:buNone/>
                      </a:pPr>
                      <a:r>
                        <a:rPr lang="en-IN" sz="1800" b="1" kern="100" dirty="0">
                          <a:solidFill>
                            <a:schemeClr val="bg2">
                              <a:lumMod val="90000"/>
                            </a:schemeClr>
                          </a:solidFill>
                          <a:effectLst/>
                        </a:rPr>
                        <a:t>Model 4 vs Model 1</a:t>
                      </a:r>
                      <a:endParaRPr lang="en-IN" sz="18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1800" b="1" kern="100">
                          <a:solidFill>
                            <a:schemeClr val="bg2">
                              <a:lumMod val="90000"/>
                            </a:schemeClr>
                          </a:solidFill>
                          <a:effectLst/>
                        </a:rPr>
                        <a:t>26908.38</a:t>
                      </a:r>
                      <a:endParaRPr lang="en-IN" sz="1800" b="1" kern="10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1800" b="1" kern="100">
                          <a:solidFill>
                            <a:schemeClr val="bg2">
                              <a:lumMod val="90000"/>
                            </a:schemeClr>
                          </a:solidFill>
                          <a:effectLst/>
                        </a:rPr>
                        <a:t>20</a:t>
                      </a:r>
                      <a:endParaRPr lang="en-IN" sz="1800" b="1" kern="10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1800" b="1" kern="100" dirty="0">
                          <a:solidFill>
                            <a:schemeClr val="bg2">
                              <a:lumMod val="90000"/>
                            </a:schemeClr>
                          </a:solidFill>
                          <a:effectLst/>
                        </a:rPr>
                        <a:t>&lt; 0.001</a:t>
                      </a:r>
                      <a:endParaRPr lang="en-IN" sz="18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tc>
                  <a:txBody>
                    <a:bodyPr/>
                    <a:lstStyle/>
                    <a:p>
                      <a:pPr>
                        <a:lnSpc>
                          <a:spcPct val="107000"/>
                        </a:lnSpc>
                        <a:spcAft>
                          <a:spcPts val="800"/>
                        </a:spcAft>
                        <a:buNone/>
                      </a:pPr>
                      <a:r>
                        <a:rPr lang="en-IN" sz="1800" b="1" kern="100" dirty="0">
                          <a:solidFill>
                            <a:schemeClr val="bg2">
                              <a:lumMod val="90000"/>
                            </a:schemeClr>
                          </a:solidFill>
                          <a:effectLst/>
                        </a:rPr>
                        <a:t>Model 4 significantly better</a:t>
                      </a:r>
                      <a:endParaRPr lang="en-IN" sz="1800" b="1" kern="100" dirty="0">
                        <a:solidFill>
                          <a:schemeClr val="bg2">
                            <a:lumMod val="90000"/>
                          </a:schemeClr>
                        </a:solidFill>
                        <a:effectLst/>
                        <a:latin typeface="Calibri" panose="020F0502020204030204" pitchFamily="34" charset="0"/>
                        <a:ea typeface="Calibri" panose="020F0502020204030204" pitchFamily="34" charset="0"/>
                        <a:cs typeface="Vrinda" panose="020B0502040204020203" pitchFamily="34" charset="0"/>
                      </a:endParaRPr>
                    </a:p>
                  </a:txBody>
                  <a:tcPr marL="9525" marR="9525" marT="9525" marB="9525" anchor="ctr"/>
                </a:tc>
                <a:extLst>
                  <a:ext uri="{0D108BD9-81ED-4DB2-BD59-A6C34878D82A}">
                    <a16:rowId xmlns:a16="http://schemas.microsoft.com/office/drawing/2014/main" val="27144616"/>
                  </a:ext>
                </a:extLst>
              </a:tr>
            </a:tbl>
          </a:graphicData>
        </a:graphic>
      </p:graphicFrame>
    </p:spTree>
    <p:extLst>
      <p:ext uri="{BB962C8B-B14F-4D97-AF65-F5344CB8AC3E}">
        <p14:creationId xmlns:p14="http://schemas.microsoft.com/office/powerpoint/2010/main" val="27007900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C9024-CE13-3799-923B-0A24287A522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B2D06A9-0CD9-0A3C-0BF8-3B0A4631B1CC}"/>
              </a:ext>
            </a:extLst>
          </p:cNvPr>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10" name="TextBox 9">
            <a:extLst>
              <a:ext uri="{FF2B5EF4-FFF2-40B4-BE49-F238E27FC236}">
                <a16:creationId xmlns:a16="http://schemas.microsoft.com/office/drawing/2014/main" id="{C5B196EE-0D64-8DE7-F63D-F9289D220EA2}"/>
              </a:ext>
            </a:extLst>
          </p:cNvPr>
          <p:cNvSpPr txBox="1"/>
          <p:nvPr/>
        </p:nvSpPr>
        <p:spPr>
          <a:xfrm>
            <a:off x="6979535" y="2787100"/>
            <a:ext cx="7315200" cy="671915"/>
          </a:xfrm>
          <a:prstGeom prst="rect">
            <a:avLst/>
          </a:prstGeom>
          <a:noFill/>
        </p:spPr>
        <p:txBody>
          <a:bodyPr wrap="square">
            <a:spAutoFit/>
          </a:bodyPr>
          <a:lstStyle/>
          <a:p>
            <a:pPr algn="ctr">
              <a:lnSpc>
                <a:spcPct val="107000"/>
              </a:lnSpc>
              <a:spcAft>
                <a:spcPts val="800"/>
              </a:spcAft>
              <a:buNone/>
            </a:pPr>
            <a:br>
              <a:rPr lang="en-IN" sz="1800" kern="100" dirty="0">
                <a:effectLst/>
                <a:latin typeface="Times New Roman" panose="02020603050405020304" pitchFamily="18" charset="0"/>
                <a:ea typeface="Calibri" panose="020F0502020204030204" pitchFamily="34" charset="0"/>
                <a:cs typeface="Vrinda" panose="020B0502040204020203" pitchFamily="34" charset="0"/>
              </a:rPr>
            </a:br>
            <a:endParaRPr lang="en-IN" sz="1800" kern="100" dirty="0">
              <a:effectLst/>
              <a:latin typeface="Calibri" panose="020F0502020204030204" pitchFamily="34" charset="0"/>
              <a:ea typeface="Calibri" panose="020F0502020204030204" pitchFamily="34" charset="0"/>
              <a:cs typeface="Vrinda" panose="020B0502040204020203" pitchFamily="34" charset="0"/>
            </a:endParaRPr>
          </a:p>
        </p:txBody>
      </p:sp>
      <p:sp>
        <p:nvSpPr>
          <p:cNvPr id="3" name="Shape 1">
            <a:extLst>
              <a:ext uri="{FF2B5EF4-FFF2-40B4-BE49-F238E27FC236}">
                <a16:creationId xmlns:a16="http://schemas.microsoft.com/office/drawing/2014/main" id="{707978BA-3966-CA04-08A4-FC3D50EF0E2F}"/>
              </a:ext>
            </a:extLst>
          </p:cNvPr>
          <p:cNvSpPr/>
          <p:nvPr/>
        </p:nvSpPr>
        <p:spPr>
          <a:xfrm>
            <a:off x="335665" y="4202900"/>
            <a:ext cx="6794422" cy="3517414"/>
          </a:xfrm>
          <a:prstGeom prst="roundRect">
            <a:avLst>
              <a:gd name="adj" fmla="val 2117"/>
            </a:avLst>
          </a:prstGeom>
          <a:solidFill>
            <a:srgbClr val="5F5153"/>
          </a:solidFill>
          <a:ln/>
        </p:spPr>
        <p:txBody>
          <a:bodyPr/>
          <a:lstStyle/>
          <a:p>
            <a:pPr algn="just">
              <a:lnSpc>
                <a:spcPct val="107000"/>
              </a:lnSpc>
              <a:spcAft>
                <a:spcPts val="800"/>
              </a:spcAft>
              <a:buNone/>
            </a:pPr>
            <a:endParaRPr lang="en-IN" sz="2000" b="1" kern="100" dirty="0">
              <a:latin typeface="Times New Roman" panose="02020603050405020304" pitchFamily="18" charset="0"/>
              <a:ea typeface="Calibri" panose="020F0502020204030204" pitchFamily="34" charset="0"/>
              <a:cs typeface="Vrinda" panose="020B0502040204020203" pitchFamily="34" charset="0"/>
            </a:endParaRPr>
          </a:p>
          <a:p>
            <a:pPr algn="just">
              <a:lnSpc>
                <a:spcPct val="107000"/>
              </a:lnSpc>
              <a:spcAft>
                <a:spcPts val="800"/>
              </a:spcAft>
              <a:buNone/>
            </a:pPr>
            <a:r>
              <a:rPr lang="en-IN" sz="2400" b="1" kern="100" dirty="0">
                <a:solidFill>
                  <a:schemeClr val="bg1"/>
                </a:solidFill>
                <a:latin typeface="Times New Roman" panose="02020603050405020304" pitchFamily="18" charset="0"/>
                <a:ea typeface="Calibri" panose="020F0502020204030204" pitchFamily="34" charset="0"/>
                <a:cs typeface="Vrinda" panose="020B0502040204020203" pitchFamily="34" charset="0"/>
              </a:rPr>
              <a:t>Model 4 vs Model 3</a:t>
            </a:r>
            <a:endParaRPr lang="en-IN" sz="2400" kern="100" dirty="0">
              <a:solidFill>
                <a:schemeClr val="bg1"/>
              </a:solidFill>
              <a:latin typeface="Calibri" panose="020F0502020204030204" pitchFamily="34" charset="0"/>
              <a:ea typeface="Calibri" panose="020F0502020204030204" pitchFamily="34" charset="0"/>
              <a:cs typeface="Vrinda" panose="020B0502040204020203" pitchFamily="34" charset="0"/>
            </a:endParaRPr>
          </a:p>
          <a:p>
            <a:pPr algn="just">
              <a:lnSpc>
                <a:spcPct val="107000"/>
              </a:lnSpc>
              <a:spcAft>
                <a:spcPts val="800"/>
              </a:spcAft>
              <a:buNone/>
            </a:pPr>
            <a:r>
              <a:rPr lang="en-IN" sz="2000" kern="100" dirty="0">
                <a:solidFill>
                  <a:schemeClr val="bg1"/>
                </a:solidFill>
                <a:latin typeface="Times New Roman" panose="02020603050405020304" pitchFamily="18" charset="0"/>
                <a:ea typeface="Calibri" panose="020F0502020204030204" pitchFamily="34" charset="0"/>
                <a:cs typeface="Vrinda" panose="020B0502040204020203" pitchFamily="34" charset="0"/>
              </a:rPr>
              <a:t>The likelihood ratio statistic is negative (−827.54), indicating that the log-likelihood of Model 4 is lower than that of Model 3. This implies that the additional predictors included in Model 4 do not improve model fit. The p-value of 1.000 confirms that there is no statistical evidence to reject the null hypothesis. Therefore, Model 3 is preferred over Model 4, as it provides a better fit with fewer parameters.</a:t>
            </a:r>
            <a:endParaRPr lang="en-IN" sz="2000" kern="100" dirty="0">
              <a:solidFill>
                <a:schemeClr val="bg1"/>
              </a:solidFill>
              <a:latin typeface="Calibri" panose="020F0502020204030204" pitchFamily="34" charset="0"/>
              <a:ea typeface="Calibri" panose="020F0502020204030204" pitchFamily="34" charset="0"/>
              <a:cs typeface="Vrinda" panose="020B0502040204020203" pitchFamily="34" charset="0"/>
            </a:endParaRPr>
          </a:p>
          <a:p>
            <a:pPr lvl="0" algn="just" eaLnBrk="0" fontAlgn="base" hangingPunct="0">
              <a:spcBef>
                <a:spcPct val="0"/>
              </a:spcBef>
              <a:spcAft>
                <a:spcPct val="0"/>
              </a:spcAft>
            </a:pPr>
            <a:endParaRPr lang="en-US" altLang="en-US" sz="2400" dirty="0">
              <a:solidFill>
                <a:schemeClr val="bg2"/>
              </a:solidFill>
              <a:latin typeface="Times New Roman" panose="02020603050405020304" pitchFamily="18" charset="0"/>
              <a:cs typeface="Times New Roman" panose="02020603050405020304" pitchFamily="18" charset="0"/>
            </a:endParaRPr>
          </a:p>
        </p:txBody>
      </p:sp>
      <p:sp>
        <p:nvSpPr>
          <p:cNvPr id="5" name="Shape 1">
            <a:extLst>
              <a:ext uri="{FF2B5EF4-FFF2-40B4-BE49-F238E27FC236}">
                <a16:creationId xmlns:a16="http://schemas.microsoft.com/office/drawing/2014/main" id="{6CC0D1AD-BE4E-0152-56F8-D61DF14EF1FF}"/>
              </a:ext>
            </a:extLst>
          </p:cNvPr>
          <p:cNvSpPr/>
          <p:nvPr/>
        </p:nvSpPr>
        <p:spPr>
          <a:xfrm>
            <a:off x="445502" y="877668"/>
            <a:ext cx="6794422" cy="2891951"/>
          </a:xfrm>
          <a:prstGeom prst="roundRect">
            <a:avLst>
              <a:gd name="adj" fmla="val 2117"/>
            </a:avLst>
          </a:prstGeom>
          <a:solidFill>
            <a:srgbClr val="5F5153"/>
          </a:solidFill>
          <a:ln/>
        </p:spPr>
        <p:txBody>
          <a:bodyPr/>
          <a:lstStyle/>
          <a:p>
            <a:pPr algn="just">
              <a:lnSpc>
                <a:spcPct val="107000"/>
              </a:lnSpc>
              <a:spcAft>
                <a:spcPts val="800"/>
              </a:spcAft>
              <a:buNone/>
            </a:pPr>
            <a:endParaRPr lang="en-IN" sz="2000" b="1" kern="100" dirty="0">
              <a:solidFill>
                <a:schemeClr val="bg1"/>
              </a:solidFill>
              <a:latin typeface="Times New Roman" panose="02020603050405020304" pitchFamily="18" charset="0"/>
              <a:ea typeface="Calibri" panose="020F0502020204030204" pitchFamily="34" charset="0"/>
              <a:cs typeface="Vrinda" panose="020B0502040204020203" pitchFamily="34" charset="0"/>
            </a:endParaRPr>
          </a:p>
          <a:p>
            <a:pPr algn="just">
              <a:lnSpc>
                <a:spcPct val="107000"/>
              </a:lnSpc>
              <a:spcAft>
                <a:spcPts val="800"/>
              </a:spcAft>
              <a:buNone/>
            </a:pPr>
            <a:r>
              <a:rPr lang="en-IN" sz="2400" b="1" kern="100" dirty="0">
                <a:solidFill>
                  <a:schemeClr val="bg1"/>
                </a:solidFill>
                <a:latin typeface="Times New Roman" panose="02020603050405020304" pitchFamily="18" charset="0"/>
                <a:ea typeface="Calibri" panose="020F0502020204030204" pitchFamily="34" charset="0"/>
                <a:cs typeface="Vrinda" panose="020B0502040204020203" pitchFamily="34" charset="0"/>
              </a:rPr>
              <a:t>Model 4 vs Model 1</a:t>
            </a:r>
            <a:endParaRPr lang="en-IN" sz="2400" kern="100" dirty="0">
              <a:solidFill>
                <a:schemeClr val="bg1"/>
              </a:solidFill>
              <a:latin typeface="Calibri" panose="020F0502020204030204" pitchFamily="34" charset="0"/>
              <a:ea typeface="Calibri" panose="020F0502020204030204" pitchFamily="34" charset="0"/>
              <a:cs typeface="Vrinda" panose="020B0502040204020203" pitchFamily="34" charset="0"/>
            </a:endParaRPr>
          </a:p>
          <a:p>
            <a:pPr algn="just">
              <a:lnSpc>
                <a:spcPct val="107000"/>
              </a:lnSpc>
              <a:spcAft>
                <a:spcPts val="800"/>
              </a:spcAft>
              <a:buNone/>
            </a:pPr>
            <a:r>
              <a:rPr lang="en-IN" sz="2000" kern="100" dirty="0">
                <a:solidFill>
                  <a:schemeClr val="bg1"/>
                </a:solidFill>
                <a:latin typeface="Times New Roman" panose="02020603050405020304" pitchFamily="18" charset="0"/>
                <a:ea typeface="Calibri" panose="020F0502020204030204" pitchFamily="34" charset="0"/>
                <a:cs typeface="Vrinda" panose="020B0502040204020203" pitchFamily="34" charset="0"/>
              </a:rPr>
              <a:t>The LR statistic is extremely large (26908.38) with 20 degrees of freedom and a p-value close to zero. This strongly suggests that Model 4 is substantially better than Model 1, indicating that the additional predictors greatly improve model performance.</a:t>
            </a:r>
            <a:endParaRPr lang="en-IN" sz="2000" kern="100" dirty="0">
              <a:solidFill>
                <a:schemeClr val="bg1"/>
              </a:solidFill>
              <a:latin typeface="Calibri" panose="020F0502020204030204" pitchFamily="34" charset="0"/>
              <a:ea typeface="Calibri" panose="020F0502020204030204" pitchFamily="34" charset="0"/>
              <a:cs typeface="Vrinda" panose="020B0502040204020203" pitchFamily="34" charset="0"/>
            </a:endParaRPr>
          </a:p>
          <a:p>
            <a:pPr lvl="0" algn="just" eaLnBrk="0" fontAlgn="base" hangingPunct="0">
              <a:spcBef>
                <a:spcPct val="0"/>
              </a:spcBef>
              <a:spcAft>
                <a:spcPct val="0"/>
              </a:spcAft>
            </a:pPr>
            <a:endParaRPr lang="en-US" altLang="en-US" sz="2400" dirty="0">
              <a:solidFill>
                <a:schemeClr val="bg2"/>
              </a:solidFill>
              <a:latin typeface="Times New Roman" panose="02020603050405020304" pitchFamily="18" charset="0"/>
              <a:cs typeface="Times New Roman" panose="02020603050405020304" pitchFamily="18" charset="0"/>
            </a:endParaRPr>
          </a:p>
        </p:txBody>
      </p:sp>
      <p:sp>
        <p:nvSpPr>
          <p:cNvPr id="7" name="Shape 1">
            <a:extLst>
              <a:ext uri="{FF2B5EF4-FFF2-40B4-BE49-F238E27FC236}">
                <a16:creationId xmlns:a16="http://schemas.microsoft.com/office/drawing/2014/main" id="{49A2915E-2074-A7AC-CE35-A66DAF10D7B6}"/>
              </a:ext>
            </a:extLst>
          </p:cNvPr>
          <p:cNvSpPr/>
          <p:nvPr/>
        </p:nvSpPr>
        <p:spPr>
          <a:xfrm>
            <a:off x="7500313" y="868400"/>
            <a:ext cx="6794422" cy="2891951"/>
          </a:xfrm>
          <a:prstGeom prst="roundRect">
            <a:avLst>
              <a:gd name="adj" fmla="val 2117"/>
            </a:avLst>
          </a:prstGeom>
          <a:solidFill>
            <a:srgbClr val="5F5153"/>
          </a:solidFill>
          <a:ln/>
        </p:spPr>
        <p:txBody>
          <a:bodyPr/>
          <a:lstStyle/>
          <a:p>
            <a:pPr algn="just">
              <a:lnSpc>
                <a:spcPct val="107000"/>
              </a:lnSpc>
              <a:spcAft>
                <a:spcPts val="800"/>
              </a:spcAft>
              <a:buNone/>
            </a:pPr>
            <a:endParaRPr lang="en-IN" sz="2400" b="1" kern="100" dirty="0">
              <a:latin typeface="Times New Roman" panose="02020603050405020304" pitchFamily="18" charset="0"/>
              <a:ea typeface="Calibri" panose="020F0502020204030204" pitchFamily="34" charset="0"/>
              <a:cs typeface="Vrinda" panose="020B0502040204020203" pitchFamily="34" charset="0"/>
            </a:endParaRPr>
          </a:p>
          <a:p>
            <a:pPr algn="just">
              <a:lnSpc>
                <a:spcPct val="107000"/>
              </a:lnSpc>
              <a:spcAft>
                <a:spcPts val="800"/>
              </a:spcAft>
              <a:buNone/>
            </a:pPr>
            <a:r>
              <a:rPr lang="en-IN" sz="2400" b="1" kern="100" dirty="0">
                <a:solidFill>
                  <a:schemeClr val="bg1"/>
                </a:solidFill>
                <a:latin typeface="Times New Roman" panose="02020603050405020304" pitchFamily="18" charset="0"/>
                <a:ea typeface="Calibri" panose="020F0502020204030204" pitchFamily="34" charset="0"/>
                <a:cs typeface="Vrinda" panose="020B0502040204020203" pitchFamily="34" charset="0"/>
              </a:rPr>
              <a:t>Model 4 vs Model 2</a:t>
            </a:r>
            <a:endParaRPr lang="en-IN" sz="2400" kern="100" dirty="0">
              <a:solidFill>
                <a:schemeClr val="bg1"/>
              </a:solidFill>
              <a:latin typeface="Calibri" panose="020F0502020204030204" pitchFamily="34" charset="0"/>
              <a:ea typeface="Calibri" panose="020F0502020204030204" pitchFamily="34" charset="0"/>
              <a:cs typeface="Vrinda" panose="020B0502040204020203" pitchFamily="34" charset="0"/>
            </a:endParaRPr>
          </a:p>
          <a:p>
            <a:pPr algn="just">
              <a:buNone/>
            </a:pPr>
            <a:r>
              <a:rPr lang="en-IN" sz="2000" dirty="0">
                <a:solidFill>
                  <a:schemeClr val="bg1"/>
                </a:solidFill>
                <a:latin typeface="Times New Roman" panose="02020603050405020304" pitchFamily="18" charset="0"/>
                <a:ea typeface="Calibri" panose="020F0502020204030204" pitchFamily="34" charset="0"/>
              </a:rPr>
              <a:t>The LR statistic is 1329.96 with 13 degrees of freedom, and the p-value is effectively zero. This indicates that Model 4 provides a significantly better fit than Model 2. Hence, the additional predictors included beyond Model 2 contribute meaningfully to explaining variation in pain levels</a:t>
            </a:r>
            <a:endParaRPr lang="en-IN" sz="2000" dirty="0">
              <a:solidFill>
                <a:schemeClr val="bg1"/>
              </a:solidFill>
            </a:endParaRPr>
          </a:p>
          <a:p>
            <a:pPr lvl="0" algn="just" eaLnBrk="0" fontAlgn="base" hangingPunct="0">
              <a:spcBef>
                <a:spcPct val="0"/>
              </a:spcBef>
              <a:spcAft>
                <a:spcPct val="0"/>
              </a:spcAft>
            </a:pPr>
            <a:endParaRPr lang="en-US" altLang="en-US" sz="2400" dirty="0">
              <a:solidFill>
                <a:schemeClr val="bg2"/>
              </a:solidFill>
              <a:latin typeface="Times New Roman" panose="02020603050405020304" pitchFamily="18" charset="0"/>
              <a:cs typeface="Times New Roman" panose="02020603050405020304" pitchFamily="18" charset="0"/>
            </a:endParaRPr>
          </a:p>
        </p:txBody>
      </p:sp>
      <p:sp>
        <p:nvSpPr>
          <p:cNvPr id="9" name="Shape 1">
            <a:extLst>
              <a:ext uri="{FF2B5EF4-FFF2-40B4-BE49-F238E27FC236}">
                <a16:creationId xmlns:a16="http://schemas.microsoft.com/office/drawing/2014/main" id="{004B899F-B4DC-9B52-AE09-FB79317346E9}"/>
              </a:ext>
            </a:extLst>
          </p:cNvPr>
          <p:cNvSpPr/>
          <p:nvPr/>
        </p:nvSpPr>
        <p:spPr>
          <a:xfrm>
            <a:off x="7500313" y="4202900"/>
            <a:ext cx="6794422" cy="3517414"/>
          </a:xfrm>
          <a:prstGeom prst="roundRect">
            <a:avLst>
              <a:gd name="adj" fmla="val 2117"/>
            </a:avLst>
          </a:prstGeom>
          <a:solidFill>
            <a:srgbClr val="5F5153"/>
          </a:solidFill>
          <a:ln/>
        </p:spPr>
        <p:txBody>
          <a:bodyPr/>
          <a:lstStyle/>
          <a:p>
            <a:pPr>
              <a:lnSpc>
                <a:spcPct val="107000"/>
              </a:lnSpc>
              <a:spcAft>
                <a:spcPts val="800"/>
              </a:spcAft>
              <a:buNone/>
            </a:pPr>
            <a:endParaRPr lang="en-IN" sz="2000" b="1" kern="100" dirty="0">
              <a:latin typeface="Times New Roman" panose="02020603050405020304" pitchFamily="18" charset="0"/>
              <a:ea typeface="Calibri" panose="020F0502020204030204" pitchFamily="34" charset="0"/>
              <a:cs typeface="Vrinda" panose="020B0502040204020203" pitchFamily="34" charset="0"/>
            </a:endParaRPr>
          </a:p>
          <a:p>
            <a:pPr>
              <a:lnSpc>
                <a:spcPct val="107000"/>
              </a:lnSpc>
              <a:spcAft>
                <a:spcPts val="800"/>
              </a:spcAft>
              <a:buNone/>
            </a:pPr>
            <a:r>
              <a:rPr lang="en-IN" sz="2400" b="1" kern="100" dirty="0">
                <a:solidFill>
                  <a:schemeClr val="bg1"/>
                </a:solidFill>
                <a:latin typeface="Times New Roman" panose="02020603050405020304" pitchFamily="18" charset="0"/>
                <a:ea typeface="Calibri" panose="020F0502020204030204" pitchFamily="34" charset="0"/>
                <a:cs typeface="Vrinda" panose="020B0502040204020203" pitchFamily="34" charset="0"/>
              </a:rPr>
              <a:t>Final Conclusion </a:t>
            </a:r>
          </a:p>
          <a:p>
            <a:pPr>
              <a:lnSpc>
                <a:spcPct val="107000"/>
              </a:lnSpc>
              <a:spcAft>
                <a:spcPts val="800"/>
              </a:spcAft>
              <a:buNone/>
            </a:pPr>
            <a:r>
              <a:rPr lang="en-IN" sz="2000" kern="100" dirty="0">
                <a:solidFill>
                  <a:schemeClr val="bg1"/>
                </a:solidFill>
                <a:latin typeface="Times New Roman" panose="02020603050405020304" pitchFamily="18" charset="0"/>
                <a:ea typeface="Calibri" panose="020F0502020204030204" pitchFamily="34" charset="0"/>
                <a:cs typeface="Vrinda" panose="020B0502040204020203" pitchFamily="34" charset="0"/>
              </a:rPr>
              <a:t>Overall, while Model 4 significantly improves upon Models 1 and 2, it does not outperform Model 3. The inclusion of additional predictors in Model 4 leads to a reduction in model fit, suggesting overfitting or inclusion of non-informative variables. Therefore, </a:t>
            </a:r>
            <a:r>
              <a:rPr lang="en-IN" sz="2000" b="1" kern="100" dirty="0">
                <a:solidFill>
                  <a:schemeClr val="bg1"/>
                </a:solidFill>
                <a:latin typeface="Times New Roman" panose="02020603050405020304" pitchFamily="18" charset="0"/>
                <a:ea typeface="Calibri" panose="020F0502020204030204" pitchFamily="34" charset="0"/>
                <a:cs typeface="Vrinda" panose="020B0502040204020203" pitchFamily="34" charset="0"/>
              </a:rPr>
              <a:t>Model 3 is selected as the final model</a:t>
            </a:r>
            <a:r>
              <a:rPr lang="en-IN" sz="2000" kern="100" dirty="0">
                <a:solidFill>
                  <a:schemeClr val="bg1"/>
                </a:solidFill>
                <a:latin typeface="Times New Roman" panose="02020603050405020304" pitchFamily="18" charset="0"/>
                <a:ea typeface="Calibri" panose="020F0502020204030204" pitchFamily="34" charset="0"/>
                <a:cs typeface="Vrinda" panose="020B0502040204020203" pitchFamily="34" charset="0"/>
              </a:rPr>
              <a:t>, as it achieves a better balance between goodness-of-fit and model parsimony.</a:t>
            </a:r>
            <a:endParaRPr lang="en-IN" sz="2000" kern="100" dirty="0">
              <a:solidFill>
                <a:schemeClr val="bg1"/>
              </a:solidFill>
              <a:latin typeface="Calibri" panose="020F0502020204030204" pitchFamily="34" charset="0"/>
              <a:ea typeface="Calibri" panose="020F0502020204030204" pitchFamily="34" charset="0"/>
              <a:cs typeface="Vrinda" panose="020B0502040204020203" pitchFamily="34" charset="0"/>
            </a:endParaRPr>
          </a:p>
          <a:p>
            <a:pPr lvl="0" algn="just" eaLnBrk="0" fontAlgn="base" hangingPunct="0">
              <a:spcBef>
                <a:spcPct val="0"/>
              </a:spcBef>
              <a:spcAft>
                <a:spcPct val="0"/>
              </a:spcAft>
            </a:pPr>
            <a:endParaRPr lang="en-US" altLang="en-US" sz="2400" dirty="0">
              <a:solidFill>
                <a:schemeClr val="bg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0431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4" name="TextBox 3">
            <a:extLst>
              <a:ext uri="{FF2B5EF4-FFF2-40B4-BE49-F238E27FC236}">
                <a16:creationId xmlns:a16="http://schemas.microsoft.com/office/drawing/2014/main" id="{D09FD0E9-6BB2-6FC5-24DB-D33FEB5892D4}"/>
              </a:ext>
            </a:extLst>
          </p:cNvPr>
          <p:cNvSpPr txBox="1"/>
          <p:nvPr/>
        </p:nvSpPr>
        <p:spPr>
          <a:xfrm>
            <a:off x="5833641" y="609412"/>
            <a:ext cx="3391381" cy="646331"/>
          </a:xfrm>
          <a:prstGeom prst="rect">
            <a:avLst/>
          </a:prstGeom>
          <a:noFill/>
        </p:spPr>
        <p:txBody>
          <a:bodyPr wrap="square">
            <a:spAutoFit/>
          </a:bodyPr>
          <a:lstStyle/>
          <a:p>
            <a:r>
              <a:rPr lang="en-IN" sz="2800" b="1" u="sng" dirty="0">
                <a:solidFill>
                  <a:schemeClr val="bg1"/>
                </a:solidFill>
                <a:latin typeface="Algerian" panose="04020705040A02060702" pitchFamily="82" charset="0"/>
              </a:rPr>
              <a:t> </a:t>
            </a:r>
            <a:r>
              <a:rPr lang="en-IN" sz="3600" b="1" u="sng" dirty="0" err="1">
                <a:solidFill>
                  <a:schemeClr val="bg1"/>
                </a:solidFill>
                <a:latin typeface="Algerian" panose="04020705040A02060702" pitchFamily="82" charset="0"/>
              </a:rPr>
              <a:t>wald</a:t>
            </a:r>
            <a:r>
              <a:rPr lang="en-IN" sz="3600" b="1" u="sng" dirty="0">
                <a:solidFill>
                  <a:schemeClr val="bg1"/>
                </a:solidFill>
                <a:latin typeface="Algerian" panose="04020705040A02060702" pitchFamily="82" charset="0"/>
              </a:rPr>
              <a:t> TEST</a:t>
            </a:r>
          </a:p>
        </p:txBody>
      </p:sp>
      <mc:AlternateContent xmlns:mc="http://schemas.openxmlformats.org/markup-compatibility/2006" xmlns:a14="http://schemas.microsoft.com/office/drawing/2010/main">
        <mc:Choice Requires="a14">
          <p:sp>
            <p:nvSpPr>
              <p:cNvPr id="5" name="Shape 1">
                <a:extLst>
                  <a:ext uri="{FF2B5EF4-FFF2-40B4-BE49-F238E27FC236}">
                    <a16:creationId xmlns:a16="http://schemas.microsoft.com/office/drawing/2014/main" id="{FE98543B-EA73-5969-1D27-B7E380E8C75A}"/>
                  </a:ext>
                </a:extLst>
              </p:cNvPr>
              <p:cNvSpPr/>
              <p:nvPr/>
            </p:nvSpPr>
            <p:spPr>
              <a:xfrm>
                <a:off x="1185111" y="1523593"/>
                <a:ext cx="12260178" cy="5675861"/>
              </a:xfrm>
              <a:prstGeom prst="roundRect">
                <a:avLst>
                  <a:gd name="adj" fmla="val 2117"/>
                </a:avLst>
              </a:prstGeom>
              <a:solidFill>
                <a:srgbClr val="5F5153"/>
              </a:solidFill>
              <a:ln/>
            </p:spPr>
            <p:txBody>
              <a:bodyPr/>
              <a:lstStyle/>
              <a:p>
                <a:endParaRPr lang="en-IN" sz="2400" dirty="0">
                  <a:solidFill>
                    <a:schemeClr val="bg1"/>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r>
                  <a:rPr lang="en-US" sz="2400" dirty="0">
                    <a:solidFill>
                      <a:schemeClr val="bg1"/>
                    </a:solidFill>
                    <a:latin typeface="Times New Roman" panose="02020603050405020304" pitchFamily="18" charset="0"/>
                    <a:cs typeface="Times New Roman" panose="02020603050405020304" pitchFamily="18" charset="0"/>
                  </a:rPr>
                  <a:t>The Wald Test checks whether an individual parameter (or set of parameters) is significantly different from a hypothesized value.</a:t>
                </a:r>
              </a:p>
              <a:p>
                <a:pPr eaLnBrk="0" fontAlgn="base" hangingPunct="0">
                  <a:spcBef>
                    <a:spcPct val="0"/>
                  </a:spcBef>
                  <a:spcAft>
                    <a:spcPct val="0"/>
                  </a:spcAft>
                </a:pPr>
                <a:endParaRPr lang="en-US" sz="2400" dirty="0">
                  <a:solidFill>
                    <a:schemeClr val="bg1"/>
                  </a:solidFill>
                  <a:latin typeface="Times New Roman" panose="02020603050405020304" pitchFamily="18" charset="0"/>
                  <a:cs typeface="Times New Roman" panose="02020603050405020304" pitchFamily="18" charset="0"/>
                </a:endParaRPr>
              </a:p>
              <a:p>
                <a:r>
                  <a:rPr lang="en-US" sz="2400" b="1" dirty="0">
                    <a:solidFill>
                      <a:schemeClr val="bg1"/>
                    </a:solidFill>
                    <a:latin typeface="Times New Roman" panose="02020603050405020304" pitchFamily="18" charset="0"/>
                    <a:cs typeface="Times New Roman" panose="02020603050405020304" pitchFamily="18" charset="0"/>
                  </a:rPr>
                  <a:t>Test Statistics : </a:t>
                </a:r>
                <a:r>
                  <a:rPr lang="en-IN" sz="2400"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r>
                      <a:rPr lang="en-IN" sz="2400" i="1">
                        <a:solidFill>
                          <a:schemeClr val="bg1"/>
                        </a:solidFill>
                        <a:latin typeface="Cambria Math" panose="02040503050406030204" pitchFamily="18" charset="0"/>
                      </a:rPr>
                      <m:t>𝑍</m:t>
                    </m:r>
                    <m:r>
                      <a:rPr lang="en-IN" sz="2400" i="1">
                        <a:solidFill>
                          <a:schemeClr val="bg1"/>
                        </a:solidFill>
                        <a:latin typeface="Cambria Math" panose="02040503050406030204" pitchFamily="18" charset="0"/>
                      </a:rPr>
                      <m:t>=</m:t>
                    </m:r>
                    <m:f>
                      <m:fPr>
                        <m:ctrlPr>
                          <a:rPr lang="en-IN" sz="2400" i="1">
                            <a:solidFill>
                              <a:schemeClr val="bg1"/>
                            </a:solidFill>
                            <a:latin typeface="Cambria Math" panose="02040503050406030204" pitchFamily="18" charset="0"/>
                          </a:rPr>
                        </m:ctrlPr>
                      </m:fPr>
                      <m:num>
                        <m:sSub>
                          <m:sSubPr>
                            <m:ctrlPr>
                              <a:rPr lang="en-IN" sz="2400" i="1">
                                <a:solidFill>
                                  <a:schemeClr val="bg1"/>
                                </a:solidFill>
                                <a:latin typeface="Cambria Math" panose="02040503050406030204" pitchFamily="18" charset="0"/>
                              </a:rPr>
                            </m:ctrlPr>
                          </m:sSubPr>
                          <m:e>
                            <m:acc>
                              <m:accPr>
                                <m:chr m:val="̂"/>
                                <m:ctrlPr>
                                  <a:rPr lang="en-IN" sz="2400" i="1">
                                    <a:solidFill>
                                      <a:schemeClr val="bg1"/>
                                    </a:solidFill>
                                    <a:latin typeface="Cambria Math" panose="02040503050406030204" pitchFamily="18" charset="0"/>
                                  </a:rPr>
                                </m:ctrlPr>
                              </m:accPr>
                              <m:e>
                                <m:r>
                                  <a:rPr lang="en-IN" sz="2400" i="1">
                                    <a:solidFill>
                                      <a:schemeClr val="bg1"/>
                                    </a:solidFill>
                                    <a:latin typeface="Cambria Math" panose="02040503050406030204" pitchFamily="18" charset="0"/>
                                  </a:rPr>
                                  <m:t>𝛽</m:t>
                                </m:r>
                              </m:e>
                            </m:acc>
                          </m:e>
                          <m:sub>
                            <m:r>
                              <a:rPr lang="en-IN" sz="2400" i="1">
                                <a:solidFill>
                                  <a:schemeClr val="bg1"/>
                                </a:solidFill>
                                <a:latin typeface="Cambria Math" panose="02040503050406030204" pitchFamily="18" charset="0"/>
                              </a:rPr>
                              <m:t>𝑖</m:t>
                            </m:r>
                          </m:sub>
                        </m:sSub>
                      </m:num>
                      <m:den>
                        <m:r>
                          <a:rPr lang="en-IN" sz="2400" i="1">
                            <a:solidFill>
                              <a:schemeClr val="bg1"/>
                            </a:solidFill>
                            <a:latin typeface="Cambria Math" panose="02040503050406030204" pitchFamily="18" charset="0"/>
                          </a:rPr>
                          <m:t>𝑆𝐸</m:t>
                        </m:r>
                        <m:r>
                          <a:rPr lang="en-IN" sz="2400" i="1">
                            <a:solidFill>
                              <a:schemeClr val="bg1"/>
                            </a:solidFill>
                            <a:latin typeface="Cambria Math" panose="02040503050406030204" pitchFamily="18" charset="0"/>
                          </a:rPr>
                          <m:t>(</m:t>
                        </m:r>
                        <m:sSub>
                          <m:sSubPr>
                            <m:ctrlPr>
                              <a:rPr lang="en-IN" sz="2400" i="1">
                                <a:solidFill>
                                  <a:schemeClr val="bg1"/>
                                </a:solidFill>
                                <a:latin typeface="Cambria Math" panose="02040503050406030204" pitchFamily="18" charset="0"/>
                              </a:rPr>
                            </m:ctrlPr>
                          </m:sSubPr>
                          <m:e>
                            <m:acc>
                              <m:accPr>
                                <m:chr m:val="̂"/>
                                <m:ctrlPr>
                                  <a:rPr lang="en-IN" sz="2400" i="1">
                                    <a:solidFill>
                                      <a:schemeClr val="bg1"/>
                                    </a:solidFill>
                                    <a:latin typeface="Cambria Math" panose="02040503050406030204" pitchFamily="18" charset="0"/>
                                  </a:rPr>
                                </m:ctrlPr>
                              </m:accPr>
                              <m:e>
                                <m:r>
                                  <a:rPr lang="en-IN" sz="2400" i="1">
                                    <a:solidFill>
                                      <a:schemeClr val="bg1"/>
                                    </a:solidFill>
                                    <a:latin typeface="Cambria Math" panose="02040503050406030204" pitchFamily="18" charset="0"/>
                                  </a:rPr>
                                  <m:t>𝛽</m:t>
                                </m:r>
                              </m:e>
                            </m:acc>
                          </m:e>
                          <m:sub>
                            <m:r>
                              <a:rPr lang="en-IN" sz="2400" i="1">
                                <a:solidFill>
                                  <a:schemeClr val="bg1"/>
                                </a:solidFill>
                                <a:latin typeface="Cambria Math" panose="02040503050406030204" pitchFamily="18" charset="0"/>
                              </a:rPr>
                              <m:t>𝑖</m:t>
                            </m:r>
                          </m:sub>
                        </m:sSub>
                        <m:r>
                          <a:rPr lang="en-IN" sz="2400" i="1">
                            <a:solidFill>
                              <a:schemeClr val="bg1"/>
                            </a:solidFill>
                            <a:latin typeface="Cambria Math" panose="02040503050406030204" pitchFamily="18" charset="0"/>
                          </a:rPr>
                          <m:t>)</m:t>
                        </m:r>
                      </m:den>
                    </m:f>
                  </m:oMath>
                </a14:m>
                <a:endParaRPr lang="en-IN" sz="2400" dirty="0">
                  <a:solidFill>
                    <a:schemeClr val="bg1"/>
                  </a:solidFill>
                  <a:latin typeface="Times New Roman" panose="02020603050405020304" pitchFamily="18" charset="0"/>
                  <a:cs typeface="Times New Roman" panose="02020603050405020304" pitchFamily="18" charset="0"/>
                </a:endParaRPr>
              </a:p>
              <a:p>
                <a:r>
                  <a:rPr lang="en-IN" sz="2400" dirty="0">
                    <a:solidFill>
                      <a:schemeClr val="bg1"/>
                    </a:solidFill>
                    <a:latin typeface="Times New Roman" panose="02020603050405020304" pitchFamily="18" charset="0"/>
                    <a:cs typeface="Times New Roman" panose="02020603050405020304" pitchFamily="18" charset="0"/>
                  </a:rPr>
                  <a:t> </a:t>
                </a:r>
              </a:p>
              <a:p>
                <a:r>
                  <a:rPr lang="en-US" sz="2400" b="1" dirty="0">
                    <a:solidFill>
                      <a:schemeClr val="bg1"/>
                    </a:solidFill>
                    <a:latin typeface="Times New Roman" panose="02020603050405020304" pitchFamily="18" charset="0"/>
                    <a:cs typeface="Times New Roman" panose="02020603050405020304" pitchFamily="18" charset="0"/>
                  </a:rPr>
                  <a:t>Hypothesis</a:t>
                </a:r>
                <a:r>
                  <a:rPr lang="en-US" sz="2400" dirty="0">
                    <a:solidFill>
                      <a:schemeClr val="bg1"/>
                    </a:solidFill>
                    <a:latin typeface="Times New Roman" panose="02020603050405020304" pitchFamily="18" charset="0"/>
                    <a:cs typeface="Times New Roman" panose="02020603050405020304" pitchFamily="18" charset="0"/>
                  </a:rPr>
                  <a:t> :</a:t>
                </a:r>
                <a:r>
                  <a:rPr lang="en-IN" sz="2400"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IN" sz="2400" i="1">
                            <a:solidFill>
                              <a:schemeClr val="bg1"/>
                            </a:solidFill>
                            <a:latin typeface="Cambria Math" panose="02040503050406030204" pitchFamily="18" charset="0"/>
                          </a:rPr>
                        </m:ctrlPr>
                      </m:sSubPr>
                      <m:e>
                        <m:r>
                          <a:rPr lang="en-IN" sz="2400" i="1">
                            <a:solidFill>
                              <a:schemeClr val="bg1"/>
                            </a:solidFill>
                            <a:latin typeface="Cambria Math" panose="02040503050406030204" pitchFamily="18" charset="0"/>
                          </a:rPr>
                          <m:t>𝐻</m:t>
                        </m:r>
                      </m:e>
                      <m:sub>
                        <m:r>
                          <a:rPr lang="en-IN" sz="2400" i="1">
                            <a:solidFill>
                              <a:schemeClr val="bg1"/>
                            </a:solidFill>
                            <a:latin typeface="Cambria Math" panose="02040503050406030204" pitchFamily="18" charset="0"/>
                          </a:rPr>
                          <m:t>0</m:t>
                        </m:r>
                      </m:sub>
                    </m:sSub>
                    <m:r>
                      <a:rPr lang="en-IN" sz="2400" i="1">
                        <a:solidFill>
                          <a:schemeClr val="bg1"/>
                        </a:solidFill>
                        <a:latin typeface="Cambria Math" panose="02040503050406030204" pitchFamily="18" charset="0"/>
                      </a:rPr>
                      <m:t>:</m:t>
                    </m:r>
                    <m:sSub>
                      <m:sSubPr>
                        <m:ctrlPr>
                          <a:rPr lang="en-IN" sz="2400" i="1">
                            <a:solidFill>
                              <a:schemeClr val="bg1"/>
                            </a:solidFill>
                            <a:latin typeface="Cambria Math" panose="02040503050406030204" pitchFamily="18" charset="0"/>
                          </a:rPr>
                        </m:ctrlPr>
                      </m:sSubPr>
                      <m:e>
                        <m:r>
                          <a:rPr lang="en-IN" sz="2400" i="1">
                            <a:solidFill>
                              <a:schemeClr val="bg1"/>
                            </a:solidFill>
                            <a:latin typeface="Cambria Math" panose="02040503050406030204" pitchFamily="18" charset="0"/>
                          </a:rPr>
                          <m:t>𝛽</m:t>
                        </m:r>
                      </m:e>
                      <m:sub>
                        <m:r>
                          <a:rPr lang="en-IN" sz="2400" i="1">
                            <a:solidFill>
                              <a:schemeClr val="bg1"/>
                            </a:solidFill>
                            <a:latin typeface="Cambria Math" panose="02040503050406030204" pitchFamily="18" charset="0"/>
                          </a:rPr>
                          <m:t>𝑖</m:t>
                        </m:r>
                      </m:sub>
                    </m:sSub>
                    <m:r>
                      <a:rPr lang="en-IN" sz="2400" i="1">
                        <a:solidFill>
                          <a:schemeClr val="bg1"/>
                        </a:solidFill>
                        <a:latin typeface="Cambria Math" panose="02040503050406030204" pitchFamily="18" charset="0"/>
                      </a:rPr>
                      <m:t>=0</m:t>
                    </m:r>
                    <m:r>
                      <a:rPr lang="en-IN" sz="2400" b="0" i="0" smtClean="0">
                        <a:solidFill>
                          <a:schemeClr val="bg1"/>
                        </a:solidFill>
                        <a:latin typeface="Cambria Math" panose="02040503050406030204" pitchFamily="18" charset="0"/>
                      </a:rPr>
                      <m:t>             </m:t>
                    </m:r>
                    <m:sSub>
                      <m:sSubPr>
                        <m:ctrlPr>
                          <a:rPr lang="en-IN" sz="2400" i="1" smtClean="0">
                            <a:solidFill>
                              <a:schemeClr val="bg1"/>
                            </a:solidFill>
                            <a:latin typeface="Cambria Math" panose="02040503050406030204" pitchFamily="18" charset="0"/>
                          </a:rPr>
                        </m:ctrlPr>
                      </m:sSubPr>
                      <m:e>
                        <m:r>
                          <a:rPr lang="en-IN" sz="2400" i="1">
                            <a:solidFill>
                              <a:schemeClr val="bg1"/>
                            </a:solidFill>
                            <a:latin typeface="Cambria Math" panose="02040503050406030204" pitchFamily="18" charset="0"/>
                          </a:rPr>
                          <m:t>𝐻</m:t>
                        </m:r>
                      </m:e>
                      <m:sub>
                        <m:r>
                          <a:rPr lang="en-IN" sz="2400" i="1">
                            <a:solidFill>
                              <a:schemeClr val="bg1"/>
                            </a:solidFill>
                            <a:latin typeface="Cambria Math" panose="02040503050406030204" pitchFamily="18" charset="0"/>
                          </a:rPr>
                          <m:t>1</m:t>
                        </m:r>
                      </m:sub>
                    </m:sSub>
                    <m:r>
                      <a:rPr lang="en-IN" sz="2400" i="1">
                        <a:solidFill>
                          <a:schemeClr val="bg1"/>
                        </a:solidFill>
                        <a:latin typeface="Cambria Math" panose="02040503050406030204" pitchFamily="18" charset="0"/>
                      </a:rPr>
                      <m:t>:</m:t>
                    </m:r>
                    <m:sSub>
                      <m:sSubPr>
                        <m:ctrlPr>
                          <a:rPr lang="en-IN" sz="2400" i="1">
                            <a:solidFill>
                              <a:schemeClr val="bg1"/>
                            </a:solidFill>
                            <a:latin typeface="Cambria Math" panose="02040503050406030204" pitchFamily="18" charset="0"/>
                          </a:rPr>
                        </m:ctrlPr>
                      </m:sSubPr>
                      <m:e>
                        <m:r>
                          <a:rPr lang="en-IN" sz="2400" i="1">
                            <a:solidFill>
                              <a:schemeClr val="bg1"/>
                            </a:solidFill>
                            <a:latin typeface="Cambria Math" panose="02040503050406030204" pitchFamily="18" charset="0"/>
                          </a:rPr>
                          <m:t>𝛽</m:t>
                        </m:r>
                      </m:e>
                      <m:sub>
                        <m:r>
                          <a:rPr lang="en-IN" sz="2400" i="1">
                            <a:solidFill>
                              <a:schemeClr val="bg1"/>
                            </a:solidFill>
                            <a:latin typeface="Cambria Math" panose="02040503050406030204" pitchFamily="18" charset="0"/>
                          </a:rPr>
                          <m:t>𝑖</m:t>
                        </m:r>
                      </m:sub>
                    </m:sSub>
                    <m:r>
                      <a:rPr lang="en-IN" sz="2400">
                        <a:solidFill>
                          <a:schemeClr val="bg1"/>
                        </a:solidFill>
                        <a:latin typeface="Cambria Math" panose="02040503050406030204" pitchFamily="18" charset="0"/>
                      </a:rPr>
                      <m:t>≠</m:t>
                    </m:r>
                    <m:r>
                      <a:rPr lang="en-IN" sz="2400" i="1">
                        <a:solidFill>
                          <a:schemeClr val="bg1"/>
                        </a:solidFill>
                        <a:latin typeface="Cambria Math" panose="02040503050406030204" pitchFamily="18" charset="0"/>
                      </a:rPr>
                      <m:t>0</m:t>
                    </m:r>
                  </m:oMath>
                </a14:m>
                <a:endParaRPr lang="en-IN" sz="2400" dirty="0">
                  <a:solidFill>
                    <a:schemeClr val="bg1"/>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IN" sz="2400" b="1" dirty="0">
                  <a:solidFill>
                    <a:schemeClr val="bg1"/>
                  </a:solidFill>
                  <a:latin typeface="Times New Roman" panose="02020603050405020304" pitchFamily="18" charset="0"/>
                  <a:cs typeface="Times New Roman" panose="02020603050405020304" pitchFamily="18" charset="0"/>
                </a:endParaRPr>
              </a:p>
              <a:p>
                <a:pPr lvl="0"/>
                <a:r>
                  <a:rPr lang="en-IN" sz="2400" b="1" dirty="0">
                    <a:solidFill>
                      <a:schemeClr val="bg1"/>
                    </a:solidFill>
                    <a:latin typeface="Times New Roman" panose="02020603050405020304" pitchFamily="18" charset="0"/>
                    <a:cs typeface="Times New Roman" panose="02020603050405020304" pitchFamily="18" charset="0"/>
                  </a:rPr>
                  <a:t>Decision rule : </a:t>
                </a:r>
                <a:r>
                  <a:rPr lang="en-IN" sz="2400" dirty="0">
                    <a:solidFill>
                      <a:schemeClr val="bg1"/>
                    </a:solidFill>
                    <a:latin typeface="Times New Roman" panose="02020603050405020304" pitchFamily="18" charset="0"/>
                    <a:cs typeface="Times New Roman" panose="02020603050405020304" pitchFamily="18" charset="0"/>
                  </a:rPr>
                  <a:t>Large |Z| → significant variable </a:t>
                </a:r>
              </a:p>
              <a:p>
                <a:pPr lvl="0"/>
                <a:r>
                  <a:rPr lang="en-IN" sz="2400" dirty="0">
                    <a:solidFill>
                      <a:schemeClr val="bg1"/>
                    </a:solidFill>
                    <a:latin typeface="Times New Roman" panose="02020603050405020304" pitchFamily="18" charset="0"/>
                    <a:cs typeface="Times New Roman" panose="02020603050405020304" pitchFamily="18" charset="0"/>
                  </a:rPr>
                  <a:t>                         Small |Z| → not significant </a:t>
                </a:r>
              </a:p>
              <a:p>
                <a:pPr lvl="0"/>
                <a:endParaRPr lang="en-IN" sz="2400" b="1" dirty="0">
                  <a:solidFill>
                    <a:schemeClr val="bg1"/>
                  </a:solidFill>
                  <a:latin typeface="Times New Roman" panose="02020603050405020304" pitchFamily="18" charset="0"/>
                  <a:cs typeface="Times New Roman" panose="02020603050405020304" pitchFamily="18" charset="0"/>
                </a:endParaRPr>
              </a:p>
              <a:p>
                <a:pPr lvl="0"/>
                <a:r>
                  <a:rPr lang="en-IN" b="1" dirty="0"/>
                  <a:t> </a:t>
                </a:r>
                <a:r>
                  <a:rPr lang="en-IN" sz="2400" b="1" dirty="0">
                    <a:solidFill>
                      <a:schemeClr val="bg1"/>
                    </a:solidFill>
                    <a:latin typeface="Times New Roman" panose="02020603050405020304" pitchFamily="18" charset="0"/>
                    <a:cs typeface="Times New Roman" panose="02020603050405020304" pitchFamily="18" charset="0"/>
                  </a:rPr>
                  <a:t>p-value is obtained</a:t>
                </a:r>
                <a:r>
                  <a:rPr lang="en-IN" sz="2400" dirty="0">
                    <a:solidFill>
                      <a:schemeClr val="bg1"/>
                    </a:solidFill>
                    <a:latin typeface="Times New Roman" panose="02020603050405020304" pitchFamily="18" charset="0"/>
                    <a:cs typeface="Times New Roman" panose="02020603050405020304" pitchFamily="18" charset="0"/>
                  </a:rPr>
                  <a:t>   </a:t>
                </a:r>
                <a14:m>
                  <m:oMath xmlns:m="http://schemas.openxmlformats.org/officeDocument/2006/math">
                    <m:r>
                      <a:rPr lang="en-IN" sz="2400" i="1">
                        <a:solidFill>
                          <a:schemeClr val="bg1"/>
                        </a:solidFill>
                        <a:latin typeface="Cambria Math" panose="02040503050406030204" pitchFamily="18" charset="0"/>
                      </a:rPr>
                      <m:t>𝑝</m:t>
                    </m:r>
                    <m:r>
                      <a:rPr lang="en-IN" sz="2400" i="1">
                        <a:solidFill>
                          <a:schemeClr val="bg1"/>
                        </a:solidFill>
                        <a:latin typeface="Cambria Math" panose="02040503050406030204" pitchFamily="18" charset="0"/>
                      </a:rPr>
                      <m:t>=2×</m:t>
                    </m:r>
                    <m:r>
                      <a:rPr lang="en-IN" sz="2400" i="1">
                        <a:solidFill>
                          <a:schemeClr val="bg1"/>
                        </a:solidFill>
                        <a:latin typeface="Cambria Math" panose="02040503050406030204" pitchFamily="18" charset="0"/>
                      </a:rPr>
                      <m:t>𝑃</m:t>
                    </m:r>
                    <m:r>
                      <a:rPr lang="en-IN" sz="2400" i="1">
                        <a:solidFill>
                          <a:schemeClr val="bg1"/>
                        </a:solidFill>
                        <a:latin typeface="Cambria Math" panose="02040503050406030204" pitchFamily="18" charset="0"/>
                      </a:rPr>
                      <m:t>(</m:t>
                    </m:r>
                    <m:r>
                      <a:rPr lang="en-IN" sz="2400">
                        <a:solidFill>
                          <a:schemeClr val="bg1"/>
                        </a:solidFill>
                        <a:latin typeface="Cambria Math" panose="02040503050406030204" pitchFamily="18" charset="0"/>
                      </a:rPr>
                      <m:t>∣</m:t>
                    </m:r>
                    <m:r>
                      <a:rPr lang="en-IN" sz="2400" i="1">
                        <a:solidFill>
                          <a:schemeClr val="bg1"/>
                        </a:solidFill>
                        <a:latin typeface="Cambria Math" panose="02040503050406030204" pitchFamily="18" charset="0"/>
                      </a:rPr>
                      <m:t>𝑍</m:t>
                    </m:r>
                    <m:r>
                      <a:rPr lang="en-IN" sz="2400">
                        <a:solidFill>
                          <a:schemeClr val="bg1"/>
                        </a:solidFill>
                        <a:latin typeface="Cambria Math" panose="02040503050406030204" pitchFamily="18" charset="0"/>
                      </a:rPr>
                      <m:t>∣</m:t>
                    </m:r>
                    <m:r>
                      <a:rPr lang="en-IN" sz="2400" i="1">
                        <a:solidFill>
                          <a:schemeClr val="bg1"/>
                        </a:solidFill>
                        <a:latin typeface="Cambria Math" panose="02040503050406030204" pitchFamily="18" charset="0"/>
                      </a:rPr>
                      <m:t>&gt;</m:t>
                    </m:r>
                    <m:r>
                      <a:rPr lang="en-IN" sz="2400" i="1">
                        <a:solidFill>
                          <a:schemeClr val="bg1"/>
                        </a:solidFill>
                        <a:latin typeface="Cambria Math" panose="02040503050406030204" pitchFamily="18" charset="0"/>
                      </a:rPr>
                      <m:t>𝑜𝑏𝑠𝑒𝑟𝑣𝑒𝑑</m:t>
                    </m:r>
                    <m:r>
                      <a:rPr lang="en-IN" sz="2400" i="1">
                        <a:solidFill>
                          <a:schemeClr val="bg1"/>
                        </a:solidFill>
                        <a:latin typeface="Cambria Math" panose="02040503050406030204" pitchFamily="18" charset="0"/>
                      </a:rPr>
                      <m:t>)</m:t>
                    </m:r>
                  </m:oMath>
                </a14:m>
                <a:endParaRPr lang="en-IN" sz="2400" dirty="0">
                  <a:solidFill>
                    <a:schemeClr val="bg1"/>
                  </a:solidFill>
                  <a:latin typeface="Times New Roman" panose="02020603050405020304" pitchFamily="18" charset="0"/>
                  <a:cs typeface="Times New Roman" panose="02020603050405020304" pitchFamily="18" charset="0"/>
                </a:endParaRPr>
              </a:p>
              <a:p>
                <a:pPr lvl="0"/>
                <a:endParaRPr lang="en-IN" sz="2400" dirty="0">
                  <a:solidFill>
                    <a:schemeClr val="bg1"/>
                  </a:solidFill>
                  <a:latin typeface="Times New Roman" panose="02020603050405020304" pitchFamily="18" charset="0"/>
                  <a:cs typeface="Times New Roman" panose="02020603050405020304" pitchFamily="18" charset="0"/>
                </a:endParaRPr>
              </a:p>
              <a:p>
                <a:pPr eaLnBrk="0" fontAlgn="base" hangingPunct="0">
                  <a:spcBef>
                    <a:spcPct val="0"/>
                  </a:spcBef>
                  <a:spcAft>
                    <a:spcPct val="0"/>
                  </a:spcAft>
                </a:pPr>
                <a:endParaRPr lang="en-IN" dirty="0"/>
              </a:p>
              <a:p>
                <a:pPr lvl="0" eaLnBrk="0" fontAlgn="base" hangingPunct="0">
                  <a:spcBef>
                    <a:spcPct val="0"/>
                  </a:spcBef>
                  <a:spcAft>
                    <a:spcPct val="0"/>
                  </a:spcAft>
                </a:pPr>
                <a:endParaRPr lang="en-US" sz="2400" dirty="0">
                  <a:solidFill>
                    <a:schemeClr val="tx2">
                      <a:lumMod val="20000"/>
                      <a:lumOff val="80000"/>
                    </a:schemeClr>
                  </a:solidFill>
                  <a:latin typeface="Times New Roman" panose="02020603050405020304" pitchFamily="18" charset="0"/>
                  <a:cs typeface="Times New Roman" panose="02020603050405020304" pitchFamily="18" charset="0"/>
                </a:endParaRPr>
              </a:p>
            </p:txBody>
          </p:sp>
        </mc:Choice>
        <mc:Fallback xmlns="">
          <p:sp>
            <p:nvSpPr>
              <p:cNvPr id="5" name="Shape 1">
                <a:extLst>
                  <a:ext uri="{FF2B5EF4-FFF2-40B4-BE49-F238E27FC236}">
                    <a16:creationId xmlns:a16="http://schemas.microsoft.com/office/drawing/2014/main" id="{FE98543B-EA73-5969-1D27-B7E380E8C75A}"/>
                  </a:ext>
                </a:extLst>
              </p:cNvPr>
              <p:cNvSpPr>
                <a:spLocks noRot="1" noChangeAspect="1" noMove="1" noResize="1" noEditPoints="1" noAdjustHandles="1" noChangeArrowheads="1" noChangeShapeType="1" noTextEdit="1"/>
              </p:cNvSpPr>
              <p:nvPr/>
            </p:nvSpPr>
            <p:spPr>
              <a:xfrm>
                <a:off x="1185111" y="1523593"/>
                <a:ext cx="12260178" cy="5675861"/>
              </a:xfrm>
              <a:prstGeom prst="roundRect">
                <a:avLst>
                  <a:gd name="adj" fmla="val 2117"/>
                </a:avLst>
              </a:prstGeom>
              <a:blipFill>
                <a:blip r:embed="rId3"/>
                <a:stretch>
                  <a:fillRect l="-447"/>
                </a:stretch>
              </a:blipFill>
              <a:ln/>
            </p:spPr>
            <p:txBody>
              <a:bodyPr/>
              <a:lstStyle/>
              <a:p>
                <a:r>
                  <a:rPr lang="en-IN">
                    <a:noFill/>
                  </a:rPr>
                  <a:t> </a:t>
                </a:r>
              </a:p>
            </p:txBody>
          </p:sp>
        </mc:Fallback>
      </mc:AlternateContent>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CA02B-B51F-C981-DFA8-0A38F6D9D89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E8B2EC0-4E20-3CC0-6341-8E0F8CBB101B}"/>
              </a:ext>
            </a:extLst>
          </p:cNvPr>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6" name="TextBox 5">
            <a:extLst>
              <a:ext uri="{FF2B5EF4-FFF2-40B4-BE49-F238E27FC236}">
                <a16:creationId xmlns:a16="http://schemas.microsoft.com/office/drawing/2014/main" id="{D22CFFA8-1765-22E5-0091-ED176B9F5A9E}"/>
              </a:ext>
            </a:extLst>
          </p:cNvPr>
          <p:cNvSpPr txBox="1"/>
          <p:nvPr/>
        </p:nvSpPr>
        <p:spPr>
          <a:xfrm>
            <a:off x="4247693" y="535874"/>
            <a:ext cx="6135013" cy="1200329"/>
          </a:xfrm>
          <a:prstGeom prst="rect">
            <a:avLst/>
          </a:prstGeom>
          <a:noFill/>
        </p:spPr>
        <p:txBody>
          <a:bodyPr wrap="none" rtlCol="0">
            <a:spAutoFit/>
          </a:bodyPr>
          <a:lstStyle/>
          <a:p>
            <a:r>
              <a:rPr lang="en-IN" sz="3600" b="1" u="sng" dirty="0">
                <a:solidFill>
                  <a:schemeClr val="bg1"/>
                </a:solidFill>
                <a:latin typeface="Algerian" panose="04020705040A02060702" pitchFamily="82" charset="0"/>
              </a:rPr>
              <a:t>Result &amp; INTERPRETATION</a:t>
            </a:r>
          </a:p>
          <a:p>
            <a:endParaRPr lang="en-IN" sz="3600" dirty="0"/>
          </a:p>
        </p:txBody>
      </p:sp>
      <p:sp>
        <p:nvSpPr>
          <p:cNvPr id="7" name="Shape 1">
            <a:extLst>
              <a:ext uri="{FF2B5EF4-FFF2-40B4-BE49-F238E27FC236}">
                <a16:creationId xmlns:a16="http://schemas.microsoft.com/office/drawing/2014/main" id="{0CA10B74-6DA3-9015-65E0-F3EC32FD9BC2}"/>
              </a:ext>
            </a:extLst>
          </p:cNvPr>
          <p:cNvSpPr/>
          <p:nvPr/>
        </p:nvSpPr>
        <p:spPr>
          <a:xfrm>
            <a:off x="1315233" y="1408395"/>
            <a:ext cx="12075090" cy="6285332"/>
          </a:xfrm>
          <a:prstGeom prst="roundRect">
            <a:avLst>
              <a:gd name="adj" fmla="val 2117"/>
            </a:avLst>
          </a:prstGeom>
          <a:solidFill>
            <a:srgbClr val="5F5153"/>
          </a:solidFill>
          <a:ln/>
        </p:spPr>
        <p:txBody>
          <a:bodyPr/>
          <a:lstStyle/>
          <a:p>
            <a:pPr lvl="0" eaLnBrk="0" fontAlgn="base" hangingPunct="0">
              <a:spcBef>
                <a:spcPct val="0"/>
              </a:spcBef>
              <a:spcAft>
                <a:spcPct val="0"/>
              </a:spcAft>
            </a:pPr>
            <a:endParaRPr lang="en-US" sz="2000" b="1" u="sng">
              <a:solidFill>
                <a:schemeClr val="bg1"/>
              </a:solidFill>
              <a:latin typeface="Times New Roman" panose="02020603050405020304" pitchFamily="18" charset="0"/>
              <a:cs typeface="Times New Roman" panose="02020603050405020304" pitchFamily="18" charset="0"/>
            </a:endParaRPr>
          </a:p>
          <a:p>
            <a:pPr algn="ctr">
              <a:buFont typeface="Arial" panose="020B0604020202020204" pitchFamily="34" charset="0"/>
              <a:buChar char="•"/>
            </a:pPr>
            <a:endParaRPr lang="en-US" sz="2000" dirty="0">
              <a:solidFill>
                <a:schemeClr val="bg1"/>
              </a:solidFill>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119B7A64-A2F5-BBF8-EE18-DD6066D87E71}"/>
              </a:ext>
            </a:extLst>
          </p:cNvPr>
          <p:cNvGraphicFramePr>
            <a:graphicFrameLocks noGrp="1"/>
          </p:cNvGraphicFramePr>
          <p:nvPr>
            <p:extLst>
              <p:ext uri="{D42A27DB-BD31-4B8C-83A1-F6EECF244321}">
                <p14:modId xmlns:p14="http://schemas.microsoft.com/office/powerpoint/2010/main" val="1225608471"/>
              </p:ext>
            </p:extLst>
          </p:nvPr>
        </p:nvGraphicFramePr>
        <p:xfrm>
          <a:off x="2267211" y="1803748"/>
          <a:ext cx="10234239" cy="5460263"/>
        </p:xfrm>
        <a:graphic>
          <a:graphicData uri="http://schemas.openxmlformats.org/drawingml/2006/table">
            <a:tbl>
              <a:tblPr firstRow="1" bandRow="1">
                <a:tableStyleId>{616DA210-FB5B-4158-B5E0-FEB733F419BA}</a:tableStyleId>
              </a:tblPr>
              <a:tblGrid>
                <a:gridCol w="3411413">
                  <a:extLst>
                    <a:ext uri="{9D8B030D-6E8A-4147-A177-3AD203B41FA5}">
                      <a16:colId xmlns:a16="http://schemas.microsoft.com/office/drawing/2014/main" val="1767454031"/>
                    </a:ext>
                  </a:extLst>
                </a:gridCol>
                <a:gridCol w="3411413">
                  <a:extLst>
                    <a:ext uri="{9D8B030D-6E8A-4147-A177-3AD203B41FA5}">
                      <a16:colId xmlns:a16="http://schemas.microsoft.com/office/drawing/2014/main" val="3714386122"/>
                    </a:ext>
                  </a:extLst>
                </a:gridCol>
                <a:gridCol w="3411413">
                  <a:extLst>
                    <a:ext uri="{9D8B030D-6E8A-4147-A177-3AD203B41FA5}">
                      <a16:colId xmlns:a16="http://schemas.microsoft.com/office/drawing/2014/main" val="1362240883"/>
                    </a:ext>
                  </a:extLst>
                </a:gridCol>
              </a:tblGrid>
              <a:tr h="475355">
                <a:tc>
                  <a:txBody>
                    <a:bodyPr/>
                    <a:lstStyle/>
                    <a:p>
                      <a:pPr>
                        <a:lnSpc>
                          <a:spcPct val="107000"/>
                        </a:lnSpc>
                        <a:spcAft>
                          <a:spcPts val="800"/>
                        </a:spcAft>
                        <a:buNone/>
                      </a:pPr>
                      <a:r>
                        <a:rPr lang="en-IN" sz="2000" kern="100" dirty="0">
                          <a:solidFill>
                            <a:schemeClr val="bg2">
                              <a:lumMod val="90000"/>
                            </a:schemeClr>
                          </a:solidFill>
                          <a:effectLst/>
                          <a:latin typeface="Times New Roman" panose="02020603050405020304" pitchFamily="18" charset="0"/>
                          <a:cs typeface="Times New Roman" panose="02020603050405020304" pitchFamily="18" charset="0"/>
                        </a:rPr>
                        <a:t>Variable</a:t>
                      </a:r>
                      <a:endParaRPr lang="en-IN" sz="20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2000" kern="100" dirty="0">
                          <a:solidFill>
                            <a:schemeClr val="bg2">
                              <a:lumMod val="90000"/>
                            </a:schemeClr>
                          </a:solidFill>
                          <a:effectLst/>
                          <a:latin typeface="Times New Roman" panose="02020603050405020304" pitchFamily="18" charset="0"/>
                          <a:cs typeface="Times New Roman" panose="02020603050405020304" pitchFamily="18" charset="0"/>
                        </a:rPr>
                        <a:t>Coefficient</a:t>
                      </a:r>
                      <a:endParaRPr lang="en-IN" sz="20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2000" kern="100" dirty="0">
                          <a:solidFill>
                            <a:schemeClr val="bg2">
                              <a:lumMod val="90000"/>
                            </a:schemeClr>
                          </a:solidFill>
                          <a:effectLst/>
                          <a:latin typeface="Times New Roman" panose="02020603050405020304" pitchFamily="18" charset="0"/>
                          <a:cs typeface="Times New Roman" panose="02020603050405020304" pitchFamily="18" charset="0"/>
                        </a:rPr>
                        <a:t>p-value</a:t>
                      </a:r>
                      <a:endParaRPr lang="en-IN" sz="20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40299852"/>
                  </a:ext>
                </a:extLst>
              </a:tr>
              <a:tr h="415409">
                <a:tc>
                  <a:txBody>
                    <a:bodyPr/>
                    <a:lstStyle/>
                    <a:p>
                      <a:pPr>
                        <a:lnSpc>
                          <a:spcPct val="107000"/>
                        </a:lnSpc>
                        <a:spcAft>
                          <a:spcPts val="800"/>
                        </a:spcAft>
                        <a:buNone/>
                      </a:pPr>
                      <a:r>
                        <a:rPr lang="en-IN" sz="1600" kern="100" dirty="0" err="1">
                          <a:solidFill>
                            <a:schemeClr val="bg2">
                              <a:lumMod val="90000"/>
                            </a:schemeClr>
                          </a:solidFill>
                          <a:effectLst/>
                          <a:latin typeface="Times New Roman" panose="02020603050405020304" pitchFamily="18" charset="0"/>
                          <a:cs typeface="Times New Roman" panose="02020603050405020304" pitchFamily="18" charset="0"/>
                        </a:rPr>
                        <a:t>overall_health_score</a:t>
                      </a:r>
                      <a:endParaRPr lang="en-IN" sz="16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-1.914</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a:solidFill>
                            <a:schemeClr val="bg2">
                              <a:lumMod val="90000"/>
                            </a:schemeClr>
                          </a:solidFill>
                          <a:effectLst/>
                          <a:latin typeface="Times New Roman" panose="02020603050405020304" pitchFamily="18" charset="0"/>
                          <a:cs typeface="Times New Roman" panose="02020603050405020304" pitchFamily="18" charset="0"/>
                        </a:rPr>
                        <a:t>&lt;0.001</a:t>
                      </a:r>
                      <a:endParaRPr lang="en-IN" sz="1800" kern="10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1676924"/>
                  </a:ext>
                </a:extLst>
              </a:tr>
              <a:tr h="415409">
                <a:tc>
                  <a:txBody>
                    <a:bodyPr/>
                    <a:lstStyle/>
                    <a:p>
                      <a:pPr>
                        <a:lnSpc>
                          <a:spcPct val="107000"/>
                        </a:lnSpc>
                        <a:spcAft>
                          <a:spcPts val="800"/>
                        </a:spcAft>
                        <a:buNone/>
                      </a:pPr>
                      <a:r>
                        <a:rPr lang="en-IN" sz="1600" kern="100" dirty="0" err="1">
                          <a:solidFill>
                            <a:schemeClr val="bg2">
                              <a:lumMod val="90000"/>
                            </a:schemeClr>
                          </a:solidFill>
                          <a:effectLst/>
                          <a:latin typeface="Times New Roman" panose="02020603050405020304" pitchFamily="18" charset="0"/>
                          <a:cs typeface="Times New Roman" panose="02020603050405020304" pitchFamily="18" charset="0"/>
                        </a:rPr>
                        <a:t>stress_score_cycle</a:t>
                      </a:r>
                      <a:endParaRPr lang="en-IN" sz="16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-0.372</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a:solidFill>
                            <a:schemeClr val="bg2">
                              <a:lumMod val="90000"/>
                            </a:schemeClr>
                          </a:solidFill>
                          <a:effectLst/>
                          <a:latin typeface="Times New Roman" panose="02020603050405020304" pitchFamily="18" charset="0"/>
                          <a:cs typeface="Times New Roman" panose="02020603050405020304" pitchFamily="18" charset="0"/>
                        </a:rPr>
                        <a:t>&lt;0.001</a:t>
                      </a:r>
                      <a:endParaRPr lang="en-IN" sz="1800" kern="10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687284480"/>
                  </a:ext>
                </a:extLst>
              </a:tr>
              <a:tr h="415409">
                <a:tc>
                  <a:txBody>
                    <a:bodyPr/>
                    <a:lstStyle/>
                    <a:p>
                      <a:pPr>
                        <a:lnSpc>
                          <a:spcPct val="107000"/>
                        </a:lnSpc>
                        <a:spcAft>
                          <a:spcPts val="800"/>
                        </a:spcAft>
                        <a:buNone/>
                      </a:pPr>
                      <a:r>
                        <a:rPr lang="en-IN" sz="1600" kern="100" dirty="0" err="1">
                          <a:solidFill>
                            <a:schemeClr val="bg2">
                              <a:lumMod val="90000"/>
                            </a:schemeClr>
                          </a:solidFill>
                          <a:effectLst/>
                          <a:latin typeface="Times New Roman" panose="02020603050405020304" pitchFamily="18" charset="0"/>
                          <a:cs typeface="Times New Roman" panose="02020603050405020304" pitchFamily="18" charset="0"/>
                        </a:rPr>
                        <a:t>concentration_score</a:t>
                      </a:r>
                      <a:endParaRPr lang="en-IN" sz="16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-0.087</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a:solidFill>
                            <a:schemeClr val="bg2">
                              <a:lumMod val="90000"/>
                            </a:schemeClr>
                          </a:solidFill>
                          <a:effectLst/>
                          <a:latin typeface="Times New Roman" panose="02020603050405020304" pitchFamily="18" charset="0"/>
                          <a:cs typeface="Times New Roman" panose="02020603050405020304" pitchFamily="18" charset="0"/>
                        </a:rPr>
                        <a:t>&lt;0.001</a:t>
                      </a:r>
                      <a:endParaRPr lang="en-IN" sz="1800" kern="10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40885257"/>
                  </a:ext>
                </a:extLst>
              </a:tr>
              <a:tr h="415409">
                <a:tc>
                  <a:txBody>
                    <a:bodyPr/>
                    <a:lstStyle/>
                    <a:p>
                      <a:pPr>
                        <a:lnSpc>
                          <a:spcPct val="107000"/>
                        </a:lnSpc>
                        <a:spcAft>
                          <a:spcPts val="800"/>
                        </a:spcAft>
                        <a:buNone/>
                      </a:pPr>
                      <a:r>
                        <a:rPr lang="en-IN" sz="1600" kern="100" dirty="0" err="1">
                          <a:solidFill>
                            <a:schemeClr val="bg2">
                              <a:lumMod val="90000"/>
                            </a:schemeClr>
                          </a:solidFill>
                          <a:effectLst/>
                          <a:latin typeface="Times New Roman" panose="02020603050405020304" pitchFamily="18" charset="0"/>
                          <a:cs typeface="Times New Roman" panose="02020603050405020304" pitchFamily="18" charset="0"/>
                        </a:rPr>
                        <a:t>energy_level</a:t>
                      </a:r>
                      <a:endParaRPr lang="en-IN" sz="16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-0.059</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&lt;0.001</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788760848"/>
                  </a:ext>
                </a:extLst>
              </a:tr>
              <a:tr h="415409">
                <a:tc>
                  <a:txBody>
                    <a:bodyPr/>
                    <a:lstStyle/>
                    <a:p>
                      <a:pPr>
                        <a:lnSpc>
                          <a:spcPct val="107000"/>
                        </a:lnSpc>
                        <a:spcAft>
                          <a:spcPts val="800"/>
                        </a:spcAft>
                        <a:buNone/>
                      </a:pPr>
                      <a:r>
                        <a:rPr lang="en-IN" sz="1600" kern="100" dirty="0" err="1">
                          <a:solidFill>
                            <a:schemeClr val="bg2">
                              <a:lumMod val="90000"/>
                            </a:schemeClr>
                          </a:solidFill>
                          <a:effectLst/>
                          <a:latin typeface="Times New Roman" panose="02020603050405020304" pitchFamily="18" charset="0"/>
                          <a:cs typeface="Times New Roman" panose="02020603050405020304" pitchFamily="18" charset="0"/>
                        </a:rPr>
                        <a:t>mood_score</a:t>
                      </a:r>
                      <a:endParaRPr lang="en-IN" sz="16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-0.057</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&lt;0.001</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939851859"/>
                  </a:ext>
                </a:extLst>
              </a:tr>
              <a:tr h="415409">
                <a:tc>
                  <a:txBody>
                    <a:bodyPr/>
                    <a:lstStyle/>
                    <a:p>
                      <a:pPr>
                        <a:lnSpc>
                          <a:spcPct val="107000"/>
                        </a:lnSpc>
                        <a:spcAft>
                          <a:spcPts val="800"/>
                        </a:spcAft>
                        <a:buNone/>
                      </a:pPr>
                      <a:r>
                        <a:rPr lang="en-IN" sz="1600" kern="100" dirty="0" err="1">
                          <a:solidFill>
                            <a:schemeClr val="bg2">
                              <a:lumMod val="90000"/>
                            </a:schemeClr>
                          </a:solidFill>
                          <a:effectLst/>
                          <a:latin typeface="Times New Roman" panose="02020603050405020304" pitchFamily="18" charset="0"/>
                          <a:cs typeface="Times New Roman" panose="02020603050405020304" pitchFamily="18" charset="0"/>
                        </a:rPr>
                        <a:t>cycle_length_days</a:t>
                      </a:r>
                      <a:endParaRPr lang="en-IN" sz="16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-0.008</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&lt;0.001</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8090986"/>
                  </a:ext>
                </a:extLst>
              </a:tr>
              <a:tr h="415409">
                <a:tc>
                  <a:txBody>
                    <a:bodyPr/>
                    <a:lstStyle/>
                    <a:p>
                      <a:pPr>
                        <a:lnSpc>
                          <a:spcPct val="107000"/>
                        </a:lnSpc>
                        <a:spcAft>
                          <a:spcPts val="800"/>
                        </a:spcAft>
                        <a:buNone/>
                      </a:pPr>
                      <a:r>
                        <a:rPr lang="en-IN" sz="1600" kern="100">
                          <a:solidFill>
                            <a:schemeClr val="bg2">
                              <a:lumMod val="90000"/>
                            </a:schemeClr>
                          </a:solidFill>
                          <a:effectLst/>
                          <a:latin typeface="Times New Roman" panose="02020603050405020304" pitchFamily="18" charset="0"/>
                          <a:cs typeface="Times New Roman" panose="02020603050405020304" pitchFamily="18" charset="0"/>
                        </a:rPr>
                        <a:t>sleep_hours</a:t>
                      </a:r>
                      <a:endParaRPr lang="en-IN" sz="1600" kern="10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0.136</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&lt;0.001</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77384516"/>
                  </a:ext>
                </a:extLst>
              </a:tr>
              <a:tr h="415409">
                <a:tc>
                  <a:txBody>
                    <a:bodyPr/>
                    <a:lstStyle/>
                    <a:p>
                      <a:pPr>
                        <a:lnSpc>
                          <a:spcPct val="107000"/>
                        </a:lnSpc>
                        <a:spcAft>
                          <a:spcPts val="800"/>
                        </a:spcAft>
                        <a:buNone/>
                      </a:pPr>
                      <a:r>
                        <a:rPr lang="en-IN" sz="1600" kern="100" dirty="0" err="1">
                          <a:solidFill>
                            <a:schemeClr val="bg2">
                              <a:lumMod val="90000"/>
                            </a:schemeClr>
                          </a:solidFill>
                          <a:effectLst/>
                          <a:latin typeface="Times New Roman" panose="02020603050405020304" pitchFamily="18" charset="0"/>
                          <a:cs typeface="Times New Roman" panose="02020603050405020304" pitchFamily="18" charset="0"/>
                        </a:rPr>
                        <a:t>sleep_hours_cycle</a:t>
                      </a:r>
                      <a:endParaRPr lang="en-IN" sz="16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0.202</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&lt;0.001</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536652841"/>
                  </a:ext>
                </a:extLst>
              </a:tr>
              <a:tr h="415409">
                <a:tc>
                  <a:txBody>
                    <a:bodyPr/>
                    <a:lstStyle/>
                    <a:p>
                      <a:pPr>
                        <a:lnSpc>
                          <a:spcPct val="107000"/>
                        </a:lnSpc>
                        <a:spcAft>
                          <a:spcPts val="800"/>
                        </a:spcAft>
                        <a:buNone/>
                      </a:pPr>
                      <a:r>
                        <a:rPr lang="en-IN" sz="1600" kern="100" dirty="0" err="1">
                          <a:solidFill>
                            <a:schemeClr val="bg2">
                              <a:lumMod val="90000"/>
                            </a:schemeClr>
                          </a:solidFill>
                          <a:effectLst/>
                          <a:latin typeface="Times New Roman" panose="02020603050405020304" pitchFamily="18" charset="0"/>
                          <a:cs typeface="Times New Roman" panose="02020603050405020304" pitchFamily="18" charset="0"/>
                        </a:rPr>
                        <a:t>work_hours_lost</a:t>
                      </a:r>
                      <a:endParaRPr lang="en-IN" sz="16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0.250</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&lt;0.001</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88763485"/>
                  </a:ext>
                </a:extLst>
              </a:tr>
              <a:tr h="415409">
                <a:tc>
                  <a:txBody>
                    <a:bodyPr/>
                    <a:lstStyle/>
                    <a:p>
                      <a:pPr>
                        <a:lnSpc>
                          <a:spcPct val="107000"/>
                        </a:lnSpc>
                        <a:spcAft>
                          <a:spcPts val="800"/>
                        </a:spcAft>
                        <a:buNone/>
                      </a:pPr>
                      <a:r>
                        <a:rPr lang="en-IN" sz="1600" kern="100" dirty="0" err="1">
                          <a:solidFill>
                            <a:schemeClr val="bg2">
                              <a:lumMod val="90000"/>
                            </a:schemeClr>
                          </a:solidFill>
                          <a:effectLst/>
                          <a:latin typeface="Times New Roman" panose="02020603050405020304" pitchFamily="18" charset="0"/>
                          <a:cs typeface="Times New Roman" panose="02020603050405020304" pitchFamily="18" charset="0"/>
                        </a:rPr>
                        <a:t>flow_level</a:t>
                      </a:r>
                      <a:endParaRPr lang="en-IN" sz="16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0.292</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&lt;0.001</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46967226"/>
                  </a:ext>
                </a:extLst>
              </a:tr>
              <a:tr h="415409">
                <a:tc>
                  <a:txBody>
                    <a:bodyPr/>
                    <a:lstStyle/>
                    <a:p>
                      <a:pPr>
                        <a:lnSpc>
                          <a:spcPct val="107000"/>
                        </a:lnSpc>
                        <a:spcAft>
                          <a:spcPts val="800"/>
                        </a:spcAft>
                        <a:buNone/>
                      </a:pPr>
                      <a:r>
                        <a:rPr lang="en-IN" sz="1600" kern="100" dirty="0">
                          <a:solidFill>
                            <a:schemeClr val="bg2">
                              <a:lumMod val="90000"/>
                            </a:schemeClr>
                          </a:solidFill>
                          <a:effectLst/>
                          <a:latin typeface="Times New Roman" panose="02020603050405020304" pitchFamily="18" charset="0"/>
                          <a:cs typeface="Times New Roman" panose="02020603050405020304" pitchFamily="18" charset="0"/>
                        </a:rPr>
                        <a:t>Intercept</a:t>
                      </a:r>
                      <a:endParaRPr lang="en-IN" sz="16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20.742</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&lt;0.001</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12638081"/>
                  </a:ext>
                </a:extLst>
              </a:tr>
              <a:tr h="415409">
                <a:tc>
                  <a:txBody>
                    <a:bodyPr/>
                    <a:lstStyle/>
                    <a:p>
                      <a:pPr>
                        <a:lnSpc>
                          <a:spcPct val="107000"/>
                        </a:lnSpc>
                        <a:spcAft>
                          <a:spcPts val="800"/>
                        </a:spcAft>
                        <a:buNone/>
                      </a:pPr>
                      <a:r>
                        <a:rPr lang="en-IN" sz="1600" kern="100" dirty="0">
                          <a:solidFill>
                            <a:schemeClr val="bg2">
                              <a:lumMod val="90000"/>
                            </a:schemeClr>
                          </a:solidFill>
                          <a:effectLst/>
                          <a:latin typeface="Times New Roman" panose="02020603050405020304" pitchFamily="18" charset="0"/>
                          <a:cs typeface="Times New Roman" panose="02020603050405020304" pitchFamily="18" charset="0"/>
                        </a:rPr>
                        <a:t>Group Var</a:t>
                      </a:r>
                      <a:endParaRPr lang="en-IN" sz="16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0.776</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solidFill>
                            <a:schemeClr val="bg2">
                              <a:lumMod val="90000"/>
                            </a:schemeClr>
                          </a:solidFill>
                          <a:effectLst/>
                          <a:latin typeface="Times New Roman" panose="02020603050405020304" pitchFamily="18" charset="0"/>
                          <a:cs typeface="Times New Roman" panose="02020603050405020304" pitchFamily="18" charset="0"/>
                        </a:rPr>
                        <a:t>&lt;0.001</a:t>
                      </a:r>
                      <a:endParaRPr lang="en-IN" sz="1800" kern="100" dirty="0">
                        <a:solidFill>
                          <a:schemeClr val="bg2">
                            <a:lumMod val="90000"/>
                          </a:schemeClr>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96937140"/>
                  </a:ext>
                </a:extLst>
              </a:tr>
            </a:tbl>
          </a:graphicData>
        </a:graphic>
      </p:graphicFrame>
    </p:spTree>
    <p:extLst>
      <p:ext uri="{BB962C8B-B14F-4D97-AF65-F5344CB8AC3E}">
        <p14:creationId xmlns:p14="http://schemas.microsoft.com/office/powerpoint/2010/main" val="4136414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8EBCC8BC-506E-0F29-4648-8BA51ED6C6FA}"/>
              </a:ext>
            </a:extLst>
          </p:cNvPr>
          <p:cNvSpPr/>
          <p:nvPr/>
        </p:nvSpPr>
        <p:spPr>
          <a:xfrm>
            <a:off x="1223376" y="1275347"/>
            <a:ext cx="12183648" cy="5403247"/>
          </a:xfrm>
          <a:prstGeom prst="roundRect">
            <a:avLst>
              <a:gd name="adj" fmla="val 2117"/>
            </a:avLst>
          </a:prstGeom>
          <a:solidFill>
            <a:srgbClr val="5F5153"/>
          </a:solidFill>
          <a:ln/>
        </p:spPr>
        <p:txBody>
          <a:bodyPr/>
          <a:lstStyle/>
          <a:p>
            <a:endParaRPr lang="en-IN" sz="2400" dirty="0">
              <a:solidFill>
                <a:schemeClr val="bg1"/>
              </a:solidFill>
              <a:latin typeface="Times New Roman" panose="02020603050405020304" pitchFamily="18" charset="0"/>
              <a:cs typeface="Times New Roman" panose="02020603050405020304" pitchFamily="18" charset="0"/>
            </a:endParaRPr>
          </a:p>
          <a:p>
            <a:pPr lvl="0"/>
            <a:endParaRPr lang="en-IN" sz="2400" dirty="0">
              <a:solidFill>
                <a:schemeClr val="bg1"/>
              </a:solidFill>
              <a:latin typeface="Times New Roman" panose="02020603050405020304" pitchFamily="18" charset="0"/>
              <a:cs typeface="Times New Roman" panose="02020603050405020304" pitchFamily="18" charset="0"/>
            </a:endParaRPr>
          </a:p>
          <a:p>
            <a:r>
              <a:rPr lang="en-IN" sz="2000" dirty="0">
                <a:solidFill>
                  <a:schemeClr val="bg1"/>
                </a:solidFill>
                <a:latin typeface="Times New Roman" panose="02020603050405020304" pitchFamily="18" charset="0"/>
                <a:cs typeface="Times New Roman" panose="02020603050405020304" pitchFamily="18" charset="0"/>
              </a:rPr>
              <a:t>The results from the mixed-effects model indicate that several physiological, </a:t>
            </a:r>
            <a:r>
              <a:rPr lang="en-IN" sz="2000" dirty="0" err="1">
                <a:solidFill>
                  <a:schemeClr val="bg1"/>
                </a:solidFill>
                <a:latin typeface="Times New Roman" panose="02020603050405020304" pitchFamily="18" charset="0"/>
                <a:cs typeface="Times New Roman" panose="02020603050405020304" pitchFamily="18" charset="0"/>
              </a:rPr>
              <a:t>behavioral</a:t>
            </a:r>
            <a:r>
              <a:rPr lang="en-IN" sz="2000" dirty="0">
                <a:solidFill>
                  <a:schemeClr val="bg1"/>
                </a:solidFill>
                <a:latin typeface="Times New Roman" panose="02020603050405020304" pitchFamily="18" charset="0"/>
                <a:cs typeface="Times New Roman" panose="02020603050405020304" pitchFamily="18" charset="0"/>
              </a:rPr>
              <a:t>, and cycle-related variables significantly influence pain levels. Among these, overall health score exhibits the strongest negative association, suggesting that individuals with better overall health tend to report substantially lower pain levels.</a:t>
            </a:r>
          </a:p>
          <a:p>
            <a:r>
              <a:rPr lang="en-IN" sz="2000" dirty="0">
                <a:solidFill>
                  <a:schemeClr val="bg1"/>
                </a:solidFill>
                <a:latin typeface="Times New Roman" panose="02020603050405020304" pitchFamily="18" charset="0"/>
                <a:cs typeface="Times New Roman" panose="02020603050405020304" pitchFamily="18" charset="0"/>
              </a:rPr>
              <a:t>Psychological factors such as stress score (cycle-specific), mood score, energy level, and concentration score are also highly significant, indicating that mental and emotional well-being plays a crucial role in determining pain experience.</a:t>
            </a:r>
          </a:p>
          <a:p>
            <a:r>
              <a:rPr lang="en-IN" sz="2000" dirty="0">
                <a:solidFill>
                  <a:schemeClr val="bg1"/>
                </a:solidFill>
                <a:latin typeface="Times New Roman" panose="02020603050405020304" pitchFamily="18" charset="0"/>
                <a:cs typeface="Times New Roman" panose="02020603050405020304" pitchFamily="18" charset="0"/>
              </a:rPr>
              <a:t>Cycle-related variables such as flow level and work hours lost show strong positive associations with pain, implying that higher menstrual flow and functional impairment are linked with increased pain levels. Additionally, sleep-related variables (both general and cycle-specific) show significant positive effects, suggesting a complex relationship between sleep and pain.</a:t>
            </a:r>
          </a:p>
          <a:p>
            <a:r>
              <a:rPr lang="en-IN" sz="2000" dirty="0">
                <a:solidFill>
                  <a:schemeClr val="bg1"/>
                </a:solidFill>
                <a:latin typeface="Times New Roman" panose="02020603050405020304" pitchFamily="18" charset="0"/>
                <a:cs typeface="Times New Roman" panose="02020603050405020304" pitchFamily="18" charset="0"/>
              </a:rPr>
              <a:t>The random effect variance (Group Var) is statistically significant, confirming substantial variability in baseline pain levels across individuals, thereby justifying the use of a mixed-effects </a:t>
            </a:r>
            <a:r>
              <a:rPr lang="en-IN" sz="2000" dirty="0" err="1">
                <a:solidFill>
                  <a:schemeClr val="bg1"/>
                </a:solidFill>
                <a:latin typeface="Times New Roman" panose="02020603050405020304" pitchFamily="18" charset="0"/>
                <a:cs typeface="Times New Roman" panose="02020603050405020304" pitchFamily="18" charset="0"/>
              </a:rPr>
              <a:t>modeling</a:t>
            </a:r>
            <a:r>
              <a:rPr lang="en-IN" sz="2000" dirty="0">
                <a:solidFill>
                  <a:schemeClr val="bg1"/>
                </a:solidFill>
                <a:latin typeface="Times New Roman" panose="02020603050405020304" pitchFamily="18" charset="0"/>
                <a:cs typeface="Times New Roman" panose="02020603050405020304" pitchFamily="18" charset="0"/>
              </a:rPr>
              <a:t> approach.</a:t>
            </a:r>
          </a:p>
          <a:p>
            <a:pPr lvl="0" eaLnBrk="0" fontAlgn="base" hangingPunct="0">
              <a:spcBef>
                <a:spcPct val="0"/>
              </a:spcBef>
              <a:spcAft>
                <a:spcPct val="0"/>
              </a:spcAft>
            </a:pPr>
            <a:endParaRPr lang="en-US" sz="2400" dirty="0">
              <a:solidFill>
                <a:schemeClr val="tx2">
                  <a:lumMod val="20000"/>
                  <a:lumOff val="8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56673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3" name="Picture 5">
            <a:extLst>
              <a:ext uri="{FF2B5EF4-FFF2-40B4-BE49-F238E27FC236}">
                <a16:creationId xmlns:a16="http://schemas.microsoft.com/office/drawing/2014/main" id="{762F5D38-EF74-CD16-14DE-366F1CBCBA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0642" y="1624264"/>
            <a:ext cx="6091823" cy="546233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9CB487C2-F6D9-82F0-29DD-D57B0365CFC5}"/>
              </a:ext>
            </a:extLst>
          </p:cNvPr>
          <p:cNvSpPr txBox="1"/>
          <p:nvPr/>
        </p:nvSpPr>
        <p:spPr>
          <a:xfrm>
            <a:off x="3479639" y="254000"/>
            <a:ext cx="7315200" cy="646331"/>
          </a:xfrm>
          <a:prstGeom prst="rect">
            <a:avLst/>
          </a:prstGeom>
          <a:noFill/>
        </p:spPr>
        <p:txBody>
          <a:bodyPr wrap="square">
            <a:spAutoFit/>
          </a:bodyPr>
          <a:lstStyle/>
          <a:p>
            <a:pPr algn="ctr"/>
            <a:r>
              <a:rPr lang="en-IN" sz="3600" b="1" u="sng" dirty="0">
                <a:solidFill>
                  <a:schemeClr val="bg1"/>
                </a:solidFill>
                <a:latin typeface="Algerian" panose="04020705040A02060702" pitchFamily="82" charset="0"/>
              </a:rPr>
              <a:t>RANDOM EFFECT DISTRIBUTION</a:t>
            </a:r>
          </a:p>
        </p:txBody>
      </p:sp>
      <p:sp>
        <p:nvSpPr>
          <p:cNvPr id="4" name="Shape 1">
            <a:extLst>
              <a:ext uri="{FF2B5EF4-FFF2-40B4-BE49-F238E27FC236}">
                <a16:creationId xmlns:a16="http://schemas.microsoft.com/office/drawing/2014/main" id="{5D649D03-62AF-F26E-CEDE-3615BAED3540}"/>
              </a:ext>
            </a:extLst>
          </p:cNvPr>
          <p:cNvSpPr/>
          <p:nvPr/>
        </p:nvSpPr>
        <p:spPr>
          <a:xfrm>
            <a:off x="630335" y="2091799"/>
            <a:ext cx="7124699" cy="4791602"/>
          </a:xfrm>
          <a:prstGeom prst="roundRect">
            <a:avLst>
              <a:gd name="adj" fmla="val 2117"/>
            </a:avLst>
          </a:prstGeom>
          <a:solidFill>
            <a:srgbClr val="5F5153"/>
          </a:solidFill>
          <a:ln/>
        </p:spPr>
        <p:txBody>
          <a:bodyPr/>
          <a:lstStyle/>
          <a:p>
            <a:endParaRPr lang="en-US" sz="2400" dirty="0"/>
          </a:p>
          <a:p>
            <a:pPr algn="just"/>
            <a:r>
              <a:rPr lang="en-US" sz="2000" dirty="0">
                <a:solidFill>
                  <a:schemeClr val="bg1"/>
                </a:solidFill>
                <a:latin typeface="Times New Roman" panose="02020603050405020304" pitchFamily="18" charset="0"/>
                <a:cs typeface="Times New Roman" panose="02020603050405020304" pitchFamily="18" charset="0"/>
              </a:rPr>
              <a:t>Random effects capture individual-level deviations .</a:t>
            </a:r>
          </a:p>
          <a:p>
            <a:pPr algn="just"/>
            <a:endParaRPr lang="en-IN" sz="2000" dirty="0">
              <a:solidFill>
                <a:schemeClr val="bg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sz="2000" dirty="0">
                <a:solidFill>
                  <a:schemeClr val="bg1"/>
                </a:solidFill>
                <a:latin typeface="Times New Roman" panose="02020603050405020304" pitchFamily="18" charset="0"/>
                <a:cs typeface="Times New Roman" panose="02020603050405020304" pitchFamily="18" charset="0"/>
              </a:rPr>
              <a:t>The bars and the smooth density curve indicate that the distribution is right-skewed. Most individuals have random effects close to zero, meaning their pain levels align fairly well with the overall average once predictors are considered.</a:t>
            </a:r>
          </a:p>
          <a:p>
            <a:pPr lvl="0" algn="just" eaLnBrk="0" fontAlgn="base" hangingPunct="0">
              <a:spcBef>
                <a:spcPct val="0"/>
              </a:spcBef>
              <a:spcAft>
                <a:spcPct val="0"/>
              </a:spcAft>
            </a:pPr>
            <a:endParaRPr lang="en-US" sz="2000" dirty="0">
              <a:solidFill>
                <a:schemeClr val="bg1"/>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sz="2000" dirty="0">
                <a:solidFill>
                  <a:schemeClr val="bg1"/>
                </a:solidFill>
                <a:latin typeface="Times New Roman" panose="02020603050405020304" pitchFamily="18" charset="0"/>
                <a:cs typeface="Times New Roman" panose="02020603050405020304" pitchFamily="18" charset="0"/>
              </a:rPr>
              <a:t>There’s a tail stretching toward -2.5,The skew toward negative values suggests that many individuals consistently report lower-than-average pain levels, while only a few report higher-than-average pain.</a:t>
            </a:r>
          </a:p>
        </p:txBody>
      </p:sp>
    </p:spTree>
    <p:extLst>
      <p:ext uri="{BB962C8B-B14F-4D97-AF65-F5344CB8AC3E}">
        <p14:creationId xmlns:p14="http://schemas.microsoft.com/office/powerpoint/2010/main" val="4077718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5E822BA2-77DB-540D-D197-26158EEA0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01506" y="1876925"/>
            <a:ext cx="6354678" cy="559468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F49817E-7F22-524E-EDFC-6B6AE67B5D94}"/>
              </a:ext>
            </a:extLst>
          </p:cNvPr>
          <p:cNvSpPr txBox="1"/>
          <p:nvPr/>
        </p:nvSpPr>
        <p:spPr>
          <a:xfrm>
            <a:off x="3194613" y="451443"/>
            <a:ext cx="7315200" cy="1200329"/>
          </a:xfrm>
          <a:prstGeom prst="rect">
            <a:avLst/>
          </a:prstGeom>
          <a:noFill/>
        </p:spPr>
        <p:txBody>
          <a:bodyPr wrap="square">
            <a:spAutoFit/>
          </a:bodyPr>
          <a:lstStyle/>
          <a:p>
            <a:pPr algn="ctr"/>
            <a:r>
              <a:rPr lang="en-IN" sz="3600" b="1" u="sng" dirty="0">
                <a:solidFill>
                  <a:schemeClr val="bg1"/>
                </a:solidFill>
                <a:latin typeface="Algerian" panose="04020705040A02060702" pitchFamily="82" charset="0"/>
              </a:rPr>
              <a:t>RESIDUAL   DISTRIBUTION</a:t>
            </a:r>
          </a:p>
          <a:p>
            <a:pPr algn="ctr"/>
            <a:endParaRPr lang="en-IN" sz="3600" b="1" u="sng" dirty="0">
              <a:solidFill>
                <a:schemeClr val="bg1"/>
              </a:solidFill>
              <a:latin typeface="Algerian" panose="04020705040A02060702" pitchFamily="82" charset="0"/>
            </a:endParaRPr>
          </a:p>
        </p:txBody>
      </p:sp>
      <p:sp>
        <p:nvSpPr>
          <p:cNvPr id="5" name="Shape 1">
            <a:extLst>
              <a:ext uri="{FF2B5EF4-FFF2-40B4-BE49-F238E27FC236}">
                <a16:creationId xmlns:a16="http://schemas.microsoft.com/office/drawing/2014/main" id="{9711AC5E-B222-34A4-4E8B-50C58E72A11E}"/>
              </a:ext>
            </a:extLst>
          </p:cNvPr>
          <p:cNvSpPr/>
          <p:nvPr/>
        </p:nvSpPr>
        <p:spPr>
          <a:xfrm>
            <a:off x="795867" y="2327764"/>
            <a:ext cx="6519333" cy="4693006"/>
          </a:xfrm>
          <a:prstGeom prst="roundRect">
            <a:avLst>
              <a:gd name="adj" fmla="val 2117"/>
            </a:avLst>
          </a:prstGeom>
          <a:solidFill>
            <a:srgbClr val="5F5153"/>
          </a:solidFill>
          <a:ln/>
        </p:spPr>
        <p:txBody>
          <a:bodyPr/>
          <a:lstStyle/>
          <a:p>
            <a:pPr algn="just"/>
            <a:endParaRPr lang="en-US" sz="2000" dirty="0">
              <a:solidFill>
                <a:schemeClr val="bg1">
                  <a:lumMod val="95000"/>
                </a:schemeClr>
              </a:solidFill>
              <a:latin typeface="Times New Roman" panose="02020603050405020304" pitchFamily="18" charset="0"/>
              <a:cs typeface="Times New Roman" panose="02020603050405020304" pitchFamily="18" charset="0"/>
            </a:endParaRPr>
          </a:p>
          <a:p>
            <a:r>
              <a:rPr lang="en-US" sz="2000" dirty="0">
                <a:solidFill>
                  <a:schemeClr val="bg1">
                    <a:lumMod val="95000"/>
                  </a:schemeClr>
                </a:solidFill>
                <a:latin typeface="Times New Roman" panose="02020603050405020304" pitchFamily="18" charset="0"/>
                <a:cs typeface="Times New Roman" panose="02020603050405020304" pitchFamily="18" charset="0"/>
              </a:rPr>
              <a:t>Residuals are approximately normally distributed but show slight skewness and deviation from perfect normality.</a:t>
            </a:r>
          </a:p>
          <a:p>
            <a:endParaRPr lang="en-US" sz="2000" dirty="0">
              <a:solidFill>
                <a:schemeClr val="bg1">
                  <a:lumMod val="95000"/>
                </a:schemeClr>
              </a:solidFill>
              <a:latin typeface="Times New Roman" panose="02020603050405020304" pitchFamily="18" charset="0"/>
              <a:cs typeface="Times New Roman" panose="02020603050405020304" pitchFamily="18" charset="0"/>
            </a:endParaRPr>
          </a:p>
          <a:p>
            <a:r>
              <a:rPr lang="en-US" sz="2000" dirty="0">
                <a:solidFill>
                  <a:schemeClr val="bg1">
                    <a:lumMod val="95000"/>
                  </a:schemeClr>
                </a:solidFill>
                <a:latin typeface="Times New Roman" panose="02020603050405020304" pitchFamily="18" charset="0"/>
                <a:cs typeface="Times New Roman" panose="02020603050405020304" pitchFamily="18" charset="0"/>
              </a:rPr>
              <a:t>In real life residuals are not perfectly follows  normal distribution and the reasons are </a:t>
            </a:r>
            <a:r>
              <a:rPr lang="en-IN" sz="2000" dirty="0">
                <a:solidFill>
                  <a:schemeClr val="bg1">
                    <a:lumMod val="95000"/>
                  </a:schemeClr>
                </a:solidFill>
                <a:latin typeface="Times New Roman" panose="02020603050405020304" pitchFamily="18" charset="0"/>
                <a:cs typeface="Times New Roman" panose="02020603050405020304" pitchFamily="18" charset="0"/>
              </a:rPr>
              <a:t>Human </a:t>
            </a:r>
            <a:r>
              <a:rPr lang="en-IN" sz="2000" dirty="0" err="1">
                <a:solidFill>
                  <a:schemeClr val="bg1">
                    <a:lumMod val="95000"/>
                  </a:schemeClr>
                </a:solidFill>
                <a:latin typeface="Times New Roman" panose="02020603050405020304" pitchFamily="18" charset="0"/>
                <a:cs typeface="Times New Roman" panose="02020603050405020304" pitchFamily="18" charset="0"/>
              </a:rPr>
              <a:t>behavior</a:t>
            </a:r>
            <a:r>
              <a:rPr lang="en-IN" sz="2000" dirty="0">
                <a:solidFill>
                  <a:schemeClr val="bg1">
                    <a:lumMod val="95000"/>
                  </a:schemeClr>
                </a:solidFill>
                <a:latin typeface="Times New Roman" panose="02020603050405020304" pitchFamily="18" charset="0"/>
                <a:cs typeface="Times New Roman" panose="02020603050405020304" pitchFamily="18" charset="0"/>
              </a:rPr>
              <a:t> variability,</a:t>
            </a:r>
          </a:p>
          <a:p>
            <a:r>
              <a:rPr lang="en-IN" sz="2000" dirty="0">
                <a:solidFill>
                  <a:schemeClr val="bg1">
                    <a:lumMod val="95000"/>
                  </a:schemeClr>
                </a:solidFill>
                <a:latin typeface="Times New Roman" panose="02020603050405020304" pitchFamily="18" charset="0"/>
                <a:cs typeface="Times New Roman" panose="02020603050405020304" pitchFamily="18" charset="0"/>
              </a:rPr>
              <a:t>Missing variables.</a:t>
            </a:r>
          </a:p>
          <a:p>
            <a:endParaRPr lang="en-IN" sz="2000" dirty="0">
              <a:solidFill>
                <a:schemeClr val="bg1">
                  <a:lumMod val="95000"/>
                </a:schemeClr>
              </a:solidFill>
              <a:latin typeface="Times New Roman" panose="02020603050405020304" pitchFamily="18" charset="0"/>
              <a:cs typeface="Times New Roman" panose="02020603050405020304" pitchFamily="18" charset="0"/>
            </a:endParaRPr>
          </a:p>
          <a:p>
            <a:r>
              <a:rPr lang="en-US" sz="2000" dirty="0">
                <a:solidFill>
                  <a:schemeClr val="bg1">
                    <a:lumMod val="95000"/>
                  </a:schemeClr>
                </a:solidFill>
                <a:latin typeface="Times New Roman" panose="02020603050405020304" pitchFamily="18" charset="0"/>
                <a:cs typeface="Times New Roman" panose="02020603050405020304" pitchFamily="18" charset="0"/>
              </a:rPr>
              <a:t>Most residuals cluster near 0, meaning the model’s predictions are generally accurate . The distribution looks fairly symmetric, suggesting that errors are balanced. Some individuals have slightly higher pain than predicted, others slightly lower, but there’s no strong bias in one direction.</a:t>
            </a:r>
          </a:p>
        </p:txBody>
      </p:sp>
    </p:spTree>
    <p:extLst>
      <p:ext uri="{BB962C8B-B14F-4D97-AF65-F5344CB8AC3E}">
        <p14:creationId xmlns:p14="http://schemas.microsoft.com/office/powerpoint/2010/main" val="32801400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4" name="TextBox 3">
            <a:extLst>
              <a:ext uri="{FF2B5EF4-FFF2-40B4-BE49-F238E27FC236}">
                <a16:creationId xmlns:a16="http://schemas.microsoft.com/office/drawing/2014/main" id="{51D2A413-DA6C-BA27-F96A-D9FB020FED2F}"/>
              </a:ext>
            </a:extLst>
          </p:cNvPr>
          <p:cNvSpPr txBox="1"/>
          <p:nvPr/>
        </p:nvSpPr>
        <p:spPr>
          <a:xfrm>
            <a:off x="3965825" y="590764"/>
            <a:ext cx="5280917" cy="646331"/>
          </a:xfrm>
          <a:prstGeom prst="rect">
            <a:avLst/>
          </a:prstGeom>
          <a:noFill/>
        </p:spPr>
        <p:txBody>
          <a:bodyPr wrap="square" rtlCol="0">
            <a:spAutoFit/>
          </a:bodyPr>
          <a:lstStyle/>
          <a:p>
            <a:pPr algn="ctr"/>
            <a:r>
              <a:rPr lang="en-IN" sz="3600" b="1" u="sng" dirty="0">
                <a:solidFill>
                  <a:schemeClr val="bg1"/>
                </a:solidFill>
                <a:latin typeface="Algerian" panose="04020705040A02060702" pitchFamily="82" charset="0"/>
              </a:rPr>
              <a:t>RESIDUAL  vs FITTED</a:t>
            </a:r>
          </a:p>
        </p:txBody>
      </p:sp>
      <p:sp>
        <p:nvSpPr>
          <p:cNvPr id="12" name="TextBox 11">
            <a:extLst>
              <a:ext uri="{FF2B5EF4-FFF2-40B4-BE49-F238E27FC236}">
                <a16:creationId xmlns:a16="http://schemas.microsoft.com/office/drawing/2014/main" id="{127DB26E-816A-13B8-09B8-8FAF98C9C1BC}"/>
              </a:ext>
            </a:extLst>
          </p:cNvPr>
          <p:cNvSpPr txBox="1"/>
          <p:nvPr/>
        </p:nvSpPr>
        <p:spPr>
          <a:xfrm>
            <a:off x="935693" y="2683579"/>
            <a:ext cx="5670590" cy="400110"/>
          </a:xfrm>
          <a:prstGeom prst="rect">
            <a:avLst/>
          </a:prstGeom>
          <a:noFill/>
        </p:spPr>
        <p:txBody>
          <a:bodyPr wrap="square" rtlCol="0">
            <a:spAutoFit/>
          </a:bodyPr>
          <a:lstStyle/>
          <a:p>
            <a:pPr algn="ctr"/>
            <a:r>
              <a:rPr lang="en-US" sz="2000" dirty="0">
                <a:solidFill>
                  <a:schemeClr val="bg1"/>
                </a:solidFill>
                <a:latin typeface="Times New Roman" panose="02020603050405020304" pitchFamily="18" charset="0"/>
                <a:cs typeface="Times New Roman" panose="02020603050405020304" pitchFamily="18" charset="0"/>
              </a:rPr>
              <a:t>.</a:t>
            </a:r>
            <a:endParaRPr lang="en-IN" sz="2000" dirty="0">
              <a:solidFill>
                <a:schemeClr val="bg1"/>
              </a:solidFill>
              <a:latin typeface="Times New Roman" panose="02020603050405020304" pitchFamily="18" charset="0"/>
              <a:cs typeface="Times New Roman" panose="02020603050405020304" pitchFamily="18" charset="0"/>
            </a:endParaRPr>
          </a:p>
        </p:txBody>
      </p:sp>
      <p:pic>
        <p:nvPicPr>
          <p:cNvPr id="5122" name="Picture 2">
            <a:extLst>
              <a:ext uri="{FF2B5EF4-FFF2-40B4-BE49-F238E27FC236}">
                <a16:creationId xmlns:a16="http://schemas.microsoft.com/office/drawing/2014/main" id="{8DD6B18D-95BF-15EC-797D-B4EC404168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93937" y="1660358"/>
            <a:ext cx="6148137" cy="5835316"/>
          </a:xfrm>
          <a:prstGeom prst="rect">
            <a:avLst/>
          </a:prstGeom>
          <a:noFill/>
          <a:extLst>
            <a:ext uri="{909E8E84-426E-40DD-AFC4-6F175D3DCCD1}">
              <a14:hiddenFill xmlns:a14="http://schemas.microsoft.com/office/drawing/2010/main">
                <a:solidFill>
                  <a:srgbClr val="FFFFFF"/>
                </a:solidFill>
              </a14:hiddenFill>
            </a:ext>
          </a:extLst>
        </p:spPr>
      </p:pic>
      <p:sp>
        <p:nvSpPr>
          <p:cNvPr id="3" name="Shape 1">
            <a:extLst>
              <a:ext uri="{FF2B5EF4-FFF2-40B4-BE49-F238E27FC236}">
                <a16:creationId xmlns:a16="http://schemas.microsoft.com/office/drawing/2014/main" id="{72324FDA-FC19-D097-C2D0-8BB1996CD08B}"/>
              </a:ext>
            </a:extLst>
          </p:cNvPr>
          <p:cNvSpPr/>
          <p:nvPr/>
        </p:nvSpPr>
        <p:spPr>
          <a:xfrm>
            <a:off x="1041550" y="2090571"/>
            <a:ext cx="6148137" cy="4974890"/>
          </a:xfrm>
          <a:prstGeom prst="roundRect">
            <a:avLst>
              <a:gd name="adj" fmla="val 2117"/>
            </a:avLst>
          </a:prstGeom>
          <a:solidFill>
            <a:srgbClr val="5F5153"/>
          </a:solidFill>
          <a:ln/>
        </p:spPr>
        <p:txBody>
          <a:bodyPr/>
          <a:lstStyle/>
          <a:p>
            <a:pPr lvl="0" algn="just" eaLnBrk="0" fontAlgn="base" hangingPunct="0">
              <a:spcBef>
                <a:spcPct val="0"/>
              </a:spcBef>
              <a:spcAft>
                <a:spcPct val="0"/>
              </a:spcAft>
            </a:pPr>
            <a:endParaRPr lang="en-US" sz="2000" dirty="0">
              <a:solidFill>
                <a:schemeClr val="bg1">
                  <a:lumMod val="95000"/>
                </a:schemeClr>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sz="2000" dirty="0">
                <a:solidFill>
                  <a:schemeClr val="bg1">
                    <a:lumMod val="95000"/>
                  </a:schemeClr>
                </a:solidFill>
                <a:latin typeface="Times New Roman" panose="02020603050405020304" pitchFamily="18" charset="0"/>
                <a:cs typeface="Times New Roman" panose="02020603050405020304" pitchFamily="18" charset="0"/>
              </a:rPr>
              <a:t>Residuals are distributed fairly evenly above and below the zero line, which means the model isn’t systematically over- or under-predicting pain at different fitted values.</a:t>
            </a:r>
          </a:p>
          <a:p>
            <a:pPr lvl="0" algn="just" eaLnBrk="0" fontAlgn="base" hangingPunct="0">
              <a:spcBef>
                <a:spcPct val="0"/>
              </a:spcBef>
              <a:spcAft>
                <a:spcPct val="0"/>
              </a:spcAft>
            </a:pPr>
            <a:endParaRPr lang="en-US" sz="2000" dirty="0">
              <a:solidFill>
                <a:schemeClr val="bg1">
                  <a:lumMod val="95000"/>
                </a:schemeClr>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sz="2000" dirty="0">
                <a:solidFill>
                  <a:schemeClr val="bg1">
                    <a:lumMod val="95000"/>
                  </a:schemeClr>
                </a:solidFill>
                <a:latin typeface="Times New Roman" panose="02020603050405020304" pitchFamily="18" charset="0"/>
                <a:cs typeface="Times New Roman" panose="02020603050405020304" pitchFamily="18" charset="0"/>
              </a:rPr>
              <a:t>The bands suggest that fitted values take on certain discrete levels — likely because pain scores are measured on a limited scale. That's normal in health data.</a:t>
            </a:r>
          </a:p>
          <a:p>
            <a:pPr lvl="0" algn="just" eaLnBrk="0" fontAlgn="base" hangingPunct="0">
              <a:spcBef>
                <a:spcPct val="0"/>
              </a:spcBef>
              <a:spcAft>
                <a:spcPct val="0"/>
              </a:spcAft>
            </a:pPr>
            <a:endParaRPr lang="en-US" sz="2000" dirty="0">
              <a:solidFill>
                <a:schemeClr val="bg1">
                  <a:lumMod val="95000"/>
                </a:schemeClr>
              </a:solidFill>
              <a:latin typeface="Times New Roman" panose="02020603050405020304" pitchFamily="18" charset="0"/>
              <a:cs typeface="Times New Roman" panose="02020603050405020304" pitchFamily="18" charset="0"/>
            </a:endParaRPr>
          </a:p>
          <a:p>
            <a:pPr lvl="0" algn="just" eaLnBrk="0" fontAlgn="base" hangingPunct="0">
              <a:spcBef>
                <a:spcPct val="0"/>
              </a:spcBef>
              <a:spcAft>
                <a:spcPct val="0"/>
              </a:spcAft>
            </a:pPr>
            <a:r>
              <a:rPr lang="en-US" sz="2000" dirty="0">
                <a:solidFill>
                  <a:schemeClr val="bg1">
                    <a:lumMod val="95000"/>
                  </a:schemeClr>
                </a:solidFill>
                <a:latin typeface="Times New Roman" panose="02020603050405020304" pitchFamily="18" charset="0"/>
                <a:cs typeface="Times New Roman" panose="02020603050405020304" pitchFamily="18" charset="0"/>
              </a:rPr>
              <a:t>In plot, the spread looks fairly consistent across fitted values, which suggests no major heteroscedasticity (variance changing with predicted pain). It means the model’s error is stable across pain levels.</a:t>
            </a:r>
          </a:p>
          <a:p>
            <a:pPr lvl="0" eaLnBrk="0" fontAlgn="base" hangingPunct="0">
              <a:spcBef>
                <a:spcPct val="0"/>
              </a:spcBef>
              <a:spcAft>
                <a:spcPct val="0"/>
              </a:spcAft>
            </a:pPr>
            <a:endParaRPr lang="en-US" sz="2000"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sz="20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8FFD1-73BE-4034-3784-3676B406CE0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6F6F3AA-5CF7-D1C2-5D81-F1767BCD86EF}"/>
              </a:ext>
            </a:extLst>
          </p:cNvPr>
          <p:cNvSpPr txBox="1"/>
          <p:nvPr/>
        </p:nvSpPr>
        <p:spPr>
          <a:xfrm>
            <a:off x="4271375" y="172326"/>
            <a:ext cx="7315200" cy="646331"/>
          </a:xfrm>
          <a:prstGeom prst="rect">
            <a:avLst/>
          </a:prstGeom>
          <a:noFill/>
        </p:spPr>
        <p:txBody>
          <a:bodyPr wrap="square">
            <a:spAutoFit/>
          </a:bodyPr>
          <a:lstStyle/>
          <a:p>
            <a:r>
              <a:rPr lang="en-IN" sz="3600" b="1" u="sng" dirty="0">
                <a:solidFill>
                  <a:schemeClr val="bg1"/>
                </a:solidFill>
                <a:latin typeface="Algerian" panose="04020705040A02060702" pitchFamily="82" charset="0"/>
              </a:rPr>
              <a:t>K-FOLD CROSS VALIDATION </a:t>
            </a:r>
          </a:p>
        </p:txBody>
      </p:sp>
      <p:sp>
        <p:nvSpPr>
          <p:cNvPr id="7" name="Shape 1">
            <a:extLst>
              <a:ext uri="{FF2B5EF4-FFF2-40B4-BE49-F238E27FC236}">
                <a16:creationId xmlns:a16="http://schemas.microsoft.com/office/drawing/2014/main" id="{A0CC76E8-B0D4-452E-BC78-059DDB8CD321}"/>
              </a:ext>
            </a:extLst>
          </p:cNvPr>
          <p:cNvSpPr/>
          <p:nvPr/>
        </p:nvSpPr>
        <p:spPr>
          <a:xfrm>
            <a:off x="745957" y="1001993"/>
            <a:ext cx="13138485" cy="6790585"/>
          </a:xfrm>
          <a:prstGeom prst="roundRect">
            <a:avLst>
              <a:gd name="adj" fmla="val 2117"/>
            </a:avLst>
          </a:prstGeom>
          <a:solidFill>
            <a:srgbClr val="5F5153"/>
          </a:solidFill>
          <a:ln/>
        </p:spPr>
        <p:txBody>
          <a:bodyPr/>
          <a:lstStyle/>
          <a:p>
            <a:pPr fontAlgn="base"/>
            <a:r>
              <a:rPr lang="en-US" sz="2400" b="1" dirty="0">
                <a:solidFill>
                  <a:schemeClr val="bg1"/>
                </a:solidFill>
                <a:latin typeface="Times New Roman" panose="02020603050405020304" pitchFamily="18" charset="0"/>
                <a:cs typeface="Times New Roman" panose="02020603050405020304" pitchFamily="18" charset="0"/>
              </a:rPr>
              <a:t>K-Fold Cross-Validation </a:t>
            </a:r>
            <a:r>
              <a:rPr lang="en-US" sz="2400" dirty="0">
                <a:solidFill>
                  <a:schemeClr val="bg1"/>
                </a:solidFill>
                <a:latin typeface="Times New Roman" panose="02020603050405020304" pitchFamily="18" charset="0"/>
                <a:cs typeface="Times New Roman" panose="02020603050405020304" pitchFamily="18" charset="0"/>
              </a:rPr>
              <a:t>(often called “K-Fold test”) is a resampling technique used to evaluate how well a model will perform on unseen data. </a:t>
            </a:r>
          </a:p>
          <a:p>
            <a:pPr fontAlgn="base"/>
            <a:endParaRPr lang="en-US" sz="2400" dirty="0">
              <a:solidFill>
                <a:schemeClr val="bg1"/>
              </a:solidFill>
              <a:latin typeface="Times New Roman" panose="02020603050405020304" pitchFamily="18" charset="0"/>
              <a:cs typeface="Times New Roman" panose="02020603050405020304" pitchFamily="18" charset="0"/>
            </a:endParaRPr>
          </a:p>
          <a:p>
            <a:pPr fontAlgn="base"/>
            <a:r>
              <a:rPr lang="en-US" sz="2400" b="1" u="sng" dirty="0">
                <a:solidFill>
                  <a:schemeClr val="bg1"/>
                </a:solidFill>
                <a:latin typeface="Times New Roman" panose="02020603050405020304" pitchFamily="18" charset="0"/>
                <a:cs typeface="Times New Roman" panose="02020603050405020304" pitchFamily="18" charset="0"/>
              </a:rPr>
              <a:t>In K-Fold Cross-Validation: </a:t>
            </a:r>
          </a:p>
          <a:p>
            <a:pPr fontAlgn="base"/>
            <a:r>
              <a:rPr lang="en-US" sz="2400" dirty="0">
                <a:solidFill>
                  <a:schemeClr val="bg1"/>
                </a:solidFill>
                <a:latin typeface="Times New Roman" panose="02020603050405020304" pitchFamily="18" charset="0"/>
                <a:cs typeface="Times New Roman" panose="02020603050405020304" pitchFamily="18" charset="0"/>
              </a:rPr>
              <a:t>1. The dataset is divided into K equal (or nearly equal) parts called </a:t>
            </a:r>
            <a:r>
              <a:rPr lang="en-US" sz="2400" i="1" dirty="0">
                <a:solidFill>
                  <a:schemeClr val="bg1"/>
                </a:solidFill>
                <a:latin typeface="Times New Roman" panose="02020603050405020304" pitchFamily="18" charset="0"/>
                <a:cs typeface="Times New Roman" panose="02020603050405020304" pitchFamily="18" charset="0"/>
              </a:rPr>
              <a:t>folds</a:t>
            </a:r>
            <a:r>
              <a:rPr lang="en-US" sz="2400" dirty="0">
                <a:solidFill>
                  <a:schemeClr val="bg1"/>
                </a:solidFill>
                <a:latin typeface="Times New Roman" panose="02020603050405020304" pitchFamily="18" charset="0"/>
                <a:cs typeface="Times New Roman" panose="02020603050405020304" pitchFamily="18" charset="0"/>
              </a:rPr>
              <a:t>  </a:t>
            </a:r>
          </a:p>
          <a:p>
            <a:pPr fontAlgn="base"/>
            <a:r>
              <a:rPr lang="en-US" sz="2400" dirty="0">
                <a:solidFill>
                  <a:schemeClr val="bg1"/>
                </a:solidFill>
                <a:latin typeface="Times New Roman" panose="02020603050405020304" pitchFamily="18" charset="0"/>
                <a:cs typeface="Times New Roman" panose="02020603050405020304" pitchFamily="18" charset="0"/>
              </a:rPr>
              <a:t>2. The model is trained K times  </a:t>
            </a:r>
          </a:p>
          <a:p>
            <a:pPr fontAlgn="base"/>
            <a:r>
              <a:rPr lang="en-US" sz="2400" dirty="0">
                <a:solidFill>
                  <a:schemeClr val="bg1"/>
                </a:solidFill>
                <a:latin typeface="Times New Roman" panose="02020603050405020304" pitchFamily="18" charset="0"/>
                <a:cs typeface="Times New Roman" panose="02020603050405020304" pitchFamily="18" charset="0"/>
              </a:rPr>
              <a:t>3. Each time:  </a:t>
            </a:r>
          </a:p>
          <a:p>
            <a:pPr fontAlgn="base"/>
            <a:r>
              <a:rPr lang="en-US" sz="2400" dirty="0">
                <a:solidFill>
                  <a:schemeClr val="bg1"/>
                </a:solidFill>
                <a:latin typeface="Times New Roman" panose="02020603050405020304" pitchFamily="18" charset="0"/>
                <a:cs typeface="Times New Roman" panose="02020603050405020304" pitchFamily="18" charset="0"/>
              </a:rPr>
              <a:t>     a) Use K−1 folds for training  </a:t>
            </a:r>
          </a:p>
          <a:p>
            <a:pPr fontAlgn="base"/>
            <a:r>
              <a:rPr lang="en-US" sz="2400" dirty="0">
                <a:solidFill>
                  <a:schemeClr val="bg1"/>
                </a:solidFill>
                <a:latin typeface="Times New Roman" panose="02020603050405020304" pitchFamily="18" charset="0"/>
                <a:cs typeface="Times New Roman" panose="02020603050405020304" pitchFamily="18" charset="0"/>
              </a:rPr>
              <a:t>     b) Use the remaining 1-fold for testing  </a:t>
            </a:r>
          </a:p>
          <a:p>
            <a:pPr fontAlgn="base"/>
            <a:r>
              <a:rPr lang="en-US" sz="2400" dirty="0">
                <a:solidFill>
                  <a:schemeClr val="bg1"/>
                </a:solidFill>
                <a:latin typeface="Times New Roman" panose="02020603050405020304" pitchFamily="18" charset="0"/>
                <a:cs typeface="Times New Roman" panose="02020603050405020304" pitchFamily="18" charset="0"/>
              </a:rPr>
              <a:t>     c) Rotate the test fold each time so every fold is used once as a test set  </a:t>
            </a:r>
          </a:p>
          <a:p>
            <a:pPr fontAlgn="base"/>
            <a:r>
              <a:rPr lang="en-US" sz="2400" dirty="0">
                <a:solidFill>
                  <a:schemeClr val="bg1"/>
                </a:solidFill>
                <a:latin typeface="Times New Roman" panose="02020603050405020304" pitchFamily="18" charset="0"/>
                <a:cs typeface="Times New Roman" panose="02020603050405020304" pitchFamily="18" charset="0"/>
              </a:rPr>
              <a:t>         Final performance = average of all K results </a:t>
            </a:r>
          </a:p>
          <a:p>
            <a:pPr fontAlgn="base"/>
            <a:endParaRPr lang="en-US" sz="2400" dirty="0">
              <a:solidFill>
                <a:schemeClr val="bg1"/>
              </a:solidFill>
              <a:latin typeface="Times New Roman" panose="02020603050405020304" pitchFamily="18" charset="0"/>
              <a:cs typeface="Times New Roman" panose="02020603050405020304" pitchFamily="18" charset="0"/>
            </a:endParaRPr>
          </a:p>
          <a:p>
            <a:pPr fontAlgn="base"/>
            <a:r>
              <a:rPr lang="en-US" sz="2400" b="1" u="sng" dirty="0">
                <a:solidFill>
                  <a:schemeClr val="bg1"/>
                </a:solidFill>
                <a:latin typeface="Times New Roman" panose="02020603050405020304" pitchFamily="18" charset="0"/>
                <a:cs typeface="Times New Roman" panose="02020603050405020304" pitchFamily="18" charset="0"/>
              </a:rPr>
              <a:t>Assumptions of K-Fold Cross-Validation</a:t>
            </a:r>
            <a:r>
              <a:rPr lang="en-US" sz="2400" dirty="0">
                <a:solidFill>
                  <a:schemeClr val="bg1"/>
                </a:solidFill>
                <a:latin typeface="Times New Roman" panose="02020603050405020304" pitchFamily="18" charset="0"/>
                <a:cs typeface="Times New Roman" panose="02020603050405020304" pitchFamily="18" charset="0"/>
              </a:rPr>
              <a:t> </a:t>
            </a:r>
          </a:p>
          <a:p>
            <a:pPr fontAlgn="base"/>
            <a:r>
              <a:rPr lang="en-US" sz="2400" dirty="0">
                <a:solidFill>
                  <a:schemeClr val="bg1"/>
                </a:solidFill>
                <a:latin typeface="Times New Roman" panose="02020603050405020304" pitchFamily="18" charset="0"/>
                <a:cs typeface="Times New Roman" panose="02020603050405020304" pitchFamily="18" charset="0"/>
              </a:rPr>
              <a:t>Independent and Identically Distributed (</a:t>
            </a:r>
            <a:r>
              <a:rPr lang="en-US" sz="2400" dirty="0" err="1">
                <a:solidFill>
                  <a:schemeClr val="bg1"/>
                </a:solidFill>
                <a:latin typeface="Times New Roman" panose="02020603050405020304" pitchFamily="18" charset="0"/>
                <a:cs typeface="Times New Roman" panose="02020603050405020304" pitchFamily="18" charset="0"/>
              </a:rPr>
              <a:t>i.i.d.</a:t>
            </a:r>
            <a:r>
              <a:rPr lang="en-US" sz="2400" dirty="0">
                <a:solidFill>
                  <a:schemeClr val="bg1"/>
                </a:solidFill>
                <a:latin typeface="Times New Roman" panose="02020603050405020304" pitchFamily="18" charset="0"/>
                <a:cs typeface="Times New Roman" panose="02020603050405020304" pitchFamily="18" charset="0"/>
              </a:rPr>
              <a:t>) Data </a:t>
            </a:r>
          </a:p>
          <a:p>
            <a:pPr fontAlgn="base"/>
            <a:r>
              <a:rPr lang="en-US" sz="2400" dirty="0">
                <a:solidFill>
                  <a:schemeClr val="bg1"/>
                </a:solidFill>
                <a:latin typeface="Times New Roman" panose="02020603050405020304" pitchFamily="18" charset="0"/>
                <a:cs typeface="Times New Roman" panose="02020603050405020304" pitchFamily="18" charset="0"/>
              </a:rPr>
              <a:t>2. No Data Leakage </a:t>
            </a:r>
          </a:p>
          <a:p>
            <a:pPr fontAlgn="base"/>
            <a:r>
              <a:rPr lang="en-US" sz="2400" dirty="0">
                <a:solidFill>
                  <a:schemeClr val="bg1"/>
                </a:solidFill>
                <a:latin typeface="Times New Roman" panose="02020603050405020304" pitchFamily="18" charset="0"/>
                <a:cs typeface="Times New Roman" panose="02020603050405020304" pitchFamily="18" charset="0"/>
              </a:rPr>
              <a:t>3. Representative Folds </a:t>
            </a:r>
          </a:p>
          <a:p>
            <a:pPr fontAlgn="base"/>
            <a:r>
              <a:rPr lang="en-US" sz="2400" dirty="0">
                <a:solidFill>
                  <a:schemeClr val="bg1"/>
                </a:solidFill>
                <a:latin typeface="Times New Roman" panose="02020603050405020304" pitchFamily="18" charset="0"/>
                <a:cs typeface="Times New Roman" panose="02020603050405020304" pitchFamily="18" charset="0"/>
              </a:rPr>
              <a:t>4. Sufficient Data Size </a:t>
            </a:r>
          </a:p>
          <a:p>
            <a:pPr fontAlgn="base"/>
            <a:r>
              <a:rPr lang="en-US" sz="2400" dirty="0">
                <a:solidFill>
                  <a:schemeClr val="bg1"/>
                </a:solidFill>
                <a:latin typeface="Times New Roman" panose="02020603050405020304" pitchFamily="18" charset="0"/>
                <a:cs typeface="Times New Roman" panose="02020603050405020304" pitchFamily="18" charset="0"/>
              </a:rPr>
              <a:t>5. Stationarity (for general ML settings)</a:t>
            </a:r>
          </a:p>
        </p:txBody>
      </p:sp>
    </p:spTree>
    <p:extLst>
      <p:ext uri="{BB962C8B-B14F-4D97-AF65-F5344CB8AC3E}">
        <p14:creationId xmlns:p14="http://schemas.microsoft.com/office/powerpoint/2010/main" val="33142918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3618621" y="363255"/>
            <a:ext cx="13144252" cy="6889315"/>
          </a:xfrm>
          <a:prstGeom prst="rect">
            <a:avLst/>
          </a:prstGeom>
          <a:noFill/>
          <a:ln/>
        </p:spPr>
        <p:txBody>
          <a:bodyPr wrap="none" lIns="0" tIns="0" rIns="0" bIns="0" rtlCol="0" anchor="t"/>
          <a:lstStyle/>
          <a:p>
            <a:endParaRPr lang="en-IN" sz="2400" b="1"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sz="5400" dirty="0">
              <a:solidFill>
                <a:schemeClr val="tx2">
                  <a:lumMod val="20000"/>
                  <a:lumOff val="80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B8C56543-4E95-4952-C0E6-557B7C21650B}"/>
              </a:ext>
            </a:extLst>
          </p:cNvPr>
          <p:cNvSpPr txBox="1"/>
          <p:nvPr/>
        </p:nvSpPr>
        <p:spPr>
          <a:xfrm>
            <a:off x="2875547" y="179101"/>
            <a:ext cx="7315200" cy="646331"/>
          </a:xfrm>
          <a:prstGeom prst="rect">
            <a:avLst/>
          </a:prstGeom>
          <a:noFill/>
        </p:spPr>
        <p:txBody>
          <a:bodyPr wrap="square">
            <a:spAutoFit/>
          </a:bodyPr>
          <a:lstStyle/>
          <a:p>
            <a:pPr algn="ctr"/>
            <a:r>
              <a:rPr lang="en-IN" sz="3600" b="1" u="sng" dirty="0">
                <a:solidFill>
                  <a:schemeClr val="bg1"/>
                </a:solidFill>
                <a:latin typeface="Algerian" panose="04020705040A02060702" pitchFamily="82" charset="0"/>
              </a:rPr>
              <a:t>LASSO</a:t>
            </a:r>
            <a:r>
              <a:rPr lang="en-IN" sz="3600" b="1" u="sng" dirty="0">
                <a:solidFill>
                  <a:schemeClr val="bg1"/>
                </a:solidFill>
              </a:rPr>
              <a:t>   </a:t>
            </a:r>
            <a:r>
              <a:rPr lang="en-IN" sz="3600" b="1" u="sng" dirty="0">
                <a:solidFill>
                  <a:schemeClr val="bg1"/>
                </a:solidFill>
                <a:latin typeface="Algerian" panose="04020705040A02060702" pitchFamily="82" charset="0"/>
              </a:rPr>
              <a:t>REGRESSION</a:t>
            </a:r>
          </a:p>
        </p:txBody>
      </p:sp>
      <mc:AlternateContent xmlns:mc="http://schemas.openxmlformats.org/markup-compatibility/2006" xmlns:a14="http://schemas.microsoft.com/office/drawing/2010/main">
        <mc:Choice Requires="a14">
          <p:sp>
            <p:nvSpPr>
              <p:cNvPr id="5" name="Shape 1">
                <a:extLst>
                  <a:ext uri="{FF2B5EF4-FFF2-40B4-BE49-F238E27FC236}">
                    <a16:creationId xmlns:a16="http://schemas.microsoft.com/office/drawing/2014/main" id="{38A5F0C3-F092-3929-9270-B1D2EA312E69}"/>
                  </a:ext>
                </a:extLst>
              </p:cNvPr>
              <p:cNvSpPr/>
              <p:nvPr/>
            </p:nvSpPr>
            <p:spPr>
              <a:xfrm>
                <a:off x="588723" y="1145913"/>
                <a:ext cx="13500256" cy="6747792"/>
              </a:xfrm>
              <a:prstGeom prst="roundRect">
                <a:avLst>
                  <a:gd name="adj" fmla="val 2117"/>
                </a:avLst>
              </a:prstGeom>
              <a:solidFill>
                <a:srgbClr val="5F5153"/>
              </a:solidFill>
              <a:ln/>
            </p:spPr>
            <p:txBody>
              <a:bodyPr/>
              <a:lstStyle/>
              <a:p>
                <a:r>
                  <a:rPr lang="en-IN" sz="2400" b="1" dirty="0">
                    <a:solidFill>
                      <a:schemeClr val="bg1"/>
                    </a:solidFill>
                    <a:latin typeface="Times New Roman" panose="02020603050405020304" pitchFamily="18" charset="0"/>
                    <a:cs typeface="Times New Roman" panose="02020603050405020304" pitchFamily="18" charset="0"/>
                  </a:rPr>
                  <a:t>Lasso Regression</a:t>
                </a:r>
                <a:r>
                  <a:rPr lang="en-IN" sz="2400" dirty="0">
                    <a:solidFill>
                      <a:schemeClr val="bg1"/>
                    </a:solidFill>
                    <a:latin typeface="Times New Roman" panose="02020603050405020304" pitchFamily="18" charset="0"/>
                    <a:cs typeface="Times New Roman" panose="02020603050405020304" pitchFamily="18" charset="0"/>
                  </a:rPr>
                  <a:t> (Least Absolute Shrinkage and Selection Operator) is a type of linear regression </a:t>
                </a:r>
              </a:p>
              <a:p>
                <a:r>
                  <a:rPr lang="en-IN" sz="2400" dirty="0">
                    <a:solidFill>
                      <a:schemeClr val="bg1"/>
                    </a:solidFill>
                    <a:latin typeface="Times New Roman" panose="02020603050405020304" pitchFamily="18" charset="0"/>
                    <a:cs typeface="Times New Roman" panose="02020603050405020304" pitchFamily="18" charset="0"/>
                  </a:rPr>
                  <a:t>that adds a penalty to the model to both </a:t>
                </a:r>
                <a:r>
                  <a:rPr lang="en-IN" sz="2400" b="1" dirty="0">
                    <a:solidFill>
                      <a:schemeClr val="bg1"/>
                    </a:solidFill>
                    <a:latin typeface="Times New Roman" panose="02020603050405020304" pitchFamily="18" charset="0"/>
                    <a:cs typeface="Times New Roman" panose="02020603050405020304" pitchFamily="18" charset="0"/>
                  </a:rPr>
                  <a:t>shrink coefficients</a:t>
                </a:r>
                <a:r>
                  <a:rPr lang="en-IN" sz="2400" dirty="0">
                    <a:solidFill>
                      <a:schemeClr val="bg1"/>
                    </a:solidFill>
                    <a:latin typeface="Times New Roman" panose="02020603050405020304" pitchFamily="18" charset="0"/>
                    <a:cs typeface="Times New Roman" panose="02020603050405020304" pitchFamily="18" charset="0"/>
                  </a:rPr>
                  <a:t> and </a:t>
                </a:r>
                <a:r>
                  <a:rPr lang="en-IN" sz="2400" b="1" dirty="0">
                    <a:solidFill>
                      <a:schemeClr val="bg1"/>
                    </a:solidFill>
                    <a:latin typeface="Times New Roman" panose="02020603050405020304" pitchFamily="18" charset="0"/>
                    <a:cs typeface="Times New Roman" panose="02020603050405020304" pitchFamily="18" charset="0"/>
                  </a:rPr>
                  <a:t>perform variable selection</a:t>
                </a:r>
                <a:r>
                  <a:rPr lang="en-IN" sz="2400" dirty="0">
                    <a:solidFill>
                      <a:schemeClr val="bg1"/>
                    </a:solidFill>
                    <a:latin typeface="Times New Roman" panose="02020603050405020304" pitchFamily="18" charset="0"/>
                    <a:cs typeface="Times New Roman" panose="02020603050405020304" pitchFamily="18" charset="0"/>
                  </a:rPr>
                  <a:t>.</a:t>
                </a:r>
              </a:p>
              <a:p>
                <a:r>
                  <a:rPr lang="en-US" sz="2400" dirty="0">
                    <a:solidFill>
                      <a:schemeClr val="bg1"/>
                    </a:solidFill>
                    <a:latin typeface="Times New Roman" panose="02020603050405020304" pitchFamily="18" charset="0"/>
                    <a:cs typeface="Times New Roman" panose="02020603050405020304" pitchFamily="18" charset="0"/>
                  </a:rPr>
                  <a:t>                           Objective Function =</a:t>
                </a:r>
                <a14:m>
                  <m:oMath xmlns:m="http://schemas.openxmlformats.org/officeDocument/2006/math">
                    <m:func>
                      <m:funcPr>
                        <m:ctrlPr>
                          <a:rPr lang="ar-AE" sz="2400" i="1">
                            <a:solidFill>
                              <a:schemeClr val="bg1"/>
                            </a:solidFill>
                            <a:latin typeface="Cambria Math" panose="02040503050406030204" pitchFamily="18" charset="0"/>
                          </a:rPr>
                        </m:ctrlPr>
                      </m:funcPr>
                      <m:fName>
                        <m:r>
                          <m:rPr>
                            <m:sty m:val="p"/>
                          </m:rPr>
                          <a:rPr lang="en-US" sz="2400">
                            <a:solidFill>
                              <a:schemeClr val="bg1"/>
                            </a:solidFill>
                            <a:latin typeface="Cambria Math" panose="02040503050406030204" pitchFamily="18" charset="0"/>
                          </a:rPr>
                          <m:t>min</m:t>
                        </m:r>
                      </m:fName>
                      <m:e>
                        <m:r>
                          <a:rPr lang="ar-AE" sz="2400">
                            <a:solidFill>
                              <a:schemeClr val="bg1"/>
                            </a:solidFill>
                            <a:latin typeface="Cambria Math" panose="02040503050406030204" pitchFamily="18" charset="0"/>
                          </a:rPr>
                          <m:t>(</m:t>
                        </m:r>
                        <m:nary>
                          <m:naryPr>
                            <m:chr m:val="∑"/>
                            <m:limLoc m:val="subSup"/>
                            <m:grow m:val="on"/>
                            <m:ctrlPr>
                              <a:rPr lang="ar-AE" sz="2400" i="1">
                                <a:solidFill>
                                  <a:schemeClr val="bg1"/>
                                </a:solidFill>
                                <a:latin typeface="Cambria Math" panose="02040503050406030204" pitchFamily="18" charset="0"/>
                              </a:rPr>
                            </m:ctrlPr>
                          </m:naryPr>
                          <m:sub>
                            <m:r>
                              <a:rPr lang="ar-AE" sz="2400" i="1">
                                <a:solidFill>
                                  <a:schemeClr val="bg1"/>
                                </a:solidFill>
                                <a:latin typeface="Cambria Math" panose="02040503050406030204" pitchFamily="18" charset="0"/>
                              </a:rPr>
                              <m:t>𝑖</m:t>
                            </m:r>
                            <m:r>
                              <a:rPr lang="ar-AE" sz="2400">
                                <a:solidFill>
                                  <a:schemeClr val="bg1"/>
                                </a:solidFill>
                                <a:latin typeface="Cambria Math" panose="02040503050406030204" pitchFamily="18" charset="0"/>
                              </a:rPr>
                              <m:t>=</m:t>
                            </m:r>
                            <m:r>
                              <a:rPr lang="ar-AE" sz="2400">
                                <a:solidFill>
                                  <a:schemeClr val="bg1"/>
                                </a:solidFill>
                                <a:latin typeface="Cambria Math" panose="02040503050406030204" pitchFamily="18" charset="0"/>
                              </a:rPr>
                              <m:t>1</m:t>
                            </m:r>
                          </m:sub>
                          <m:sup>
                            <m:r>
                              <a:rPr lang="ar-AE" sz="2400" i="1">
                                <a:solidFill>
                                  <a:schemeClr val="bg1"/>
                                </a:solidFill>
                                <a:latin typeface="Cambria Math" panose="02040503050406030204" pitchFamily="18" charset="0"/>
                              </a:rPr>
                              <m:t>𝑛</m:t>
                            </m:r>
                          </m:sup>
                          <m:e>
                            <m:r>
                              <a:rPr lang="ar-AE" sz="2400">
                                <a:solidFill>
                                  <a:schemeClr val="bg1"/>
                                </a:solidFill>
                                <a:latin typeface="Cambria Math" panose="02040503050406030204" pitchFamily="18" charset="0"/>
                              </a:rPr>
                              <m:t>(</m:t>
                            </m:r>
                          </m:e>
                        </m:nary>
                        <m:d>
                          <m:dPr>
                            <m:begChr m:val=""/>
                            <m:ctrlPr>
                              <a:rPr lang="ar-AE" sz="2400" i="1">
                                <a:solidFill>
                                  <a:schemeClr val="bg1"/>
                                </a:solidFill>
                                <a:latin typeface="Cambria Math" panose="02040503050406030204" pitchFamily="18" charset="0"/>
                              </a:rPr>
                            </m:ctrlPr>
                          </m:dPr>
                          <m:e>
                            <m:sSub>
                              <m:sSubPr>
                                <m:ctrlPr>
                                  <a:rPr lang="ar-AE" sz="2400" i="1">
                                    <a:solidFill>
                                      <a:schemeClr val="bg1"/>
                                    </a:solidFill>
                                    <a:latin typeface="Cambria Math" panose="02040503050406030204" pitchFamily="18" charset="0"/>
                                  </a:rPr>
                                </m:ctrlPr>
                              </m:sSubPr>
                              <m:e>
                                <m:r>
                                  <a:rPr lang="ar-AE" sz="2400" i="1">
                                    <a:solidFill>
                                      <a:schemeClr val="bg1"/>
                                    </a:solidFill>
                                    <a:latin typeface="Cambria Math" panose="02040503050406030204" pitchFamily="18" charset="0"/>
                                  </a:rPr>
                                  <m:t>𝑦</m:t>
                                </m:r>
                              </m:e>
                              <m:sub>
                                <m:r>
                                  <a:rPr lang="ar-AE" sz="2400" i="1">
                                    <a:solidFill>
                                      <a:schemeClr val="bg1"/>
                                    </a:solidFill>
                                    <a:latin typeface="Cambria Math" panose="02040503050406030204" pitchFamily="18" charset="0"/>
                                  </a:rPr>
                                  <m:t>𝑖</m:t>
                                </m:r>
                              </m:sub>
                            </m:sSub>
                            <m:r>
                              <a:rPr lang="ar-AE" sz="2400">
                                <a:solidFill>
                                  <a:schemeClr val="bg1"/>
                                </a:solidFill>
                                <a:latin typeface="Cambria Math" panose="02040503050406030204" pitchFamily="18" charset="0"/>
                              </a:rPr>
                              <m:t>−</m:t>
                            </m:r>
                            <m:sSub>
                              <m:sSubPr>
                                <m:ctrlPr>
                                  <a:rPr lang="ar-AE" sz="2400" i="1">
                                    <a:solidFill>
                                      <a:schemeClr val="bg1"/>
                                    </a:solidFill>
                                    <a:latin typeface="Cambria Math" panose="02040503050406030204" pitchFamily="18" charset="0"/>
                                  </a:rPr>
                                </m:ctrlPr>
                              </m:sSubPr>
                              <m:e>
                                <m:acc>
                                  <m:accPr>
                                    <m:chr m:val="̂"/>
                                    <m:ctrlPr>
                                      <a:rPr lang="ar-AE" sz="2400" i="1">
                                        <a:solidFill>
                                          <a:schemeClr val="bg1"/>
                                        </a:solidFill>
                                        <a:latin typeface="Cambria Math" panose="02040503050406030204" pitchFamily="18" charset="0"/>
                                      </a:rPr>
                                    </m:ctrlPr>
                                  </m:accPr>
                                  <m:e>
                                    <m:r>
                                      <a:rPr lang="ar-AE" sz="2400" i="1">
                                        <a:solidFill>
                                          <a:schemeClr val="bg1"/>
                                        </a:solidFill>
                                        <a:latin typeface="Cambria Math" panose="02040503050406030204" pitchFamily="18" charset="0"/>
                                      </a:rPr>
                                      <m:t>𝑦</m:t>
                                    </m:r>
                                  </m:e>
                                </m:acc>
                              </m:e>
                              <m:sub>
                                <m:r>
                                  <a:rPr lang="ar-AE" sz="2400" i="1">
                                    <a:solidFill>
                                      <a:schemeClr val="bg1"/>
                                    </a:solidFill>
                                    <a:latin typeface="Cambria Math" panose="02040503050406030204" pitchFamily="18" charset="0"/>
                                  </a:rPr>
                                  <m:t>𝑖</m:t>
                                </m:r>
                              </m:sub>
                            </m:sSub>
                            <m:sSup>
                              <m:sSupPr>
                                <m:ctrlPr>
                                  <a:rPr lang="ar-AE" sz="2400" i="1">
                                    <a:solidFill>
                                      <a:schemeClr val="bg1"/>
                                    </a:solidFill>
                                    <a:latin typeface="Cambria Math" panose="02040503050406030204" pitchFamily="18" charset="0"/>
                                  </a:rPr>
                                </m:ctrlPr>
                              </m:sSupPr>
                              <m:e>
                                <m:d>
                                  <m:dPr>
                                    <m:begChr m:val=""/>
                                    <m:endChr m:val=""/>
                                    <m:ctrlPr>
                                      <a:rPr lang="ar-AE" sz="2400" i="1">
                                        <a:solidFill>
                                          <a:schemeClr val="bg1"/>
                                        </a:solidFill>
                                        <a:latin typeface="Cambria Math" panose="02040503050406030204" pitchFamily="18" charset="0"/>
                                      </a:rPr>
                                    </m:ctrlPr>
                                  </m:dPr>
                                  <m:e>
                                    <m:r>
                                      <a:rPr lang="ar-AE" sz="2400">
                                        <a:solidFill>
                                          <a:schemeClr val="bg1"/>
                                        </a:solidFill>
                                        <a:latin typeface="Cambria Math" panose="02040503050406030204" pitchFamily="18" charset="0"/>
                                      </a:rPr>
                                      <m:t>)</m:t>
                                    </m:r>
                                  </m:e>
                                </m:d>
                              </m:e>
                              <m:sup>
                                <m:r>
                                  <a:rPr lang="ar-AE" sz="2400">
                                    <a:solidFill>
                                      <a:schemeClr val="bg1"/>
                                    </a:solidFill>
                                    <a:latin typeface="Cambria Math" panose="02040503050406030204" pitchFamily="18" charset="0"/>
                                  </a:rPr>
                                  <m:t>2</m:t>
                                </m:r>
                              </m:sup>
                            </m:sSup>
                            <m:r>
                              <a:rPr lang="ar-AE" sz="2400">
                                <a:solidFill>
                                  <a:schemeClr val="bg1"/>
                                </a:solidFill>
                                <a:latin typeface="Cambria Math" panose="02040503050406030204" pitchFamily="18" charset="0"/>
                              </a:rPr>
                              <m:t>+</m:t>
                            </m:r>
                            <m:r>
                              <a:rPr lang="ar-AE" sz="2400" i="1">
                                <a:solidFill>
                                  <a:schemeClr val="bg1"/>
                                </a:solidFill>
                                <a:latin typeface="Cambria Math" panose="02040503050406030204" pitchFamily="18" charset="0"/>
                              </a:rPr>
                              <m:t>𝜆</m:t>
                            </m:r>
                            <m:nary>
                              <m:naryPr>
                                <m:chr m:val="∑"/>
                                <m:limLoc m:val="subSup"/>
                                <m:grow m:val="on"/>
                                <m:ctrlPr>
                                  <a:rPr lang="ar-AE" sz="2400" i="1">
                                    <a:solidFill>
                                      <a:schemeClr val="bg1"/>
                                    </a:solidFill>
                                    <a:latin typeface="Cambria Math" panose="02040503050406030204" pitchFamily="18" charset="0"/>
                                  </a:rPr>
                                </m:ctrlPr>
                              </m:naryPr>
                              <m:sub>
                                <m:r>
                                  <a:rPr lang="ar-AE" sz="2400" i="1">
                                    <a:solidFill>
                                      <a:schemeClr val="bg1"/>
                                    </a:solidFill>
                                    <a:latin typeface="Cambria Math" panose="02040503050406030204" pitchFamily="18" charset="0"/>
                                  </a:rPr>
                                  <m:t>𝑗</m:t>
                                </m:r>
                                <m:r>
                                  <a:rPr lang="ar-AE" sz="2400">
                                    <a:solidFill>
                                      <a:schemeClr val="bg1"/>
                                    </a:solidFill>
                                    <a:latin typeface="Cambria Math" panose="02040503050406030204" pitchFamily="18" charset="0"/>
                                  </a:rPr>
                                  <m:t>=</m:t>
                                </m:r>
                                <m:r>
                                  <a:rPr lang="ar-AE" sz="2400">
                                    <a:solidFill>
                                      <a:schemeClr val="bg1"/>
                                    </a:solidFill>
                                    <a:latin typeface="Cambria Math" panose="02040503050406030204" pitchFamily="18" charset="0"/>
                                  </a:rPr>
                                  <m:t>1</m:t>
                                </m:r>
                              </m:sub>
                              <m:sup>
                                <m:r>
                                  <a:rPr lang="ar-AE" sz="2400" i="1">
                                    <a:solidFill>
                                      <a:schemeClr val="bg1"/>
                                    </a:solidFill>
                                    <a:latin typeface="Cambria Math" panose="02040503050406030204" pitchFamily="18" charset="0"/>
                                  </a:rPr>
                                  <m:t>𝑝</m:t>
                                </m:r>
                              </m:sup>
                              <m:e>
                                <m:r>
                                  <a:rPr lang="ar-AE" sz="2400">
                                    <a:solidFill>
                                      <a:schemeClr val="bg1"/>
                                    </a:solidFill>
                                    <a:latin typeface="Cambria Math" panose="02040503050406030204" pitchFamily="18" charset="0"/>
                                  </a:rPr>
                                  <m:t>∣</m:t>
                                </m:r>
                              </m:e>
                            </m:nary>
                            <m:sSub>
                              <m:sSubPr>
                                <m:ctrlPr>
                                  <a:rPr lang="ar-AE" sz="2400" i="1">
                                    <a:solidFill>
                                      <a:schemeClr val="bg1"/>
                                    </a:solidFill>
                                    <a:latin typeface="Cambria Math" panose="02040503050406030204" pitchFamily="18" charset="0"/>
                                  </a:rPr>
                                </m:ctrlPr>
                              </m:sSubPr>
                              <m:e>
                                <m:r>
                                  <a:rPr lang="ar-AE" sz="2400" i="1">
                                    <a:solidFill>
                                      <a:schemeClr val="bg1"/>
                                    </a:solidFill>
                                    <a:latin typeface="Cambria Math" panose="02040503050406030204" pitchFamily="18" charset="0"/>
                                  </a:rPr>
                                  <m:t>𝛽</m:t>
                                </m:r>
                              </m:e>
                              <m:sub>
                                <m:r>
                                  <a:rPr lang="ar-AE" sz="2400" i="1">
                                    <a:solidFill>
                                      <a:schemeClr val="bg1"/>
                                    </a:solidFill>
                                    <a:latin typeface="Cambria Math" panose="02040503050406030204" pitchFamily="18" charset="0"/>
                                  </a:rPr>
                                  <m:t>𝑗</m:t>
                                </m:r>
                              </m:sub>
                            </m:sSub>
                            <m:r>
                              <a:rPr lang="ar-AE" sz="2400">
                                <a:solidFill>
                                  <a:schemeClr val="bg1"/>
                                </a:solidFill>
                                <a:latin typeface="Cambria Math" panose="02040503050406030204" pitchFamily="18" charset="0"/>
                              </a:rPr>
                              <m:t>∣</m:t>
                            </m:r>
                          </m:e>
                        </m:d>
                      </m:e>
                    </m:func>
                  </m:oMath>
                </a14:m>
                <a:endParaRPr lang="en-IN" sz="2400" dirty="0">
                  <a:solidFill>
                    <a:schemeClr val="bg1"/>
                  </a:solidFill>
                  <a:latin typeface="Times New Roman" panose="02020603050405020304" pitchFamily="18" charset="0"/>
                  <a:cs typeface="Times New Roman" panose="02020603050405020304" pitchFamily="18" charset="0"/>
                </a:endParaRPr>
              </a:p>
              <a:p>
                <a:endParaRPr lang="en-IN" sz="2400" dirty="0">
                  <a:solidFill>
                    <a:schemeClr val="bg1"/>
                  </a:solidFill>
                  <a:latin typeface="Times New Roman" panose="02020603050405020304" pitchFamily="18" charset="0"/>
                  <a:cs typeface="Times New Roman" panose="02020603050405020304" pitchFamily="18" charset="0"/>
                </a:endParaRPr>
              </a:p>
              <a:p>
                <a:endParaRPr lang="en-IN" sz="2400" dirty="0">
                  <a:solidFill>
                    <a:schemeClr val="bg1"/>
                  </a:solidFill>
                  <a:latin typeface="Times New Roman" panose="02020603050405020304" pitchFamily="18" charset="0"/>
                  <a:cs typeface="Times New Roman" panose="02020603050405020304" pitchFamily="18" charset="0"/>
                </a:endParaRPr>
              </a:p>
              <a:p>
                <a:r>
                  <a:rPr lang="en-IN" sz="2400" u="sng" dirty="0">
                    <a:solidFill>
                      <a:schemeClr val="bg1"/>
                    </a:solidFill>
                    <a:latin typeface="Algerian" panose="04020705040A02060702" pitchFamily="82" charset="0"/>
                    <a:cs typeface="Times New Roman" panose="02020603050405020304" pitchFamily="18" charset="0"/>
                  </a:rPr>
                  <a:t>ASSUMPTIONS: </a:t>
                </a:r>
              </a:p>
              <a:p>
                <a:endParaRPr lang="en-IN" sz="2400" u="sng" dirty="0">
                  <a:solidFill>
                    <a:schemeClr val="bg1"/>
                  </a:solidFill>
                  <a:latin typeface="Algerian" panose="04020705040A02060702" pitchFamily="82" charset="0"/>
                  <a:cs typeface="Times New Roman" panose="02020603050405020304" pitchFamily="18" charset="0"/>
                </a:endParaRPr>
              </a:p>
              <a:p>
                <a:pPr algn="just"/>
                <a:r>
                  <a:rPr lang="en-IN" sz="2400" dirty="0">
                    <a:solidFill>
                      <a:schemeClr val="bg1"/>
                    </a:solidFill>
                    <a:latin typeface="Times New Roman" panose="02020603050405020304" pitchFamily="18" charset="0"/>
                    <a:cs typeface="Times New Roman" panose="02020603050405020304" pitchFamily="18" charset="0"/>
                  </a:rPr>
                  <a:t>1.</a:t>
                </a:r>
                <a:r>
                  <a:rPr lang="en-IN" sz="2400" u="sng" dirty="0">
                    <a:solidFill>
                      <a:schemeClr val="bg1"/>
                    </a:solidFill>
                    <a:latin typeface="Times New Roman" panose="02020603050405020304" pitchFamily="18" charset="0"/>
                    <a:cs typeface="Times New Roman" panose="02020603050405020304" pitchFamily="18" charset="0"/>
                  </a:rPr>
                  <a:t> </a:t>
                </a:r>
                <a:r>
                  <a:rPr lang="en-IN" sz="2400" dirty="0">
                    <a:solidFill>
                      <a:schemeClr val="bg1"/>
                    </a:solidFill>
                    <a:latin typeface="Times New Roman" panose="02020603050405020304" pitchFamily="18" charset="0"/>
                    <a:cs typeface="Times New Roman" panose="02020603050405020304" pitchFamily="18" charset="0"/>
                  </a:rPr>
                  <a:t>Linearity : The relationship between predictors and response is linear </a:t>
                </a:r>
              </a:p>
              <a:p>
                <a:pPr algn="just"/>
                <a:r>
                  <a:rPr lang="en-IN" sz="2400" dirty="0">
                    <a:solidFill>
                      <a:schemeClr val="bg1"/>
                    </a:solidFill>
                    <a:latin typeface="Times New Roman" panose="02020603050405020304" pitchFamily="18" charset="0"/>
                    <a:cs typeface="Times New Roman" panose="02020603050405020304" pitchFamily="18" charset="0"/>
                  </a:rPr>
                  <a:t>2. Independence of Errors : Residuals are independent (no autocorrelation) </a:t>
                </a:r>
              </a:p>
              <a:p>
                <a:pPr algn="just"/>
                <a:r>
                  <a:rPr lang="en-IN" sz="2400" dirty="0">
                    <a:solidFill>
                      <a:schemeClr val="bg1"/>
                    </a:solidFill>
                    <a:latin typeface="Times New Roman" panose="02020603050405020304" pitchFamily="18" charset="0"/>
                    <a:cs typeface="Times New Roman" panose="02020603050405020304" pitchFamily="18" charset="0"/>
                  </a:rPr>
                  <a:t>3. Homoscedasticity : Constant variance of errors across all levels of predictors </a:t>
                </a:r>
              </a:p>
              <a:p>
                <a:pPr algn="just"/>
                <a:r>
                  <a:rPr lang="en-IN" sz="2400" dirty="0">
                    <a:solidFill>
                      <a:schemeClr val="bg1"/>
                    </a:solidFill>
                    <a:latin typeface="Times New Roman" panose="02020603050405020304" pitchFamily="18" charset="0"/>
                    <a:cs typeface="Times New Roman" panose="02020603050405020304" pitchFamily="18" charset="0"/>
                  </a:rPr>
                  <a:t>4. Normality of Errors (optional but useful) : Errors are normally distributed (important for inference,</a:t>
                </a:r>
              </a:p>
              <a:p>
                <a:pPr algn="just"/>
                <a:r>
                  <a:rPr lang="en-IN" sz="2400" dirty="0">
                    <a:solidFill>
                      <a:schemeClr val="bg1"/>
                    </a:solidFill>
                    <a:latin typeface="Times New Roman" panose="02020603050405020304" pitchFamily="18" charset="0"/>
                    <a:cs typeface="Times New Roman" panose="02020603050405020304" pitchFamily="18" charset="0"/>
                  </a:rPr>
                  <a:t> less for prediction) </a:t>
                </a:r>
              </a:p>
              <a:p>
                <a:pPr algn="just"/>
                <a:r>
                  <a:rPr lang="en-IN" sz="2400" dirty="0">
                    <a:solidFill>
                      <a:schemeClr val="bg1"/>
                    </a:solidFill>
                    <a:latin typeface="Times New Roman" panose="02020603050405020304" pitchFamily="18" charset="0"/>
                    <a:cs typeface="Times New Roman" panose="02020603050405020304" pitchFamily="18" charset="0"/>
                  </a:rPr>
                  <a:t>5. No Perfect Multicollinearity : Predictors should not be perfectly correlated. Lasso can handle</a:t>
                </a:r>
              </a:p>
              <a:p>
                <a:pPr algn="just"/>
                <a:r>
                  <a:rPr lang="en-IN" sz="2400" dirty="0">
                    <a:solidFill>
                      <a:schemeClr val="bg1"/>
                    </a:solidFill>
                    <a:latin typeface="Times New Roman" panose="02020603050405020304" pitchFamily="18" charset="0"/>
                    <a:cs typeface="Times New Roman" panose="02020603050405020304" pitchFamily="18" charset="0"/>
                  </a:rPr>
                  <a:t> multicollinearity better than OLS, but it tends to pick one variable and ignore others in highly correlated groups </a:t>
                </a:r>
              </a:p>
              <a:p>
                <a:pPr algn="just"/>
                <a:r>
                  <a:rPr lang="en-IN" sz="2400" dirty="0">
                    <a:solidFill>
                      <a:schemeClr val="bg1"/>
                    </a:solidFill>
                    <a:latin typeface="Times New Roman" panose="02020603050405020304" pitchFamily="18" charset="0"/>
                    <a:cs typeface="Times New Roman" panose="02020603050405020304" pitchFamily="18" charset="0"/>
                  </a:rPr>
                  <a:t>6. Feature Scaling is important variables should be standardized (mean = 0, variance = 1). Otherwise,</a:t>
                </a:r>
              </a:p>
              <a:p>
                <a:pPr algn="just"/>
                <a:r>
                  <a:rPr lang="en-IN" sz="2400" dirty="0">
                    <a:solidFill>
                      <a:schemeClr val="bg1"/>
                    </a:solidFill>
                    <a:latin typeface="Times New Roman" panose="02020603050405020304" pitchFamily="18" charset="0"/>
                    <a:cs typeface="Times New Roman" panose="02020603050405020304" pitchFamily="18" charset="0"/>
                  </a:rPr>
                  <a:t> penalty is applied unevenly.</a:t>
                </a:r>
              </a:p>
            </p:txBody>
          </p:sp>
        </mc:Choice>
        <mc:Fallback xmlns="">
          <p:sp>
            <p:nvSpPr>
              <p:cNvPr id="5" name="Shape 1">
                <a:extLst>
                  <a:ext uri="{FF2B5EF4-FFF2-40B4-BE49-F238E27FC236}">
                    <a16:creationId xmlns:a16="http://schemas.microsoft.com/office/drawing/2014/main" id="{38A5F0C3-F092-3929-9270-B1D2EA312E69}"/>
                  </a:ext>
                </a:extLst>
              </p:cNvPr>
              <p:cNvSpPr>
                <a:spLocks noRot="1" noChangeAspect="1" noMove="1" noResize="1" noEditPoints="1" noAdjustHandles="1" noChangeArrowheads="1" noChangeShapeType="1" noTextEdit="1"/>
              </p:cNvSpPr>
              <p:nvPr/>
            </p:nvSpPr>
            <p:spPr>
              <a:xfrm>
                <a:off x="588723" y="1145913"/>
                <a:ext cx="13500256" cy="6747792"/>
              </a:xfrm>
              <a:prstGeom prst="roundRect">
                <a:avLst>
                  <a:gd name="adj" fmla="val 2117"/>
                </a:avLst>
              </a:prstGeom>
              <a:blipFill>
                <a:blip r:embed="rId3"/>
                <a:stretch>
                  <a:fillRect l="-407" t="-90" r="-407"/>
                </a:stretch>
              </a:blipFill>
              <a:ln/>
            </p:spPr>
            <p:txBody>
              <a:bodyPr/>
              <a:lstStyle/>
              <a:p>
                <a:r>
                  <a:rPr lang="en-IN">
                    <a:noFill/>
                  </a:rPr>
                  <a:t> </a:t>
                </a:r>
              </a:p>
            </p:txBody>
          </p:sp>
        </mc:Fallback>
      </mc:AlternateContent>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3760351"/>
            <a:ext cx="5670590" cy="708779"/>
          </a:xfrm>
          <a:prstGeom prst="rect">
            <a:avLst/>
          </a:prstGeom>
          <a:noFill/>
          <a:ln/>
        </p:spPr>
        <p:txBody>
          <a:bodyPr wrap="none" lIns="0" tIns="0" rIns="0" bIns="0" rtlCol="0" anchor="t"/>
          <a:lstStyle/>
          <a:p>
            <a:pPr marL="0" indent="0" algn="l">
              <a:lnSpc>
                <a:spcPts val="5550"/>
              </a:lnSpc>
              <a:buNone/>
            </a:pPr>
            <a:endParaRPr lang="en-US" sz="4450" dirty="0"/>
          </a:p>
        </p:txBody>
      </p:sp>
      <p:sp>
        <p:nvSpPr>
          <p:cNvPr id="7" name="TextBox 6">
            <a:extLst>
              <a:ext uri="{FF2B5EF4-FFF2-40B4-BE49-F238E27FC236}">
                <a16:creationId xmlns:a16="http://schemas.microsoft.com/office/drawing/2014/main" id="{F2EBD714-631C-D39D-DC09-3BCE17EFB4B5}"/>
              </a:ext>
            </a:extLst>
          </p:cNvPr>
          <p:cNvSpPr txBox="1"/>
          <p:nvPr/>
        </p:nvSpPr>
        <p:spPr>
          <a:xfrm>
            <a:off x="442126" y="352920"/>
            <a:ext cx="10196377" cy="646331"/>
          </a:xfrm>
          <a:prstGeom prst="rect">
            <a:avLst/>
          </a:prstGeom>
          <a:noFill/>
        </p:spPr>
        <p:txBody>
          <a:bodyPr wrap="square">
            <a:spAutoFit/>
          </a:bodyPr>
          <a:lstStyle/>
          <a:p>
            <a:r>
              <a:rPr lang="en-US" sz="3600" b="1" u="sng" dirty="0">
                <a:solidFill>
                  <a:schemeClr val="bg1"/>
                </a:solidFill>
                <a:latin typeface="Algerian" panose="04020705040A02060702" pitchFamily="82" charset="0"/>
              </a:rPr>
              <a:t>Feature Selection &amp; Insights from Lasso</a:t>
            </a:r>
          </a:p>
        </p:txBody>
      </p:sp>
      <p:sp>
        <p:nvSpPr>
          <p:cNvPr id="10" name="TextBox 9">
            <a:extLst>
              <a:ext uri="{FF2B5EF4-FFF2-40B4-BE49-F238E27FC236}">
                <a16:creationId xmlns:a16="http://schemas.microsoft.com/office/drawing/2014/main" id="{AC072B1F-D3B6-4EED-C88F-A9EDE27D8013}"/>
              </a:ext>
            </a:extLst>
          </p:cNvPr>
          <p:cNvSpPr txBox="1"/>
          <p:nvPr/>
        </p:nvSpPr>
        <p:spPr>
          <a:xfrm>
            <a:off x="442125" y="1268995"/>
            <a:ext cx="8480809" cy="1384995"/>
          </a:xfrm>
          <a:prstGeom prst="rect">
            <a:avLst/>
          </a:prstGeom>
          <a:noFill/>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Core Idea: Automatic Feature Selection: -</a:t>
            </a:r>
          </a:p>
          <a:p>
            <a:pPr marL="457200" indent="-4572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Lasso uses L1 regularization to shrink coefficients </a:t>
            </a:r>
          </a:p>
          <a:p>
            <a:pPr marL="457200" indent="-4572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Some coefficients become exactly zero </a:t>
            </a:r>
          </a:p>
          <a:p>
            <a:pPr marL="457200" indent="-4572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This means those features are automatically removed from the model</a:t>
            </a:r>
          </a:p>
        </p:txBody>
      </p:sp>
      <p:sp>
        <p:nvSpPr>
          <p:cNvPr id="17" name="TextBox 16">
            <a:extLst>
              <a:ext uri="{FF2B5EF4-FFF2-40B4-BE49-F238E27FC236}">
                <a16:creationId xmlns:a16="http://schemas.microsoft.com/office/drawing/2014/main" id="{D4A0A1EB-DC0B-E99B-CC38-40BA557F97B0}"/>
              </a:ext>
            </a:extLst>
          </p:cNvPr>
          <p:cNvSpPr txBox="1"/>
          <p:nvPr/>
        </p:nvSpPr>
        <p:spPr>
          <a:xfrm>
            <a:off x="8601388" y="1268995"/>
            <a:ext cx="7315200" cy="1508105"/>
          </a:xfrm>
          <a:prstGeom prst="rect">
            <a:avLst/>
          </a:prstGeom>
          <a:noFill/>
        </p:spPr>
        <p:txBody>
          <a:bodyPr wrap="square">
            <a:spAutoFit/>
          </a:bodyPr>
          <a:lstStyle/>
          <a:p>
            <a:r>
              <a:rPr lang="en-US" sz="2000" b="1" dirty="0">
                <a:solidFill>
                  <a:schemeClr val="bg1"/>
                </a:solidFill>
                <a:latin typeface="Times New Roman" panose="02020603050405020304" pitchFamily="18" charset="0"/>
                <a:cs typeface="Times New Roman" panose="02020603050405020304" pitchFamily="18" charset="0"/>
              </a:rPr>
              <a:t>Why Feature Selection Matters: </a:t>
            </a:r>
            <a:r>
              <a:rPr lang="en-US" b="1" dirty="0">
                <a:solidFill>
                  <a:schemeClr val="bg1"/>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Reduces overfitting </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Improves model interpretability </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Removes noise &amp; irrelevant variables </a:t>
            </a:r>
          </a:p>
          <a:p>
            <a:pPr marL="285750" indent="-285750">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Creates a simpler, more generalizable model</a:t>
            </a:r>
          </a:p>
        </p:txBody>
      </p:sp>
      <p:sp>
        <p:nvSpPr>
          <p:cNvPr id="11" name="Shape 1">
            <a:extLst>
              <a:ext uri="{FF2B5EF4-FFF2-40B4-BE49-F238E27FC236}">
                <a16:creationId xmlns:a16="http://schemas.microsoft.com/office/drawing/2014/main" id="{786A4E4E-29A0-4F7C-DB73-4CF921E57815}"/>
              </a:ext>
            </a:extLst>
          </p:cNvPr>
          <p:cNvSpPr/>
          <p:nvPr/>
        </p:nvSpPr>
        <p:spPr>
          <a:xfrm>
            <a:off x="968543" y="2961898"/>
            <a:ext cx="11905247" cy="5041232"/>
          </a:xfrm>
          <a:prstGeom prst="roundRect">
            <a:avLst>
              <a:gd name="adj" fmla="val 2117"/>
            </a:avLst>
          </a:prstGeom>
          <a:solidFill>
            <a:srgbClr val="5F5153"/>
          </a:solidFill>
          <a:ln/>
        </p:spPr>
        <p:txBody>
          <a:bodyPr/>
          <a:lstStyle/>
          <a:p>
            <a:pPr marL="342900" lvl="0" indent="-342900" eaLnBrk="0" fontAlgn="base" hangingPunct="0">
              <a:spcBef>
                <a:spcPct val="0"/>
              </a:spcBef>
              <a:spcAft>
                <a:spcPct val="0"/>
              </a:spcAft>
              <a:buFont typeface="Arial" panose="020B0604020202020204" pitchFamily="34" charset="0"/>
              <a:buChar char="•"/>
            </a:pPr>
            <a:r>
              <a:rPr lang="en-US" sz="2000" dirty="0" err="1">
                <a:solidFill>
                  <a:schemeClr val="bg1"/>
                </a:solidFill>
                <a:latin typeface="Times New Roman" panose="02020603050405020304" pitchFamily="18" charset="0"/>
                <a:cs typeface="Times New Roman" panose="02020603050405020304" pitchFamily="18" charset="0"/>
              </a:rPr>
              <a:t>progesterone_ngml</a:t>
            </a:r>
            <a:r>
              <a:rPr lang="en-US" sz="2000" dirty="0">
                <a:solidFill>
                  <a:schemeClr val="bg1"/>
                </a:solidFill>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2000" dirty="0" err="1">
                <a:solidFill>
                  <a:schemeClr val="bg1"/>
                </a:solidFill>
                <a:latin typeface="Times New Roman" panose="02020603050405020304" pitchFamily="18" charset="0"/>
                <a:cs typeface="Times New Roman" panose="02020603050405020304" pitchFamily="18" charset="0"/>
              </a:rPr>
              <a:t>log_consistency_score</a:t>
            </a:r>
            <a:r>
              <a:rPr lang="en-US" sz="2000" dirty="0">
                <a:solidFill>
                  <a:schemeClr val="bg1"/>
                </a:solidFill>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2000" dirty="0" err="1">
                <a:solidFill>
                  <a:schemeClr val="bg1"/>
                </a:solidFill>
                <a:latin typeface="Times New Roman" panose="02020603050405020304" pitchFamily="18" charset="0"/>
                <a:cs typeface="Times New Roman" panose="02020603050405020304" pitchFamily="18" charset="0"/>
              </a:rPr>
              <a:t>water_intake_liters</a:t>
            </a:r>
            <a:r>
              <a:rPr lang="en-US" sz="2000" dirty="0">
                <a:solidFill>
                  <a:schemeClr val="bg1"/>
                </a:solidFill>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sz="2000" dirty="0" err="1">
                <a:solidFill>
                  <a:schemeClr val="bg1"/>
                </a:solidFill>
                <a:latin typeface="Times New Roman" panose="02020603050405020304" pitchFamily="18" charset="0"/>
                <a:cs typeface="Times New Roman" panose="02020603050405020304" pitchFamily="18" charset="0"/>
              </a:rPr>
              <a:t>alcohol_consumption</a:t>
            </a:r>
            <a:endParaRPr lang="en-US" sz="2000" dirty="0">
              <a:solidFill>
                <a:schemeClr val="bg1"/>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sz="2000" dirty="0">
                <a:solidFill>
                  <a:schemeClr val="bg1"/>
                </a:solidFill>
                <a:latin typeface="Times New Roman" panose="02020603050405020304" pitchFamily="18" charset="0"/>
                <a:cs typeface="Times New Roman" panose="02020603050405020304" pitchFamily="18" charset="0"/>
              </a:rPr>
              <a:t>These features do not contribute to prediction → model simplifies itself.</a:t>
            </a:r>
            <a:endParaRPr lang="en-US" sz="2000" u="sng" dirty="0">
              <a:solidFill>
                <a:schemeClr val="tx2">
                  <a:lumMod val="20000"/>
                  <a:lumOff val="80000"/>
                </a:schemeClr>
              </a:solidFill>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sz="2000" u="sng" dirty="0">
              <a:solidFill>
                <a:schemeClr val="tx2">
                  <a:lumMod val="20000"/>
                  <a:lumOff val="80000"/>
                </a:schemeClr>
              </a:solidFill>
              <a:latin typeface="Times New Roman" panose="02020603050405020304" pitchFamily="18" charset="0"/>
              <a:cs typeface="Times New Roman" panose="02020603050405020304" pitchFamily="18" charset="0"/>
            </a:endParaRPr>
          </a:p>
          <a:p>
            <a:endParaRPr lang="en-US" sz="2000" dirty="0">
              <a:solidFill>
                <a:schemeClr val="bg1"/>
              </a:solidFill>
              <a:latin typeface="Times New Roman" panose="02020603050405020304" pitchFamily="18" charset="0"/>
              <a:cs typeface="Times New Roman" panose="02020603050405020304" pitchFamily="18" charset="0"/>
            </a:endParaRPr>
          </a:p>
        </p:txBody>
      </p:sp>
      <p:graphicFrame>
        <p:nvGraphicFramePr>
          <p:cNvPr id="13" name="Table 12">
            <a:extLst>
              <a:ext uri="{FF2B5EF4-FFF2-40B4-BE49-F238E27FC236}">
                <a16:creationId xmlns:a16="http://schemas.microsoft.com/office/drawing/2014/main" id="{22F25944-528A-6AE8-D0CE-8B33D354DA5B}"/>
              </a:ext>
            </a:extLst>
          </p:cNvPr>
          <p:cNvGraphicFramePr>
            <a:graphicFrameLocks noGrp="1"/>
          </p:cNvGraphicFramePr>
          <p:nvPr>
            <p:extLst>
              <p:ext uri="{D42A27DB-BD31-4B8C-83A1-F6EECF244321}">
                <p14:modId xmlns:p14="http://schemas.microsoft.com/office/powerpoint/2010/main" val="2926116601"/>
              </p:ext>
            </p:extLst>
          </p:nvPr>
        </p:nvGraphicFramePr>
        <p:xfrm>
          <a:off x="1564105" y="4777038"/>
          <a:ext cx="10471486" cy="2966450"/>
        </p:xfrm>
        <a:graphic>
          <a:graphicData uri="http://schemas.openxmlformats.org/drawingml/2006/table">
            <a:tbl>
              <a:tblPr firstRow="1" bandRow="1">
                <a:tableStyleId>{616DA210-FB5B-4158-B5E0-FEB733F419BA}</a:tableStyleId>
              </a:tblPr>
              <a:tblGrid>
                <a:gridCol w="5235743">
                  <a:extLst>
                    <a:ext uri="{9D8B030D-6E8A-4147-A177-3AD203B41FA5}">
                      <a16:colId xmlns:a16="http://schemas.microsoft.com/office/drawing/2014/main" val="1539448705"/>
                    </a:ext>
                  </a:extLst>
                </a:gridCol>
                <a:gridCol w="5235743">
                  <a:extLst>
                    <a:ext uri="{9D8B030D-6E8A-4147-A177-3AD203B41FA5}">
                      <a16:colId xmlns:a16="http://schemas.microsoft.com/office/drawing/2014/main" val="1578368290"/>
                    </a:ext>
                  </a:extLst>
                </a:gridCol>
              </a:tblGrid>
              <a:tr h="648911">
                <a:tc>
                  <a:txBody>
                    <a:bodyPr/>
                    <a:lstStyle/>
                    <a:p>
                      <a:r>
                        <a:rPr lang="en-US" sz="1800" dirty="0">
                          <a:solidFill>
                            <a:schemeClr val="bg1"/>
                          </a:solidFill>
                          <a:latin typeface="Times New Roman" panose="02020603050405020304" pitchFamily="18" charset="0"/>
                          <a:cs typeface="Times New Roman" panose="02020603050405020304" pitchFamily="18" charset="0"/>
                        </a:rPr>
                        <a:t>Strong Positive Impact: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solidFill>
                            <a:schemeClr val="bg1"/>
                          </a:solidFill>
                          <a:latin typeface="Times New Roman" panose="02020603050405020304" pitchFamily="18" charset="0"/>
                          <a:cs typeface="Times New Roman" panose="02020603050405020304" pitchFamily="18" charset="0"/>
                        </a:rPr>
                        <a:t>Strong Negative Impact:</a:t>
                      </a:r>
                    </a:p>
                    <a:p>
                      <a:endParaRPr lang="en-IN" dirty="0"/>
                    </a:p>
                  </a:txBody>
                  <a:tcPr/>
                </a:tc>
                <a:extLst>
                  <a:ext uri="{0D108BD9-81ED-4DB2-BD59-A6C34878D82A}">
                    <a16:rowId xmlns:a16="http://schemas.microsoft.com/office/drawing/2014/main" val="3860903758"/>
                  </a:ext>
                </a:extLst>
              </a:tr>
              <a:tr h="2317539">
                <a:tc>
                  <a:txBody>
                    <a:bodyPr/>
                    <a:lstStyle/>
                    <a:p>
                      <a:pPr>
                        <a:buFont typeface="Arial" panose="020B0604020202020204" pitchFamily="34" charset="0"/>
                        <a:buChar char="•"/>
                      </a:pPr>
                      <a:r>
                        <a:rPr lang="en-US" sz="1800" dirty="0" err="1">
                          <a:solidFill>
                            <a:schemeClr val="bg1"/>
                          </a:solidFill>
                          <a:latin typeface="Times New Roman" panose="02020603050405020304" pitchFamily="18" charset="0"/>
                          <a:cs typeface="Times New Roman" panose="02020603050405020304" pitchFamily="18" charset="0"/>
                        </a:rPr>
                        <a:t>work_hours_lost</a:t>
                      </a:r>
                      <a:r>
                        <a:rPr lang="en-US" sz="1800" dirty="0">
                          <a:solidFill>
                            <a:schemeClr val="bg1"/>
                          </a:solidFill>
                          <a:latin typeface="Times New Roman" panose="02020603050405020304" pitchFamily="18" charset="0"/>
                          <a:cs typeface="Times New Roman" panose="02020603050405020304" pitchFamily="18" charset="0"/>
                        </a:rPr>
                        <a:t> (+0.49)                                     </a:t>
                      </a:r>
                    </a:p>
                    <a:p>
                      <a:pPr>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sleep_hours</a:t>
                      </a:r>
                      <a:r>
                        <a:rPr lang="en-US" sz="1800" dirty="0">
                          <a:solidFill>
                            <a:schemeClr val="bg1"/>
                          </a:solidFill>
                          <a:latin typeface="Times New Roman" panose="02020603050405020304" pitchFamily="18" charset="0"/>
                          <a:cs typeface="Times New Roman" panose="02020603050405020304" pitchFamily="18" charset="0"/>
                        </a:rPr>
                        <a:t> (+0.22) </a:t>
                      </a:r>
                    </a:p>
                    <a:p>
                      <a:pPr>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flow_level</a:t>
                      </a:r>
                      <a:r>
                        <a:rPr lang="en-US" sz="1800" dirty="0">
                          <a:solidFill>
                            <a:schemeClr val="bg1"/>
                          </a:solidFill>
                          <a:latin typeface="Times New Roman" panose="02020603050405020304" pitchFamily="18" charset="0"/>
                          <a:cs typeface="Times New Roman" panose="02020603050405020304" pitchFamily="18" charset="0"/>
                        </a:rPr>
                        <a:t> (+0.28)</a:t>
                      </a:r>
                    </a:p>
                    <a:p>
                      <a:pPr>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progesterone_ngml</a:t>
                      </a:r>
                      <a:r>
                        <a:rPr lang="en-US" sz="1800" dirty="0">
                          <a:solidFill>
                            <a:schemeClr val="bg1"/>
                          </a:solidFill>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Log_consistency_score</a:t>
                      </a:r>
                      <a:r>
                        <a:rPr lang="en-US" sz="1800" dirty="0">
                          <a:solidFill>
                            <a:schemeClr val="bg1"/>
                          </a:solidFill>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water_intake_liters</a:t>
                      </a:r>
                      <a:r>
                        <a:rPr lang="en-US" sz="1800" dirty="0">
                          <a:solidFill>
                            <a:schemeClr val="bg1"/>
                          </a:solidFill>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US" sz="1800" dirty="0">
                          <a:solidFill>
                            <a:schemeClr val="bg1"/>
                          </a:solidFill>
                          <a:latin typeface="Times New Roman" panose="02020603050405020304" pitchFamily="18" charset="0"/>
                          <a:cs typeface="Times New Roman" panose="02020603050405020304" pitchFamily="18" charset="0"/>
                        </a:rPr>
                        <a:t> </a:t>
                      </a:r>
                      <a:r>
                        <a:rPr lang="en-US" sz="1800" dirty="0" err="1">
                          <a:solidFill>
                            <a:schemeClr val="bg1"/>
                          </a:solidFill>
                          <a:latin typeface="Times New Roman" panose="02020603050405020304" pitchFamily="18" charset="0"/>
                          <a:cs typeface="Times New Roman" panose="02020603050405020304" pitchFamily="18" charset="0"/>
                        </a:rPr>
                        <a:t>alcohol_consumption</a:t>
                      </a:r>
                      <a:endParaRPr lang="en-US" sz="1800" dirty="0">
                        <a:solidFill>
                          <a:schemeClr val="bg1"/>
                        </a:solidFill>
                        <a:latin typeface="Times New Roman" panose="02020603050405020304" pitchFamily="18" charset="0"/>
                        <a:cs typeface="Times New Roman" panose="02020603050405020304" pitchFamily="18" charset="0"/>
                      </a:endParaRPr>
                    </a:p>
                    <a:p>
                      <a:endParaRPr lang="en-IN" dirty="0"/>
                    </a:p>
                  </a:txBody>
                  <a:tcPr/>
                </a:tc>
                <a:tc>
                  <a:txBody>
                    <a:bodyPr/>
                    <a:lstStyle/>
                    <a:p>
                      <a:pPr marL="285750" indent="-285750" algn="l">
                        <a:buFont typeface="Arial" panose="020B0604020202020204" pitchFamily="34" charset="0"/>
                        <a:buChar char="•"/>
                      </a:pPr>
                      <a:r>
                        <a:rPr lang="en-US" sz="1800" dirty="0" err="1">
                          <a:solidFill>
                            <a:schemeClr val="bg1"/>
                          </a:solidFill>
                          <a:latin typeface="Times New Roman" panose="02020603050405020304" pitchFamily="18" charset="0"/>
                          <a:cs typeface="Times New Roman" panose="02020603050405020304" pitchFamily="18" charset="0"/>
                        </a:rPr>
                        <a:t>overall_health_score</a:t>
                      </a:r>
                      <a:r>
                        <a:rPr lang="en-US" sz="1800" dirty="0">
                          <a:solidFill>
                            <a:schemeClr val="bg1"/>
                          </a:solidFill>
                          <a:latin typeface="Times New Roman" panose="02020603050405020304" pitchFamily="18" charset="0"/>
                          <a:cs typeface="Times New Roman" panose="02020603050405020304" pitchFamily="18" charset="0"/>
                        </a:rPr>
                        <a:t> (−1.69) </a:t>
                      </a:r>
                    </a:p>
                    <a:p>
                      <a:pPr marL="285750" indent="-285750" algn="l">
                        <a:buFont typeface="Arial" panose="020B0604020202020204" pitchFamily="34" charset="0"/>
                        <a:buChar char="•"/>
                      </a:pPr>
                      <a:r>
                        <a:rPr lang="en-US" sz="1800" dirty="0" err="1">
                          <a:solidFill>
                            <a:schemeClr val="bg1"/>
                          </a:solidFill>
                          <a:latin typeface="Times New Roman" panose="02020603050405020304" pitchFamily="18" charset="0"/>
                          <a:cs typeface="Times New Roman" panose="02020603050405020304" pitchFamily="18" charset="0"/>
                        </a:rPr>
                        <a:t>stress_score_cycle</a:t>
                      </a:r>
                      <a:r>
                        <a:rPr lang="en-US" sz="1800" dirty="0">
                          <a:solidFill>
                            <a:schemeClr val="bg1"/>
                          </a:solidFill>
                          <a:latin typeface="Times New Roman" panose="02020603050405020304" pitchFamily="18" charset="0"/>
                          <a:cs typeface="Times New Roman" panose="02020603050405020304" pitchFamily="18" charset="0"/>
                        </a:rPr>
                        <a:t> (−0.52) </a:t>
                      </a:r>
                    </a:p>
                    <a:p>
                      <a:pPr marL="285750" indent="-285750" algn="l">
                        <a:buFont typeface="Arial" panose="020B0604020202020204" pitchFamily="34" charset="0"/>
                        <a:buChar char="•"/>
                      </a:pPr>
                      <a:r>
                        <a:rPr lang="en-US" sz="1800" dirty="0" err="1">
                          <a:solidFill>
                            <a:schemeClr val="bg1"/>
                          </a:solidFill>
                          <a:latin typeface="Times New Roman" panose="02020603050405020304" pitchFamily="18" charset="0"/>
                          <a:cs typeface="Times New Roman" panose="02020603050405020304" pitchFamily="18" charset="0"/>
                        </a:rPr>
                        <a:t>bmi</a:t>
                      </a:r>
                      <a:r>
                        <a:rPr lang="en-US" sz="1800" dirty="0">
                          <a:solidFill>
                            <a:schemeClr val="bg1"/>
                          </a:solidFill>
                          <a:latin typeface="Times New Roman" panose="02020603050405020304" pitchFamily="18" charset="0"/>
                          <a:cs typeface="Times New Roman" panose="02020603050405020304" pitchFamily="18" charset="0"/>
                        </a:rPr>
                        <a:t> (−0.12)</a:t>
                      </a:r>
                      <a:endParaRPr lang="en-IN" dirty="0"/>
                    </a:p>
                  </a:txBody>
                  <a:tcPr/>
                </a:tc>
                <a:extLst>
                  <a:ext uri="{0D108BD9-81ED-4DB2-BD59-A6C34878D82A}">
                    <a16:rowId xmlns:a16="http://schemas.microsoft.com/office/drawing/2014/main" val="848754401"/>
                  </a:ext>
                </a:extLst>
              </a:tr>
            </a:tbl>
          </a:graphicData>
        </a:graphic>
      </p:graphicFrame>
    </p:spTree>
    <p:extLst>
      <p:ext uri="{BB962C8B-B14F-4D97-AF65-F5344CB8AC3E}">
        <p14:creationId xmlns:p14="http://schemas.microsoft.com/office/powerpoint/2010/main" val="34299661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94465" y="401598"/>
            <a:ext cx="4826675" cy="443032"/>
          </a:xfrm>
          <a:prstGeom prst="rect">
            <a:avLst/>
          </a:prstGeom>
          <a:noFill/>
          <a:ln/>
        </p:spPr>
        <p:txBody>
          <a:bodyPr wrap="none" lIns="0" tIns="0" rIns="0" bIns="0" rtlCol="0" anchor="t"/>
          <a:lstStyle/>
          <a:p>
            <a:pPr marL="0" indent="0" algn="l">
              <a:lnSpc>
                <a:spcPts val="3450"/>
              </a:lnSpc>
              <a:buNone/>
            </a:pPr>
            <a:endParaRPr lang="en-US" sz="2750" dirty="0"/>
          </a:p>
        </p:txBody>
      </p:sp>
      <p:sp>
        <p:nvSpPr>
          <p:cNvPr id="6" name="Text 3"/>
          <p:cNvSpPr/>
          <p:nvPr/>
        </p:nvSpPr>
        <p:spPr>
          <a:xfrm>
            <a:off x="2424232" y="6997898"/>
            <a:ext cx="4718090" cy="799148"/>
          </a:xfrm>
          <a:prstGeom prst="rect">
            <a:avLst/>
          </a:prstGeom>
          <a:noFill/>
          <a:ln/>
        </p:spPr>
        <p:txBody>
          <a:bodyPr wrap="square" lIns="0" tIns="0" rIns="0" bIns="0" rtlCol="0" anchor="t"/>
          <a:lstStyle/>
          <a:p>
            <a:pPr marL="342900" indent="-342900" algn="l">
              <a:lnSpc>
                <a:spcPts val="1450"/>
              </a:lnSpc>
              <a:buSzPct val="100000"/>
              <a:buChar char="•"/>
            </a:pPr>
            <a:endParaRPr lang="en-US" sz="1100" dirty="0"/>
          </a:p>
        </p:txBody>
      </p:sp>
      <p:sp>
        <p:nvSpPr>
          <p:cNvPr id="7" name="Text 4"/>
          <p:cNvSpPr/>
          <p:nvPr/>
        </p:nvSpPr>
        <p:spPr>
          <a:xfrm>
            <a:off x="7495699" y="6687860"/>
            <a:ext cx="2058591" cy="221456"/>
          </a:xfrm>
          <a:prstGeom prst="rect">
            <a:avLst/>
          </a:prstGeom>
          <a:noFill/>
          <a:ln/>
        </p:spPr>
        <p:txBody>
          <a:bodyPr wrap="none" lIns="0" tIns="0" rIns="0" bIns="0" rtlCol="0" anchor="t"/>
          <a:lstStyle/>
          <a:p>
            <a:pPr marL="0" indent="0" algn="l">
              <a:lnSpc>
                <a:spcPts val="1700"/>
              </a:lnSpc>
              <a:buNone/>
            </a:pPr>
            <a:endParaRPr lang="en-US" sz="1350" dirty="0"/>
          </a:p>
        </p:txBody>
      </p:sp>
      <p:sp>
        <p:nvSpPr>
          <p:cNvPr id="8" name="Text 5"/>
          <p:cNvSpPr/>
          <p:nvPr/>
        </p:nvSpPr>
        <p:spPr>
          <a:xfrm>
            <a:off x="7495699" y="6997898"/>
            <a:ext cx="4718090" cy="737235"/>
          </a:xfrm>
          <a:prstGeom prst="rect">
            <a:avLst/>
          </a:prstGeom>
          <a:noFill/>
          <a:ln/>
        </p:spPr>
        <p:txBody>
          <a:bodyPr wrap="square" lIns="0" tIns="0" rIns="0" bIns="0" rtlCol="0" anchor="t"/>
          <a:lstStyle/>
          <a:p>
            <a:pPr marL="0" indent="0" algn="l">
              <a:lnSpc>
                <a:spcPts val="1450"/>
              </a:lnSpc>
              <a:buNone/>
            </a:pPr>
            <a:endParaRPr lang="en-US" sz="1100" dirty="0"/>
          </a:p>
        </p:txBody>
      </p:sp>
      <p:sp>
        <p:nvSpPr>
          <p:cNvPr id="5" name="TextBox 4">
            <a:extLst>
              <a:ext uri="{FF2B5EF4-FFF2-40B4-BE49-F238E27FC236}">
                <a16:creationId xmlns:a16="http://schemas.microsoft.com/office/drawing/2014/main" id="{33820547-C3BE-7E85-01F6-8293D34CB892}"/>
              </a:ext>
            </a:extLst>
          </p:cNvPr>
          <p:cNvSpPr txBox="1"/>
          <p:nvPr/>
        </p:nvSpPr>
        <p:spPr>
          <a:xfrm>
            <a:off x="510409" y="327898"/>
            <a:ext cx="11593101" cy="646331"/>
          </a:xfrm>
          <a:prstGeom prst="rect">
            <a:avLst/>
          </a:prstGeom>
          <a:noFill/>
        </p:spPr>
        <p:txBody>
          <a:bodyPr wrap="square" rtlCol="0">
            <a:spAutoFit/>
          </a:bodyPr>
          <a:lstStyle/>
          <a:p>
            <a:r>
              <a:rPr lang="en-US" sz="3600" b="1" u="sng" dirty="0">
                <a:solidFill>
                  <a:schemeClr val="bg1"/>
                </a:solidFill>
                <a:latin typeface="Algerian" panose="04020705040A02060702" pitchFamily="82" charset="0"/>
              </a:rPr>
              <a:t>Lasso Regression with K-Fold Cross Validation</a:t>
            </a:r>
          </a:p>
        </p:txBody>
      </p:sp>
      <p:graphicFrame>
        <p:nvGraphicFramePr>
          <p:cNvPr id="4" name="Table 3">
            <a:extLst>
              <a:ext uri="{FF2B5EF4-FFF2-40B4-BE49-F238E27FC236}">
                <a16:creationId xmlns:a16="http://schemas.microsoft.com/office/drawing/2014/main" id="{387F7754-E648-5F5B-CC45-63B9D2CA6703}"/>
              </a:ext>
            </a:extLst>
          </p:cNvPr>
          <p:cNvGraphicFramePr>
            <a:graphicFrameLocks noGrp="1"/>
          </p:cNvGraphicFramePr>
          <p:nvPr>
            <p:extLst>
              <p:ext uri="{D42A27DB-BD31-4B8C-83A1-F6EECF244321}">
                <p14:modId xmlns:p14="http://schemas.microsoft.com/office/powerpoint/2010/main" val="3686521838"/>
              </p:ext>
            </p:extLst>
          </p:nvPr>
        </p:nvGraphicFramePr>
        <p:xfrm>
          <a:off x="950471" y="2030147"/>
          <a:ext cx="12368461" cy="5589310"/>
        </p:xfrm>
        <a:graphic>
          <a:graphicData uri="http://schemas.openxmlformats.org/drawingml/2006/table">
            <a:tbl>
              <a:tblPr firstRow="1" bandRow="1">
                <a:tableStyleId>{616DA210-FB5B-4158-B5E0-FEB733F419BA}</a:tableStyleId>
              </a:tblPr>
              <a:tblGrid>
                <a:gridCol w="1766923">
                  <a:extLst>
                    <a:ext uri="{9D8B030D-6E8A-4147-A177-3AD203B41FA5}">
                      <a16:colId xmlns:a16="http://schemas.microsoft.com/office/drawing/2014/main" val="704275221"/>
                    </a:ext>
                  </a:extLst>
                </a:gridCol>
                <a:gridCol w="1766923">
                  <a:extLst>
                    <a:ext uri="{9D8B030D-6E8A-4147-A177-3AD203B41FA5}">
                      <a16:colId xmlns:a16="http://schemas.microsoft.com/office/drawing/2014/main" val="3730100254"/>
                    </a:ext>
                  </a:extLst>
                </a:gridCol>
                <a:gridCol w="1766923">
                  <a:extLst>
                    <a:ext uri="{9D8B030D-6E8A-4147-A177-3AD203B41FA5}">
                      <a16:colId xmlns:a16="http://schemas.microsoft.com/office/drawing/2014/main" val="3525672176"/>
                    </a:ext>
                  </a:extLst>
                </a:gridCol>
                <a:gridCol w="1766923">
                  <a:extLst>
                    <a:ext uri="{9D8B030D-6E8A-4147-A177-3AD203B41FA5}">
                      <a16:colId xmlns:a16="http://schemas.microsoft.com/office/drawing/2014/main" val="1470908597"/>
                    </a:ext>
                  </a:extLst>
                </a:gridCol>
                <a:gridCol w="1766923">
                  <a:extLst>
                    <a:ext uri="{9D8B030D-6E8A-4147-A177-3AD203B41FA5}">
                      <a16:colId xmlns:a16="http://schemas.microsoft.com/office/drawing/2014/main" val="3820703061"/>
                    </a:ext>
                  </a:extLst>
                </a:gridCol>
                <a:gridCol w="1766923">
                  <a:extLst>
                    <a:ext uri="{9D8B030D-6E8A-4147-A177-3AD203B41FA5}">
                      <a16:colId xmlns:a16="http://schemas.microsoft.com/office/drawing/2014/main" val="3340434450"/>
                    </a:ext>
                  </a:extLst>
                </a:gridCol>
                <a:gridCol w="1766923">
                  <a:extLst>
                    <a:ext uri="{9D8B030D-6E8A-4147-A177-3AD203B41FA5}">
                      <a16:colId xmlns:a16="http://schemas.microsoft.com/office/drawing/2014/main" val="2306457608"/>
                    </a:ext>
                  </a:extLst>
                </a:gridCol>
              </a:tblGrid>
              <a:tr h="822685">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Alpha</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CV R²</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CV Std</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Train R²</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Train </a:t>
                      </a:r>
                      <a:r>
                        <a:rPr lang="en-IN" sz="2400" b="1" dirty="0" err="1">
                          <a:solidFill>
                            <a:schemeClr val="tx2">
                              <a:lumMod val="20000"/>
                              <a:lumOff val="80000"/>
                            </a:schemeClr>
                          </a:solidFill>
                          <a:latin typeface="Times New Roman" panose="02020603050405020304" pitchFamily="18" charset="0"/>
                          <a:cs typeface="Times New Roman" panose="02020603050405020304" pitchFamily="18" charset="0"/>
                        </a:rPr>
                        <a:t>Adj</a:t>
                      </a: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 R²</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Test R²</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Test </a:t>
                      </a:r>
                      <a:r>
                        <a:rPr lang="en-IN" sz="2400" b="1" dirty="0" err="1">
                          <a:solidFill>
                            <a:schemeClr val="tx2">
                              <a:lumMod val="20000"/>
                              <a:lumOff val="80000"/>
                            </a:schemeClr>
                          </a:solidFill>
                          <a:latin typeface="Times New Roman" panose="02020603050405020304" pitchFamily="18" charset="0"/>
                          <a:cs typeface="Times New Roman" panose="02020603050405020304" pitchFamily="18" charset="0"/>
                        </a:rPr>
                        <a:t>Adj</a:t>
                      </a: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 R²</a:t>
                      </a:r>
                    </a:p>
                  </a:txBody>
                  <a:tcPr anchor="ctr"/>
                </a:tc>
                <a:extLst>
                  <a:ext uri="{0D108BD9-81ED-4DB2-BD59-A6C34878D82A}">
                    <a16:rowId xmlns:a16="http://schemas.microsoft.com/office/drawing/2014/main" val="2639281089"/>
                  </a:ext>
                </a:extLst>
              </a:tr>
              <a:tr h="476635">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0.0001</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0.9369</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0.0034</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0.9374</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0.9372</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0.9361</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0.9356</a:t>
                      </a:r>
                    </a:p>
                  </a:txBody>
                  <a:tcPr anchor="ctr"/>
                </a:tc>
                <a:extLst>
                  <a:ext uri="{0D108BD9-81ED-4DB2-BD59-A6C34878D82A}">
                    <a16:rowId xmlns:a16="http://schemas.microsoft.com/office/drawing/2014/main" val="987784346"/>
                  </a:ext>
                </a:extLst>
              </a:tr>
              <a:tr h="476635">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0.001</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0.9369</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0.0033</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0.9374</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0.9372</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0.9361</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0.9356</a:t>
                      </a:r>
                    </a:p>
                  </a:txBody>
                  <a:tcPr anchor="ctr"/>
                </a:tc>
                <a:extLst>
                  <a:ext uri="{0D108BD9-81ED-4DB2-BD59-A6C34878D82A}">
                    <a16:rowId xmlns:a16="http://schemas.microsoft.com/office/drawing/2014/main" val="1094857230"/>
                  </a:ext>
                </a:extLst>
              </a:tr>
              <a:tr h="476635">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0.01</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0.9365</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0.0034</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0.9368</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0.9366</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0.9358</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0.9353</a:t>
                      </a:r>
                    </a:p>
                  </a:txBody>
                  <a:tcPr anchor="ctr"/>
                </a:tc>
                <a:extLst>
                  <a:ext uri="{0D108BD9-81ED-4DB2-BD59-A6C34878D82A}">
                    <a16:rowId xmlns:a16="http://schemas.microsoft.com/office/drawing/2014/main" val="1674911707"/>
                  </a:ext>
                </a:extLst>
              </a:tr>
              <a:tr h="476635">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0.1</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0.9163</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0.0047</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0.9165</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0.9162</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0.9167</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0.9161</a:t>
                      </a:r>
                    </a:p>
                  </a:txBody>
                  <a:tcPr anchor="ctr"/>
                </a:tc>
                <a:extLst>
                  <a:ext uri="{0D108BD9-81ED-4DB2-BD59-A6C34878D82A}">
                    <a16:rowId xmlns:a16="http://schemas.microsoft.com/office/drawing/2014/main" val="2439474127"/>
                  </a:ext>
                </a:extLst>
              </a:tr>
              <a:tr h="476635">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0.2</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0.8971</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0.0048</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0.8974</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0.8970</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0.8979</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0.8971</a:t>
                      </a:r>
                    </a:p>
                  </a:txBody>
                  <a:tcPr anchor="ctr"/>
                </a:tc>
                <a:extLst>
                  <a:ext uri="{0D108BD9-81ED-4DB2-BD59-A6C34878D82A}">
                    <a16:rowId xmlns:a16="http://schemas.microsoft.com/office/drawing/2014/main" val="1314062546"/>
                  </a:ext>
                </a:extLst>
              </a:tr>
              <a:tr h="476635">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0.3</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0.8750</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0.0049</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0.8753</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0.8749</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0.8756</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0.8746</a:t>
                      </a:r>
                    </a:p>
                  </a:txBody>
                  <a:tcPr anchor="ctr"/>
                </a:tc>
                <a:extLst>
                  <a:ext uri="{0D108BD9-81ED-4DB2-BD59-A6C34878D82A}">
                    <a16:rowId xmlns:a16="http://schemas.microsoft.com/office/drawing/2014/main" val="76268387"/>
                  </a:ext>
                </a:extLst>
              </a:tr>
              <a:tr h="476635">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0.5</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0.8254</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0.0052</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0.8256</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0.8251</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0.8252</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0.8239</a:t>
                      </a:r>
                    </a:p>
                  </a:txBody>
                  <a:tcPr anchor="ctr"/>
                </a:tc>
                <a:extLst>
                  <a:ext uri="{0D108BD9-81ED-4DB2-BD59-A6C34878D82A}">
                    <a16:rowId xmlns:a16="http://schemas.microsoft.com/office/drawing/2014/main" val="3850711197"/>
                  </a:ext>
                </a:extLst>
              </a:tr>
              <a:tr h="476635">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1.0</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0.6490</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0.0055</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0.6494</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0.6482</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0.6476</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0.6449</a:t>
                      </a:r>
                    </a:p>
                  </a:txBody>
                  <a:tcPr anchor="ctr"/>
                </a:tc>
                <a:extLst>
                  <a:ext uri="{0D108BD9-81ED-4DB2-BD59-A6C34878D82A}">
                    <a16:rowId xmlns:a16="http://schemas.microsoft.com/office/drawing/2014/main" val="3880587222"/>
                  </a:ext>
                </a:extLst>
              </a:tr>
              <a:tr h="476635">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5.0</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-0.0010</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0.0011</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0.0000</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-0.0032</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-0.0004</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-0.0080</a:t>
                      </a:r>
                    </a:p>
                  </a:txBody>
                  <a:tcPr anchor="ctr"/>
                </a:tc>
                <a:extLst>
                  <a:ext uri="{0D108BD9-81ED-4DB2-BD59-A6C34878D82A}">
                    <a16:rowId xmlns:a16="http://schemas.microsoft.com/office/drawing/2014/main" val="1151913700"/>
                  </a:ext>
                </a:extLst>
              </a:tr>
              <a:tr h="476635">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10.0</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-0.0010</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0.0011</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0.0000</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-0.0032</a:t>
                      </a:r>
                    </a:p>
                  </a:txBody>
                  <a:tcPr anchor="ctr"/>
                </a:tc>
                <a:tc>
                  <a:txBody>
                    <a:bodyPr/>
                    <a:lstStyle/>
                    <a:p>
                      <a:pPr algn="ctr">
                        <a:buNone/>
                      </a:pPr>
                      <a:r>
                        <a:rPr lang="en-IN" sz="2400" b="1">
                          <a:solidFill>
                            <a:schemeClr val="tx2">
                              <a:lumMod val="20000"/>
                              <a:lumOff val="80000"/>
                            </a:schemeClr>
                          </a:solidFill>
                          <a:latin typeface="Times New Roman" panose="02020603050405020304" pitchFamily="18" charset="0"/>
                          <a:cs typeface="Times New Roman" panose="02020603050405020304" pitchFamily="18" charset="0"/>
                        </a:rPr>
                        <a:t>-0.0004</a:t>
                      </a:r>
                    </a:p>
                  </a:txBody>
                  <a:tcPr anchor="ctr"/>
                </a:tc>
                <a:tc>
                  <a:txBody>
                    <a:bodyPr/>
                    <a:lstStyle/>
                    <a:p>
                      <a:pPr algn="ctr">
                        <a:buNone/>
                      </a:pPr>
                      <a:r>
                        <a:rPr lang="en-IN" sz="2400" b="1" dirty="0">
                          <a:solidFill>
                            <a:schemeClr val="tx2">
                              <a:lumMod val="20000"/>
                              <a:lumOff val="80000"/>
                            </a:schemeClr>
                          </a:solidFill>
                          <a:latin typeface="Times New Roman" panose="02020603050405020304" pitchFamily="18" charset="0"/>
                          <a:cs typeface="Times New Roman" panose="02020603050405020304" pitchFamily="18" charset="0"/>
                        </a:rPr>
                        <a:t>-0.0080</a:t>
                      </a:r>
                    </a:p>
                  </a:txBody>
                  <a:tcPr anchor="ctr"/>
                </a:tc>
                <a:extLst>
                  <a:ext uri="{0D108BD9-81ED-4DB2-BD59-A6C34878D82A}">
                    <a16:rowId xmlns:a16="http://schemas.microsoft.com/office/drawing/2014/main" val="654465962"/>
                  </a:ext>
                </a:extLst>
              </a:tr>
            </a:tbl>
          </a:graphicData>
        </a:graphic>
      </p:graphicFrame>
    </p:spTree>
    <p:extLst>
      <p:ext uri="{BB962C8B-B14F-4D97-AF65-F5344CB8AC3E}">
        <p14:creationId xmlns:p14="http://schemas.microsoft.com/office/powerpoint/2010/main" val="24097962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1">
            <a:extLst>
              <a:ext uri="{FF2B5EF4-FFF2-40B4-BE49-F238E27FC236}">
                <a16:creationId xmlns:a16="http://schemas.microsoft.com/office/drawing/2014/main" id="{EF8D78D6-FBD3-EB80-4C60-6C4D64B5A044}"/>
              </a:ext>
            </a:extLst>
          </p:cNvPr>
          <p:cNvSpPr/>
          <p:nvPr/>
        </p:nvSpPr>
        <p:spPr>
          <a:xfrm>
            <a:off x="818147" y="1070811"/>
            <a:ext cx="12994106" cy="6352674"/>
          </a:xfrm>
          <a:prstGeom prst="roundRect">
            <a:avLst>
              <a:gd name="adj" fmla="val 2117"/>
            </a:avLst>
          </a:prstGeom>
          <a:solidFill>
            <a:srgbClr val="5F5153"/>
          </a:solidFill>
          <a:ln/>
        </p:spPr>
        <p:txBody>
          <a:bodyPr/>
          <a:lstStyle/>
          <a:p>
            <a:pPr marL="457200" lvl="0" indent="-457200" eaLnBrk="0" fontAlgn="base" hangingPunct="0">
              <a:spcBef>
                <a:spcPct val="0"/>
              </a:spcBef>
              <a:spcAft>
                <a:spcPct val="0"/>
              </a:spcAft>
              <a:buAutoNum type="arabicPeriod"/>
            </a:pPr>
            <a:r>
              <a:rPr lang="en-US" sz="2000" b="1" dirty="0">
                <a:solidFill>
                  <a:schemeClr val="bg2">
                    <a:lumMod val="90000"/>
                  </a:schemeClr>
                </a:solidFill>
                <a:latin typeface="Times New Roman" panose="02020603050405020304" pitchFamily="18" charset="0"/>
                <a:cs typeface="Times New Roman" panose="02020603050405020304" pitchFamily="18" charset="0"/>
              </a:rPr>
              <a:t>Progesterone (</a:t>
            </a:r>
            <a:r>
              <a:rPr lang="en-US" sz="2000" b="1" dirty="0" err="1">
                <a:solidFill>
                  <a:schemeClr val="bg2">
                    <a:lumMod val="90000"/>
                  </a:schemeClr>
                </a:solidFill>
                <a:latin typeface="Times New Roman" panose="02020603050405020304" pitchFamily="18" charset="0"/>
                <a:cs typeface="Times New Roman" panose="02020603050405020304" pitchFamily="18" charset="0"/>
              </a:rPr>
              <a:t>progesterone_ngml</a:t>
            </a:r>
            <a:r>
              <a:rPr lang="en-US" sz="2000" b="1" dirty="0">
                <a:solidFill>
                  <a:schemeClr val="bg2">
                    <a:lumMod val="90000"/>
                  </a:schemeClr>
                </a:solidFill>
                <a:latin typeface="Times New Roman" panose="02020603050405020304" pitchFamily="18" charset="0"/>
                <a:cs typeface="Times New Roman" panose="02020603050405020304" pitchFamily="18" charset="0"/>
              </a:rPr>
              <a:t>) → Removed</a:t>
            </a:r>
            <a:br>
              <a:rPr lang="en-US" sz="2000" dirty="0">
                <a:solidFill>
                  <a:schemeClr val="bg2">
                    <a:lumMod val="90000"/>
                  </a:schemeClr>
                </a:solidFill>
                <a:latin typeface="Times New Roman" panose="02020603050405020304" pitchFamily="18" charset="0"/>
                <a:cs typeface="Times New Roman" panose="02020603050405020304" pitchFamily="18" charset="0"/>
              </a:rPr>
            </a:br>
            <a:r>
              <a:rPr lang="en-US" sz="2000" dirty="0">
                <a:solidFill>
                  <a:schemeClr val="bg2">
                    <a:lumMod val="90000"/>
                  </a:schemeClr>
                </a:solidFill>
                <a:latin typeface="Times New Roman" panose="02020603050405020304" pitchFamily="18" charset="0"/>
                <a:cs typeface="Times New Roman" panose="02020603050405020304" pitchFamily="18" charset="0"/>
              </a:rPr>
              <a:t>Progesterone was excluded because its effect overlaps with </a:t>
            </a:r>
            <a:r>
              <a:rPr lang="en-US" sz="2000" b="1" dirty="0">
                <a:solidFill>
                  <a:schemeClr val="bg2">
                    <a:lumMod val="90000"/>
                  </a:schemeClr>
                </a:solidFill>
                <a:latin typeface="Times New Roman" panose="02020603050405020304" pitchFamily="18" charset="0"/>
                <a:cs typeface="Times New Roman" panose="02020603050405020304" pitchFamily="18" charset="0"/>
              </a:rPr>
              <a:t>estrogen (</a:t>
            </a:r>
            <a:r>
              <a:rPr lang="en-US" sz="2000" b="1" dirty="0" err="1">
                <a:solidFill>
                  <a:schemeClr val="bg2">
                    <a:lumMod val="90000"/>
                  </a:schemeClr>
                </a:solidFill>
                <a:latin typeface="Times New Roman" panose="02020603050405020304" pitchFamily="18" charset="0"/>
                <a:cs typeface="Times New Roman" panose="02020603050405020304" pitchFamily="18" charset="0"/>
              </a:rPr>
              <a:t>estrogen_pgml</a:t>
            </a:r>
            <a:r>
              <a:rPr lang="en-US" sz="2000" b="1" dirty="0">
                <a:solidFill>
                  <a:schemeClr val="bg2">
                    <a:lumMod val="90000"/>
                  </a:schemeClr>
                </a:solidFill>
                <a:latin typeface="Times New Roman" panose="02020603050405020304" pitchFamily="18" charset="0"/>
                <a:cs typeface="Times New Roman" panose="02020603050405020304" pitchFamily="18" charset="0"/>
              </a:rPr>
              <a:t>)</a:t>
            </a:r>
            <a:r>
              <a:rPr lang="en-US" sz="2000" dirty="0">
                <a:solidFill>
                  <a:schemeClr val="bg2">
                    <a:lumMod val="90000"/>
                  </a:schemeClr>
                </a:solidFill>
                <a:latin typeface="Times New Roman" panose="02020603050405020304" pitchFamily="18" charset="0"/>
                <a:cs typeface="Times New Roman" panose="02020603050405020304" pitchFamily="18" charset="0"/>
              </a:rPr>
              <a:t>, a biologically related hormone that was retained in the model. Since estrogen already has a measurable influence (coefficient = −0.001788), Lasso selected it as the stronger representative and removed progesterone due to redundancy.</a:t>
            </a:r>
          </a:p>
          <a:p>
            <a:pPr marL="457200" lvl="0" indent="-457200" eaLnBrk="0" fontAlgn="base" hangingPunct="0">
              <a:spcBef>
                <a:spcPct val="0"/>
              </a:spcBef>
              <a:spcAft>
                <a:spcPct val="0"/>
              </a:spcAft>
              <a:buAutoNum type="arabicPeriod"/>
            </a:pPr>
            <a:endParaRPr lang="en-US" sz="2000" dirty="0">
              <a:solidFill>
                <a:schemeClr val="bg2">
                  <a:lumMod val="90000"/>
                </a:schemeClr>
              </a:solidFill>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AutoNum type="arabicPeriod"/>
            </a:pPr>
            <a:r>
              <a:rPr lang="en-US" sz="2000" b="1" dirty="0">
                <a:solidFill>
                  <a:schemeClr val="bg2">
                    <a:lumMod val="90000"/>
                  </a:schemeClr>
                </a:solidFill>
                <a:latin typeface="Times New Roman" panose="02020603050405020304" pitchFamily="18" charset="0"/>
                <a:cs typeface="Times New Roman" panose="02020603050405020304" pitchFamily="18" charset="0"/>
              </a:rPr>
              <a:t>Log Consistency Score (</a:t>
            </a:r>
            <a:r>
              <a:rPr lang="en-US" sz="2000" b="1" dirty="0" err="1">
                <a:solidFill>
                  <a:schemeClr val="bg2">
                    <a:lumMod val="90000"/>
                  </a:schemeClr>
                </a:solidFill>
                <a:latin typeface="Times New Roman" panose="02020603050405020304" pitchFamily="18" charset="0"/>
                <a:cs typeface="Times New Roman" panose="02020603050405020304" pitchFamily="18" charset="0"/>
              </a:rPr>
              <a:t>log_consistency_score</a:t>
            </a:r>
            <a:r>
              <a:rPr lang="en-US" sz="2000" b="1" dirty="0">
                <a:solidFill>
                  <a:schemeClr val="bg2">
                    <a:lumMod val="90000"/>
                  </a:schemeClr>
                </a:solidFill>
                <a:latin typeface="Times New Roman" panose="02020603050405020304" pitchFamily="18" charset="0"/>
                <a:cs typeface="Times New Roman" panose="02020603050405020304" pitchFamily="18" charset="0"/>
              </a:rPr>
              <a:t>) → Removed</a:t>
            </a:r>
            <a:br>
              <a:rPr lang="en-US" sz="2000" dirty="0">
                <a:solidFill>
                  <a:schemeClr val="bg2">
                    <a:lumMod val="90000"/>
                  </a:schemeClr>
                </a:solidFill>
                <a:latin typeface="Times New Roman" panose="02020603050405020304" pitchFamily="18" charset="0"/>
                <a:cs typeface="Times New Roman" panose="02020603050405020304" pitchFamily="18" charset="0"/>
              </a:rPr>
            </a:br>
            <a:r>
              <a:rPr lang="en-US" sz="2000" dirty="0">
                <a:solidFill>
                  <a:schemeClr val="bg2">
                    <a:lumMod val="90000"/>
                  </a:schemeClr>
                </a:solidFill>
                <a:latin typeface="Times New Roman" panose="02020603050405020304" pitchFamily="18" charset="0"/>
                <a:cs typeface="Times New Roman" panose="02020603050405020304" pitchFamily="18" charset="0"/>
              </a:rPr>
              <a:t>The information captured by this variable is largely reflected in </a:t>
            </a:r>
            <a:r>
              <a:rPr lang="en-US" sz="2000" b="1" dirty="0" err="1">
                <a:solidFill>
                  <a:schemeClr val="bg2">
                    <a:lumMod val="90000"/>
                  </a:schemeClr>
                </a:solidFill>
                <a:latin typeface="Times New Roman" panose="02020603050405020304" pitchFamily="18" charset="0"/>
                <a:cs typeface="Times New Roman" panose="02020603050405020304" pitchFamily="18" charset="0"/>
              </a:rPr>
              <a:t>overall_health_score</a:t>
            </a:r>
            <a:r>
              <a:rPr lang="en-US" sz="2000" dirty="0">
                <a:solidFill>
                  <a:schemeClr val="bg2">
                    <a:lumMod val="90000"/>
                  </a:schemeClr>
                </a:solidFill>
                <a:latin typeface="Times New Roman" panose="02020603050405020304" pitchFamily="18" charset="0"/>
                <a:cs typeface="Times New Roman" panose="02020603050405020304" pitchFamily="18" charset="0"/>
              </a:rPr>
              <a:t> (coefficient = −1.698467), which shows a much stronger effect. Additionally, factors like </a:t>
            </a:r>
            <a:r>
              <a:rPr lang="en-US" sz="2000" b="1" dirty="0" err="1">
                <a:solidFill>
                  <a:schemeClr val="bg2">
                    <a:lumMod val="90000"/>
                  </a:schemeClr>
                </a:solidFill>
                <a:latin typeface="Times New Roman" panose="02020603050405020304" pitchFamily="18" charset="0"/>
                <a:cs typeface="Times New Roman" panose="02020603050405020304" pitchFamily="18" charset="0"/>
              </a:rPr>
              <a:t>prepared_before_period</a:t>
            </a:r>
            <a:r>
              <a:rPr lang="en-US" sz="2000" dirty="0">
                <a:solidFill>
                  <a:schemeClr val="bg2">
                    <a:lumMod val="90000"/>
                  </a:schemeClr>
                </a:solidFill>
                <a:latin typeface="Times New Roman" panose="02020603050405020304" pitchFamily="18" charset="0"/>
                <a:cs typeface="Times New Roman" panose="02020603050405020304" pitchFamily="18" charset="0"/>
              </a:rPr>
              <a:t> may already incorporate aspects of consistency. Lasso prioritizes the most influential predictor, leading to the removal of log consistency score. </a:t>
            </a:r>
          </a:p>
          <a:p>
            <a:pPr marL="457200" lvl="0" indent="-457200" eaLnBrk="0" fontAlgn="base" hangingPunct="0">
              <a:spcBef>
                <a:spcPct val="0"/>
              </a:spcBef>
              <a:spcAft>
                <a:spcPct val="0"/>
              </a:spcAft>
              <a:buAutoNum type="arabicPeriod"/>
            </a:pPr>
            <a:endParaRPr lang="en-US" sz="2000" dirty="0">
              <a:solidFill>
                <a:schemeClr val="bg2">
                  <a:lumMod val="90000"/>
                </a:schemeClr>
              </a:solidFill>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AutoNum type="arabicPeriod"/>
            </a:pPr>
            <a:r>
              <a:rPr lang="en-US" sz="2000" dirty="0">
                <a:solidFill>
                  <a:schemeClr val="bg2">
                    <a:lumMod val="90000"/>
                  </a:schemeClr>
                </a:solidFill>
                <a:latin typeface="Times New Roman" panose="02020603050405020304" pitchFamily="18" charset="0"/>
                <a:cs typeface="Times New Roman" panose="02020603050405020304" pitchFamily="18" charset="0"/>
              </a:rPr>
              <a:t>Water Intake (</a:t>
            </a:r>
            <a:r>
              <a:rPr lang="en-US" sz="2000" dirty="0" err="1">
                <a:solidFill>
                  <a:schemeClr val="bg2">
                    <a:lumMod val="90000"/>
                  </a:schemeClr>
                </a:solidFill>
                <a:latin typeface="Times New Roman" panose="02020603050405020304" pitchFamily="18" charset="0"/>
                <a:cs typeface="Times New Roman" panose="02020603050405020304" pitchFamily="18" charset="0"/>
              </a:rPr>
              <a:t>water_intake_liters</a:t>
            </a:r>
            <a:r>
              <a:rPr lang="en-US" sz="2000" dirty="0">
                <a:solidFill>
                  <a:schemeClr val="bg2">
                    <a:lumMod val="90000"/>
                  </a:schemeClr>
                </a:solidFill>
                <a:latin typeface="Times New Roman" panose="02020603050405020304" pitchFamily="18" charset="0"/>
                <a:cs typeface="Times New Roman" panose="02020603050405020304" pitchFamily="18" charset="0"/>
              </a:rPr>
              <a:t>) → Removed</a:t>
            </a:r>
            <a:br>
              <a:rPr lang="en-US" sz="2000" dirty="0">
                <a:solidFill>
                  <a:schemeClr val="bg2">
                    <a:lumMod val="90000"/>
                  </a:schemeClr>
                </a:solidFill>
                <a:latin typeface="Times New Roman" panose="02020603050405020304" pitchFamily="18" charset="0"/>
                <a:cs typeface="Times New Roman" panose="02020603050405020304" pitchFamily="18" charset="0"/>
              </a:rPr>
            </a:br>
            <a:r>
              <a:rPr lang="en-US" sz="2000" dirty="0">
                <a:solidFill>
                  <a:schemeClr val="bg2">
                    <a:lumMod val="90000"/>
                  </a:schemeClr>
                </a:solidFill>
                <a:latin typeface="Times New Roman" panose="02020603050405020304" pitchFamily="18" charset="0"/>
                <a:cs typeface="Times New Roman" panose="02020603050405020304" pitchFamily="18" charset="0"/>
              </a:rPr>
              <a:t>Water intake acts as a general lifestyle indicator, but its effect overlaps with broader variables such as </a:t>
            </a:r>
            <a:r>
              <a:rPr lang="en-US" sz="2000" dirty="0" err="1">
                <a:solidFill>
                  <a:schemeClr val="bg2">
                    <a:lumMod val="90000"/>
                  </a:schemeClr>
                </a:solidFill>
                <a:latin typeface="Times New Roman" panose="02020603050405020304" pitchFamily="18" charset="0"/>
                <a:cs typeface="Times New Roman" panose="02020603050405020304" pitchFamily="18" charset="0"/>
              </a:rPr>
              <a:t>diet_quality</a:t>
            </a:r>
            <a:r>
              <a:rPr lang="en-US" sz="2000" dirty="0">
                <a:solidFill>
                  <a:schemeClr val="bg2">
                    <a:lumMod val="90000"/>
                  </a:schemeClr>
                </a:solidFill>
                <a:latin typeface="Times New Roman" panose="02020603050405020304" pitchFamily="18" charset="0"/>
                <a:cs typeface="Times New Roman" panose="02020603050405020304" pitchFamily="18" charset="0"/>
              </a:rPr>
              <a:t>, </a:t>
            </a:r>
            <a:r>
              <a:rPr lang="en-US" sz="2000" dirty="0" err="1">
                <a:solidFill>
                  <a:schemeClr val="bg2">
                    <a:lumMod val="90000"/>
                  </a:schemeClr>
                </a:solidFill>
                <a:latin typeface="Times New Roman" panose="02020603050405020304" pitchFamily="18" charset="0"/>
                <a:cs typeface="Times New Roman" panose="02020603050405020304" pitchFamily="18" charset="0"/>
              </a:rPr>
              <a:t>sleep_hours</a:t>
            </a:r>
            <a:r>
              <a:rPr lang="en-US" sz="2000" dirty="0">
                <a:solidFill>
                  <a:schemeClr val="bg2">
                    <a:lumMod val="90000"/>
                  </a:schemeClr>
                </a:solidFill>
                <a:latin typeface="Times New Roman" panose="02020603050405020304" pitchFamily="18" charset="0"/>
                <a:cs typeface="Times New Roman" panose="02020603050405020304" pitchFamily="18" charset="0"/>
              </a:rPr>
              <a:t>, and </a:t>
            </a:r>
            <a:r>
              <a:rPr lang="en-US" sz="2000" dirty="0" err="1">
                <a:solidFill>
                  <a:schemeClr val="bg2">
                    <a:lumMod val="90000"/>
                  </a:schemeClr>
                </a:solidFill>
                <a:latin typeface="Times New Roman" panose="02020603050405020304" pitchFamily="18" charset="0"/>
                <a:cs typeface="Times New Roman" panose="02020603050405020304" pitchFamily="18" charset="0"/>
              </a:rPr>
              <a:t>overall_health_score</a:t>
            </a:r>
            <a:r>
              <a:rPr lang="en-US" sz="2000" dirty="0">
                <a:solidFill>
                  <a:schemeClr val="bg2">
                    <a:lumMod val="90000"/>
                  </a:schemeClr>
                </a:solidFill>
                <a:latin typeface="Times New Roman" panose="02020603050405020304" pitchFamily="18" charset="0"/>
                <a:cs typeface="Times New Roman" panose="02020603050405020304" pitchFamily="18" charset="0"/>
              </a:rPr>
              <a:t>. Since these variables collectively capture lifestyle more comprehensively, Lasso determined that water intake does not provide additional unique information.</a:t>
            </a:r>
            <a:r>
              <a:rPr lang="en-US" sz="2000" b="1" dirty="0">
                <a:latin typeface="Times New Roman" panose="02020603050405020304" pitchFamily="18" charset="0"/>
                <a:cs typeface="Times New Roman" panose="02020603050405020304" pitchFamily="18" charset="0"/>
              </a:rPr>
              <a:t> </a:t>
            </a:r>
          </a:p>
          <a:p>
            <a:pPr marL="457200" lvl="0" indent="-457200" eaLnBrk="0" fontAlgn="base" hangingPunct="0">
              <a:spcBef>
                <a:spcPct val="0"/>
              </a:spcBef>
              <a:spcAft>
                <a:spcPct val="0"/>
              </a:spcAft>
              <a:buAutoNum type="arabicPeriod"/>
            </a:pPr>
            <a:endParaRPr lang="en-US" sz="2000" b="1" dirty="0">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AutoNum type="arabicPeriod"/>
            </a:pPr>
            <a:r>
              <a:rPr lang="en-US" sz="2000" dirty="0">
                <a:solidFill>
                  <a:schemeClr val="bg2">
                    <a:lumMod val="90000"/>
                  </a:schemeClr>
                </a:solidFill>
                <a:latin typeface="Times New Roman" panose="02020603050405020304" pitchFamily="18" charset="0"/>
                <a:cs typeface="Times New Roman" panose="02020603050405020304" pitchFamily="18" charset="0"/>
              </a:rPr>
              <a:t>Alcohol Consumption (</a:t>
            </a:r>
            <a:r>
              <a:rPr lang="en-US" sz="2000" dirty="0" err="1">
                <a:solidFill>
                  <a:schemeClr val="bg2">
                    <a:lumMod val="90000"/>
                  </a:schemeClr>
                </a:solidFill>
                <a:latin typeface="Times New Roman" panose="02020603050405020304" pitchFamily="18" charset="0"/>
                <a:cs typeface="Times New Roman" panose="02020603050405020304" pitchFamily="18" charset="0"/>
              </a:rPr>
              <a:t>alcohol_consumption</a:t>
            </a:r>
            <a:r>
              <a:rPr lang="en-US" sz="2000" dirty="0">
                <a:solidFill>
                  <a:schemeClr val="bg2">
                    <a:lumMod val="90000"/>
                  </a:schemeClr>
                </a:solidFill>
                <a:latin typeface="Times New Roman" panose="02020603050405020304" pitchFamily="18" charset="0"/>
                <a:cs typeface="Times New Roman" panose="02020603050405020304" pitchFamily="18" charset="0"/>
              </a:rPr>
              <a:t>) → Removed</a:t>
            </a:r>
            <a:br>
              <a:rPr lang="en-US" sz="2000" dirty="0">
                <a:solidFill>
                  <a:schemeClr val="bg2">
                    <a:lumMod val="90000"/>
                  </a:schemeClr>
                </a:solidFill>
                <a:latin typeface="Times New Roman" panose="02020603050405020304" pitchFamily="18" charset="0"/>
                <a:cs typeface="Times New Roman" panose="02020603050405020304" pitchFamily="18" charset="0"/>
              </a:rPr>
            </a:br>
            <a:r>
              <a:rPr lang="en-US" sz="2000" dirty="0">
                <a:solidFill>
                  <a:schemeClr val="bg2">
                    <a:lumMod val="90000"/>
                  </a:schemeClr>
                </a:solidFill>
                <a:latin typeface="Times New Roman" panose="02020603050405020304" pitchFamily="18" charset="0"/>
                <a:cs typeface="Times New Roman" panose="02020603050405020304" pitchFamily="18" charset="0"/>
              </a:rPr>
              <a:t>Alcohol consumption is often correlated with other lifestyle factors such as </a:t>
            </a:r>
            <a:r>
              <a:rPr lang="en-US" sz="2000" dirty="0" err="1">
                <a:solidFill>
                  <a:schemeClr val="bg2">
                    <a:lumMod val="90000"/>
                  </a:schemeClr>
                </a:solidFill>
                <a:latin typeface="Times New Roman" panose="02020603050405020304" pitchFamily="18" charset="0"/>
                <a:cs typeface="Times New Roman" panose="02020603050405020304" pitchFamily="18" charset="0"/>
              </a:rPr>
              <a:t>smoking_status</a:t>
            </a:r>
            <a:r>
              <a:rPr lang="en-US" sz="2000" dirty="0">
                <a:solidFill>
                  <a:schemeClr val="bg2">
                    <a:lumMod val="90000"/>
                  </a:schemeClr>
                </a:solidFill>
                <a:latin typeface="Times New Roman" panose="02020603050405020304" pitchFamily="18" charset="0"/>
                <a:cs typeface="Times New Roman" panose="02020603050405020304" pitchFamily="18" charset="0"/>
              </a:rPr>
              <a:t>, diet, sleep, and stress levels. Instead of retaining multiple correlated variables, Lasso captures the combined lifestyle effect through stronger predictors and removes alcohol consumption due to its limited independent contribution.</a:t>
            </a:r>
          </a:p>
          <a:p>
            <a:pPr marL="457200" lvl="0" indent="-457200" eaLnBrk="0" fontAlgn="base" hangingPunct="0">
              <a:spcBef>
                <a:spcPct val="0"/>
              </a:spcBef>
              <a:spcAft>
                <a:spcPct val="0"/>
              </a:spcAft>
              <a:buAutoNum type="arabicPeriod"/>
            </a:pPr>
            <a:endParaRPr lang="en-US" sz="2000" dirty="0">
              <a:solidFill>
                <a:schemeClr val="bg2">
                  <a:lumMod val="90000"/>
                </a:schemeClr>
              </a:solidFill>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AutoNum type="arabicPeriod"/>
            </a:pPr>
            <a:endParaRPr lang="en-US" sz="2000" dirty="0">
              <a:solidFill>
                <a:schemeClr val="bg2">
                  <a:lumMod val="90000"/>
                </a:schemeClr>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6C8F08D-381B-CB7E-4735-E0D2A54AA424}"/>
              </a:ext>
            </a:extLst>
          </p:cNvPr>
          <p:cNvSpPr txBox="1"/>
          <p:nvPr/>
        </p:nvSpPr>
        <p:spPr>
          <a:xfrm>
            <a:off x="4908885" y="194193"/>
            <a:ext cx="7315200" cy="646331"/>
          </a:xfrm>
          <a:prstGeom prst="rect">
            <a:avLst/>
          </a:prstGeom>
          <a:noFill/>
        </p:spPr>
        <p:txBody>
          <a:bodyPr wrap="square">
            <a:spAutoFit/>
          </a:bodyPr>
          <a:lstStyle/>
          <a:p>
            <a:r>
              <a:rPr lang="en-US" sz="3600" b="1" u="sng" dirty="0">
                <a:solidFill>
                  <a:schemeClr val="bg1"/>
                </a:solidFill>
                <a:latin typeface="Algerian" panose="04020705040A02060702" pitchFamily="82" charset="0"/>
              </a:rPr>
              <a:t>INTERPRETATION </a:t>
            </a:r>
            <a:endParaRPr lang="en-IN" sz="3600" dirty="0"/>
          </a:p>
        </p:txBody>
      </p:sp>
    </p:spTree>
    <p:extLst>
      <p:ext uri="{BB962C8B-B14F-4D97-AF65-F5344CB8AC3E}">
        <p14:creationId xmlns:p14="http://schemas.microsoft.com/office/powerpoint/2010/main" val="41170228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hape 1">
            <a:extLst>
              <a:ext uri="{FF2B5EF4-FFF2-40B4-BE49-F238E27FC236}">
                <a16:creationId xmlns:a16="http://schemas.microsoft.com/office/drawing/2014/main" id="{F0FC2D7A-ED00-ABDD-5145-04508D58A19E}"/>
              </a:ext>
            </a:extLst>
          </p:cNvPr>
          <p:cNvSpPr/>
          <p:nvPr/>
        </p:nvSpPr>
        <p:spPr>
          <a:xfrm>
            <a:off x="1094874" y="1383632"/>
            <a:ext cx="12440652" cy="6314755"/>
          </a:xfrm>
          <a:prstGeom prst="roundRect">
            <a:avLst>
              <a:gd name="adj" fmla="val 2117"/>
            </a:avLst>
          </a:prstGeom>
          <a:solidFill>
            <a:srgbClr val="5F5153"/>
          </a:solidFill>
          <a:ln/>
        </p:spPr>
        <p:txBody>
          <a:bodyPr/>
          <a:lstStyle/>
          <a:p>
            <a:pPr marL="342900" lvl="0" indent="-342900" eaLnBrk="0" fontAlgn="base" hangingPunct="0">
              <a:spcBef>
                <a:spcPct val="0"/>
              </a:spcBef>
              <a:spcAft>
                <a:spcPct val="0"/>
              </a:spcAft>
              <a:buFont typeface="Arial" panose="020B0604020202020204" pitchFamily="34" charset="0"/>
              <a:buChar char="•"/>
            </a:pPr>
            <a:r>
              <a:rPr lang="en-US" altLang="en-US" sz="2400" dirty="0">
                <a:solidFill>
                  <a:schemeClr val="bg1"/>
                </a:solidFill>
                <a:latin typeface="Times New Roman" panose="02020603050405020304" pitchFamily="18" charset="0"/>
                <a:cs typeface="Times New Roman" panose="02020603050405020304" pitchFamily="18" charset="0"/>
              </a:rPr>
              <a:t>Comprehensive modeling identifies menstrual pain as a complex interplay of biological, psychological, and lifestyle factors.</a:t>
            </a:r>
          </a:p>
          <a:p>
            <a:pPr marL="342900" lvl="0" indent="-342900" eaLnBrk="0" fontAlgn="base" hangingPunct="0">
              <a:spcBef>
                <a:spcPct val="0"/>
              </a:spcBef>
              <a:spcAft>
                <a:spcPct val="0"/>
              </a:spcAft>
              <a:buFont typeface="Arial" panose="020B0604020202020204" pitchFamily="34" charset="0"/>
              <a:buChar char="•"/>
            </a:pPr>
            <a:r>
              <a:rPr lang="en-US" altLang="en-US" sz="2400" dirty="0">
                <a:solidFill>
                  <a:schemeClr val="bg1"/>
                </a:solidFill>
                <a:latin typeface="Times New Roman" panose="02020603050405020304" pitchFamily="18" charset="0"/>
                <a:cs typeface="Times New Roman" panose="02020603050405020304" pitchFamily="18" charset="0"/>
              </a:rPr>
              <a:t>Overall health score stands as the most significant predictor, where higher health levels directly correlate with lower pain.</a:t>
            </a:r>
          </a:p>
          <a:p>
            <a:pPr marL="342900" lvl="0" indent="-342900" eaLnBrk="0" fontAlgn="base" hangingPunct="0">
              <a:spcBef>
                <a:spcPct val="0"/>
              </a:spcBef>
              <a:spcAft>
                <a:spcPct val="0"/>
              </a:spcAft>
              <a:buFont typeface="Arial" panose="020B0604020202020204" pitchFamily="34" charset="0"/>
              <a:buChar char="•"/>
            </a:pPr>
            <a:r>
              <a:rPr lang="en-US" altLang="en-US" sz="2400" dirty="0">
                <a:solidFill>
                  <a:schemeClr val="bg1"/>
                </a:solidFill>
                <a:latin typeface="Times New Roman" panose="02020603050405020304" pitchFamily="18" charset="0"/>
                <a:cs typeface="Times New Roman" panose="02020603050405020304" pitchFamily="18" charset="0"/>
              </a:rPr>
              <a:t>Psychological factors like stress, mood, and energy levels are deeply linked to the physical intensity of pain.</a:t>
            </a:r>
          </a:p>
          <a:p>
            <a:pPr marL="342900" lvl="0" indent="-342900" eaLnBrk="0" fontAlgn="base" hangingPunct="0">
              <a:spcBef>
                <a:spcPct val="0"/>
              </a:spcBef>
              <a:spcAft>
                <a:spcPct val="0"/>
              </a:spcAft>
              <a:buFont typeface="Arial" panose="020B0604020202020204" pitchFamily="34" charset="0"/>
              <a:buChar char="•"/>
            </a:pPr>
            <a:r>
              <a:rPr lang="en-US" altLang="en-US" sz="2400" dirty="0">
                <a:solidFill>
                  <a:schemeClr val="bg1"/>
                </a:solidFill>
                <a:latin typeface="Times New Roman" panose="02020603050405020304" pitchFamily="18" charset="0"/>
                <a:cs typeface="Times New Roman" panose="02020603050405020304" pitchFamily="18" charset="0"/>
              </a:rPr>
              <a:t>Increased menstrual flow and cycle-related functional impairment are primary drivers of higher pain scores.</a:t>
            </a:r>
          </a:p>
          <a:p>
            <a:pPr marL="342900" lvl="0" indent="-342900" eaLnBrk="0" fontAlgn="base" hangingPunct="0">
              <a:spcBef>
                <a:spcPct val="0"/>
              </a:spcBef>
              <a:spcAft>
                <a:spcPct val="0"/>
              </a:spcAft>
              <a:buFont typeface="Arial" panose="020B0604020202020204" pitchFamily="34" charset="0"/>
              <a:buChar char="•"/>
            </a:pPr>
            <a:r>
              <a:rPr lang="en-US" altLang="en-US" sz="2400" dirty="0">
                <a:solidFill>
                  <a:schemeClr val="bg1"/>
                </a:solidFill>
                <a:latin typeface="Times New Roman" panose="02020603050405020304" pitchFamily="18" charset="0"/>
                <a:cs typeface="Times New Roman" panose="02020603050405020304" pitchFamily="18" charset="0"/>
              </a:rPr>
              <a:t>LASSO regression successfully refined the model by removing redundant lifestyle variables like water intake and alcohol consumption.</a:t>
            </a:r>
          </a:p>
          <a:p>
            <a:pPr marL="342900" lvl="0" indent="-342900" eaLnBrk="0" fontAlgn="base" hangingPunct="0">
              <a:spcBef>
                <a:spcPct val="0"/>
              </a:spcBef>
              <a:spcAft>
                <a:spcPct val="0"/>
              </a:spcAft>
              <a:buFont typeface="Arial" panose="020B0604020202020204" pitchFamily="34" charset="0"/>
              <a:buChar char="•"/>
            </a:pPr>
            <a:r>
              <a:rPr lang="en-US" altLang="en-US" sz="2400" dirty="0">
                <a:solidFill>
                  <a:schemeClr val="bg1"/>
                </a:solidFill>
                <a:latin typeface="Times New Roman" panose="02020603050405020304" pitchFamily="18" charset="0"/>
                <a:cs typeface="Times New Roman" panose="02020603050405020304" pitchFamily="18" charset="0"/>
              </a:rPr>
              <a:t>Mixed-effects modeling highlights significant individual variation, necessitating personalized approaches to menstrual health.</a:t>
            </a:r>
          </a:p>
          <a:p>
            <a:pPr marL="342900" lvl="0" indent="-342900" eaLnBrk="0" fontAlgn="base" hangingPunct="0">
              <a:spcBef>
                <a:spcPct val="0"/>
              </a:spcBef>
              <a:spcAft>
                <a:spcPct val="0"/>
              </a:spcAft>
              <a:buFont typeface="Arial" panose="020B0604020202020204" pitchFamily="34" charset="0"/>
              <a:buChar char="•"/>
            </a:pPr>
            <a:r>
              <a:rPr lang="en-US" altLang="en-US" sz="2400" dirty="0">
                <a:solidFill>
                  <a:schemeClr val="bg1"/>
                </a:solidFill>
                <a:latin typeface="Times New Roman" panose="02020603050405020304" pitchFamily="18" charset="0"/>
                <a:cs typeface="Times New Roman" panose="02020603050405020304" pitchFamily="18" charset="0"/>
              </a:rPr>
              <a:t>The final model achieves high accuracy, explaining approximately 92.6% of the variance in reported pain levels.</a:t>
            </a:r>
          </a:p>
          <a:p>
            <a:pPr marL="342900" lvl="0" indent="-342900" eaLnBrk="0" fontAlgn="base" hangingPunct="0">
              <a:spcBef>
                <a:spcPct val="0"/>
              </a:spcBef>
              <a:spcAft>
                <a:spcPct val="0"/>
              </a:spcAft>
              <a:buFont typeface="Arial" panose="020B0604020202020204" pitchFamily="34" charset="0"/>
              <a:buChar char="•"/>
            </a:pPr>
            <a:r>
              <a:rPr lang="en-US" altLang="en-US" sz="2400" dirty="0">
                <a:solidFill>
                  <a:schemeClr val="bg1"/>
                </a:solidFill>
                <a:latin typeface="Times New Roman" panose="02020603050405020304" pitchFamily="18" charset="0"/>
                <a:cs typeface="Times New Roman" panose="02020603050405020304" pitchFamily="18" charset="0"/>
              </a:rPr>
              <a:t>Results advocate for a holistic healthcare strategy that integrates mental well-being and lifestyle habits with biological care.</a:t>
            </a:r>
          </a:p>
          <a:p>
            <a:endParaRPr lang="en-US" sz="2400" dirty="0">
              <a:solidFill>
                <a:schemeClr val="bg1"/>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72A5AA9-BBE2-A8C3-E5DE-688BB52C7ACA}"/>
              </a:ext>
            </a:extLst>
          </p:cNvPr>
          <p:cNvSpPr txBox="1"/>
          <p:nvPr/>
        </p:nvSpPr>
        <p:spPr>
          <a:xfrm>
            <a:off x="3019927" y="386834"/>
            <a:ext cx="7315200" cy="646331"/>
          </a:xfrm>
          <a:prstGeom prst="rect">
            <a:avLst/>
          </a:prstGeom>
          <a:noFill/>
        </p:spPr>
        <p:txBody>
          <a:bodyPr wrap="square">
            <a:spAutoFit/>
          </a:bodyPr>
          <a:lstStyle/>
          <a:p>
            <a:pPr algn="ctr"/>
            <a:r>
              <a:rPr lang="en-US" sz="3600" b="1" u="sng" dirty="0">
                <a:solidFill>
                  <a:schemeClr val="bg1"/>
                </a:solidFill>
                <a:latin typeface="Algerian" panose="04020705040A02060702" pitchFamily="82" charset="0"/>
              </a:rPr>
              <a:t>conclusion</a:t>
            </a:r>
            <a:endParaRPr lang="en-IN" sz="3600" dirty="0"/>
          </a:p>
        </p:txBody>
      </p:sp>
    </p:spTree>
    <p:extLst>
      <p:ext uri="{BB962C8B-B14F-4D97-AF65-F5344CB8AC3E}">
        <p14:creationId xmlns:p14="http://schemas.microsoft.com/office/powerpoint/2010/main" val="35758844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2137</TotalTime>
  <Words>5511</Words>
  <Application>Microsoft Office PowerPoint</Application>
  <PresentationFormat>Custom</PresentationFormat>
  <Paragraphs>1315</Paragraphs>
  <Slides>39</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Times New Roman</vt:lpstr>
      <vt:lpstr>Cambria Math</vt:lpstr>
      <vt:lpstr>Algerian</vt:lpstr>
      <vt:lpstr>Calibri</vt:lpstr>
      <vt:lpstr>Arial Rounded MT Bold</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Riddhima</dc:creator>
  <cp:lastModifiedBy>Arunima Ganguly</cp:lastModifiedBy>
  <cp:revision>23</cp:revision>
  <dcterms:created xsi:type="dcterms:W3CDTF">2026-04-12T12:01:45Z</dcterms:created>
  <dcterms:modified xsi:type="dcterms:W3CDTF">2026-04-16T19:19:00Z</dcterms:modified>
</cp:coreProperties>
</file>